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b8266380447414c" /><Relationship Type="http://schemas.openxmlformats.org/package/2006/relationships/metadata/core-properties" Target="/docProps/core.xml" Id="Ra0c12f637d1e4ad0" /><Relationship Type="http://schemas.openxmlformats.org/officeDocument/2006/relationships/extended-properties" Target="/docProps/app.xml" Id="Rd84f08dabc134139" /><Relationship Type="http://schemas.openxmlformats.org/officeDocument/2006/relationships/custom-properties" Target="/docProps/custom.xml" Id="R41c3fe6457994b83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b3aa25246d984ccd"/>
  </p:notesMasterIdLst>
  <p:sldIdLst>
    <p:sldId id="256" r:id="R7667d52b70a646f0"/>
    <p:sldId id="257" r:id="R2a9b6738cde54849"/>
    <p:sldId id="258" r:id="Rae0b7a571383433e"/>
    <p:sldId id="259" r:id="R356b928e662641dc"/>
    <p:sldId id="260" r:id="R440390e160eb483a"/>
    <p:sldId id="261" r:id="Rbe57f24420e64c67"/>
    <p:sldId id="262" r:id="R52556ed1d6654a99"/>
    <p:sldId id="263" r:id="R207c3b1cc6a245d5"/>
    <p:sldId id="264" r:id="R53351984f5fa4e33"/>
    <p:sldId id="265" r:id="Rbb8007878c5f4092"/>
    <p:sldId id="266" r:id="R20784dbbc0fe4f6c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7667d52b70a646f0" /><Relationship Type="http://schemas.openxmlformats.org/officeDocument/2006/relationships/notesMaster" Target="/ppt/notesMasters/notesMaster1.xml" Id="Rb3aa25246d984ccd" /><Relationship Type="http://schemas.openxmlformats.org/officeDocument/2006/relationships/slide" Target="/ppt/slides/slide2.xml" Id="R2a9b6738cde54849" /><Relationship Type="http://schemas.openxmlformats.org/officeDocument/2006/relationships/slide" Target="/ppt/slides/slide3.xml" Id="Rae0b7a571383433e" /><Relationship Type="http://schemas.openxmlformats.org/officeDocument/2006/relationships/slide" Target="/ppt/slides/slide4.xml" Id="R356b928e662641dc" /><Relationship Type="http://schemas.openxmlformats.org/officeDocument/2006/relationships/slide" Target="/ppt/slides/slide5.xml" Id="R440390e160eb483a" /><Relationship Type="http://schemas.openxmlformats.org/officeDocument/2006/relationships/slide" Target="/ppt/slides/slide6.xml" Id="Rbe57f24420e64c67" /><Relationship Type="http://schemas.openxmlformats.org/officeDocument/2006/relationships/slide" Target="/ppt/slides/slide7.xml" Id="R52556ed1d6654a99" /><Relationship Type="http://schemas.openxmlformats.org/officeDocument/2006/relationships/slide" Target="/ppt/slides/slide8.xml" Id="R207c3b1cc6a245d5" /><Relationship Type="http://schemas.openxmlformats.org/officeDocument/2006/relationships/slide" Target="/ppt/slides/slide9.xml" Id="R53351984f5fa4e33" /><Relationship Type="http://schemas.openxmlformats.org/officeDocument/2006/relationships/slide" Target="/ppt/slides/slide10.xml" Id="Rbb8007878c5f4092" /><Relationship Type="http://schemas.openxmlformats.org/officeDocument/2006/relationships/slide" Target="/ppt/slides/slide11.xml" Id="R20784dbbc0fe4f6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e0e9daae16e4f68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f630e9be54b4495" /><Relationship Type="http://schemas.openxmlformats.org/officeDocument/2006/relationships/slide" Target="/ppt/slides/slide1.xml" Id="R49768a47c7154c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5ea4d0c46094d51" /><Relationship Type="http://schemas.openxmlformats.org/officeDocument/2006/relationships/slide" Target="/ppt/slides/slide2.xml" Id="R6b914f482f4e47f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bb3722a9a4f4676" /><Relationship Type="http://schemas.openxmlformats.org/officeDocument/2006/relationships/slide" Target="/ppt/slides/slide3.xml" Id="R54d023a7931e412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55dfe7e94ee4ce2" /><Relationship Type="http://schemas.openxmlformats.org/officeDocument/2006/relationships/slide" Target="/ppt/slides/slide4.xml" Id="R15fe9680357a4a3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be771109d964cfd" /><Relationship Type="http://schemas.openxmlformats.org/officeDocument/2006/relationships/slide" Target="/ppt/slides/slide5.xml" Id="Ra2761b18f097469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d040c1f8bce4c95" /><Relationship Type="http://schemas.openxmlformats.org/officeDocument/2006/relationships/slide" Target="/ppt/slides/slide6.xml" Id="R61b964a3658a423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80914ec6f334c2a" /><Relationship Type="http://schemas.openxmlformats.org/officeDocument/2006/relationships/slide" Target="/ppt/slides/slide7.xml" Id="R5c73452ef8ed4cf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415f68728af4d84" /><Relationship Type="http://schemas.openxmlformats.org/officeDocument/2006/relationships/slide" Target="/ppt/slides/slide8.xml" Id="Rf5c5fb94b8f2419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0146b37abae4df6" /><Relationship Type="http://schemas.openxmlformats.org/officeDocument/2006/relationships/slide" Target="/ppt/slides/slide9.xml" Id="R3edbc318fdeb439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36166d205d74aa4" /><Relationship Type="http://schemas.openxmlformats.org/officeDocument/2006/relationships/slide" Target="/ppt/slides/slide10.xml" Id="R0616a1da08f74ab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2b7bf9308b94d90" /><Relationship Type="http://schemas.openxmlformats.org/officeDocument/2006/relationships/slide" Target="/ppt/slides/slide11.xml" Id="R77d75662a5284e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1 — Cover. Serambi.ai: asisten belajar multi-agent adaptif untuk career switcher Indonesia. Tagline: belajar mandiri, tapi nggak sendirian. Stack: IBM Bob × Langflow × MCP.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2 -- Problem. Empat hambatan: (1) tidak ada roadmap personal, (2) progres tidak terlacak, (3) cognitive offloading (BJET 694 sitasi), (4) alternatif mahal. Market gap: upskilling growth B2B bukan individu.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3 -- Solution. Core insight: AI harus menjadi scaffold, bukan oracle. Desain pedagogis berbasis riset: GenMentor, IntelliCode, Feynman Bot, spaced repetition. Goal Agent sudah e2e verified.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4 -- Target User. Primer: career switcher 22-35, non-tech background, JTBD jelas. Sekunder: tech worker upskilling. B2B: bootcamp dan institusi pendidikan.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5 -- How It Works. Tiga layer: Web App (UI), MCP bridge (named tools), Langflow (flow execution). Kontrak MCP identik antara dev harness (Bob) dan backend web app produksi. Goal Agent sudah e2e verified.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6 -- AI &amp; Technology. Stack: Bob (harness), Langflow (flow engine), MCP (bridge), NaraRouter/longcat-2.5 (LLM). Setiap keputusan desain dilandasi paper dengan FWCI tinggi.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7 -- Key Features. 6 agent: Goal (live), Tutor (Feynman), Assessment (hinting), Progress (spaced rep), Motivator, Wellbeing. Setiap agent = 1 Langflow flow = 1 MCP tool.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8 -- Demo. Tunjukkan 4 screenshot: Bob TUI (harness dev), Langflow canvas, Langflow endpoint config, JSON output roadmap. Tekankan: ini bukan demo dari LLM Bob, ini agent Langflow yang benar-benar dipanggil lewat MCP.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9 -- Impact. North star metric: Career Goal Progress Rate. Angka kunci: &lt;1 menit roadmap, +15-20% retensi, g=1.613 meta-analisis AI, 80%+ Feynman Bot. Diferensiasi vs kursus online, ChatGPT, bootcamp.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10 -- Future Development. Now: Goal Agent done, infra solid. Next 3-6 bulan: 5 agent lain + web app. B2B: bootcamp/kampus whitelabel. Scale: Langflow Cloud + forgetting curve data moat.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11 -- Team. Isi nama anggota tim. Highlight: riset mendalam (30+ paper), implementasi nyata (e2e verified), arsitektur modular (MCP contract). Closing: repo public, invite juri untuk cek langsung.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05ce9b2cf44b8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bea703624d4f8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230f53591a4be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0b7040d6d546d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05d0e1c8d24994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a7ee5d7dd95044ae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eb156b23e94529" /><Relationship Type="http://schemas.openxmlformats.org/officeDocument/2006/relationships/notesSlide" Target="/ppt/notesSlides/notesSlide1.xml" Id="Rcb211727755347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02ad456e5440c2" /><Relationship Type="http://schemas.openxmlformats.org/officeDocument/2006/relationships/notesSlide" Target="/ppt/notesSlides/notesSlide2.xml" Id="R4c8d7664123b429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09fffd49104489" /><Relationship Type="http://schemas.openxmlformats.org/officeDocument/2006/relationships/notesSlide" Target="/ppt/notesSlides/notesSlide3.xml" Id="R05ef907f9b0747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fc06eb34194120" /><Relationship Type="http://schemas.openxmlformats.org/officeDocument/2006/relationships/notesSlide" Target="/ppt/notesSlides/notesSlide4.xml" Id="R8795c33b264441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ea217660644c74" /><Relationship Type="http://schemas.openxmlformats.org/officeDocument/2006/relationships/notesSlide" Target="/ppt/notesSlides/notesSlide5.xml" Id="R61040ef51fd941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7f65ca179c4cfe" /><Relationship Type="http://schemas.openxmlformats.org/officeDocument/2006/relationships/notesSlide" Target="/ppt/notesSlides/notesSlide6.xml" Id="R80bde9cfb791417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a070c2bd3f4d4f" /><Relationship Type="http://schemas.openxmlformats.org/officeDocument/2006/relationships/notesSlide" Target="/ppt/notesSlides/notesSlide7.xml" Id="Rddbb91f74ea947c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0a3d9db8f34b53" /><Relationship Type="http://schemas.openxmlformats.org/officeDocument/2006/relationships/notesSlide" Target="/ppt/notesSlides/notesSlide8.xml" Id="Rc8f14cd452dc48f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12bd143cfb4c6f" /><Relationship Type="http://schemas.openxmlformats.org/officeDocument/2006/relationships/notesSlide" Target="/ppt/notesSlides/notesSlide9.xml" Id="R3415710512084a0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85ba2ff0ff42a4" /><Relationship Type="http://schemas.openxmlformats.org/officeDocument/2006/relationships/notesSlide" Target="/ppt/notesSlides/notesSlide10.xml" Id="R01b82cab50cc4e9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073600fec64e61" /><Relationship Type="http://schemas.openxmlformats.org/officeDocument/2006/relationships/notesSlide" Target="/ppt/notesSlides/notesSlide11.xml" Id="R50d9d8dca1ee4fa2" 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ProductName"/>
          <p:cNvSpPr txBox="1"/>
          <p:nvPr/>
        </p:nvSpPr>
        <p:spPr>
          <a:xfrm xmlns:a="http://schemas.openxmlformats.org/drawingml/2006/main">
            <a:off x="540000" y="1080000"/>
            <a:ext cx="10800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6000" b="1">
                <a:solidFill>
                  <a:srgbClr val="FFFFFF"/>
                </a:solidFill>
                <a:latin typeface="Calibri"/>
                <a:ea typeface="Calibri"/>
              </a:rPr>
              <a:t>Serambi.ai</a:t>
            </a:r>
          </a:p>
        </p:txBody>
      </p:sp>
      <p:sp>
        <p:nvSpPr>
          <p:cNvPr id="100001" name="Tagline"/>
          <p:cNvSpPr txBox="1"/>
          <p:nvPr/>
        </p:nvSpPr>
        <p:spPr>
          <a:xfrm xmlns:a="http://schemas.openxmlformats.org/drawingml/2006/main">
            <a:off x="540000" y="2592000"/>
            <a:ext cx="108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>
                <a:solidFill>
                  <a:srgbClr val="A8C8FF"/>
                </a:solidFill>
                <a:latin typeface="Calibri"/>
                <a:ea typeface="Calibri"/>
              </a:rPr>
              <a:t>Belajar mandiri, tapi nggak sendirian.</a:t>
            </a:r>
          </a:p>
        </p:txBody>
      </p:sp>
      <p:sp>
        <p:nvSpPr>
          <p:cNvPr id="100002" name="SubTagline"/>
          <p:cNvSpPr txBox="1"/>
          <p:nvPr/>
        </p:nvSpPr>
        <p:spPr>
          <a:xfrm xmlns:a="http://schemas.openxmlformats.org/drawingml/2006/main">
            <a:off x="540000" y="3312000"/>
            <a:ext cx="108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>
                <a:solidFill>
                  <a:srgbClr val="C8DCFF"/>
                </a:solidFill>
                <a:latin typeface="Calibri"/>
                <a:ea typeface="Calibri"/>
              </a:rPr>
              <a:t>Adaptive Multi-Agent Learning Assistant untuk Career Switcher Indonesia</a:t>
            </a:r>
          </a:p>
        </p:txBody>
      </p:sp>
      <p:sp>
        <p:nvSpPr>
          <p:cNvPr id="100003" name="Event"/>
          <p:cNvSpPr txBox="1"/>
          <p:nvPr/>
        </p:nvSpPr>
        <p:spPr>
          <a:xfrm xmlns:a="http://schemas.openxmlformats.org/drawingml/2006/main">
            <a:off x="540000" y="4320000"/>
            <a:ext cx="1080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>
                <a:solidFill>
                  <a:srgbClr val="7799CC"/>
                </a:solidFill>
                <a:latin typeface="Calibri"/>
                <a:ea typeface="Calibri"/>
              </a:rPr>
              <a:t>IBM SkillsBuild University Education National Hackathon · Hacktiv8 × IBM × Komdigi</a:t>
            </a:r>
          </a:p>
        </p:txBody>
      </p:sp>
      <p:sp>
        <p:nvSpPr>
          <p:cNvPr id="100059" name="AccentBar"/>
          <p:cNvSpPr txBox="1"/>
          <p:nvPr/>
        </p:nvSpPr>
        <p:spPr>
          <a:xfrm>
            <a:off x="540000" y="2412000"/>
            <a:ext cx="2880000" cy="64800"/>
          </a:xfrm>
          <a:prstGeom prst="rect">
            <a:avLst/>
          </a:prstGeom>
          <a:solidFill>
            <a:srgbClr val="4FC3F7"/>
          </a:solidFill>
        </p:spPr>
        <p:txBody>
          <a:bodyPr/>
          <a:lstStyle/>
          <a:p>
            <a:endParaRPr lang="en-US">
              <a:solidFill>
                <a:srgbClr val="4FC3F7"/>
              </a:solidFill>
            </a:endParaRP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04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1E2761"/>
                </a:solidFill>
                <a:latin typeface="Calibri"/>
                <a:ea typeface="Calibri"/>
              </a:rPr>
              <a:t>02</a:t>
            </a:r>
          </a:p>
        </p:txBody>
      </p:sp>
      <p:sp>
        <p:nvSpPr>
          <p:cNvPr id="100005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1E2761"/>
                </a:solidFill>
                <a:latin typeface="Calibri"/>
                <a:ea typeface="Calibri"/>
              </a:rPr>
              <a:t>Masalah yang Ingin Kami Selesaikan</a:t>
            </a:r>
          </a:p>
        </p:txBody>
      </p:sp>
      <p:sp>
        <p:nvSpPr>
          <p:cNvPr id="100006" name="Stat"/>
          <p:cNvSpPr txBox="1"/>
          <p:nvPr/>
        </p:nvSpPr>
        <p:spPr>
          <a:xfrm xmlns:a="http://schemas.openxmlformats.org/drawingml/2006/main">
            <a:off x="540000" y="1224000"/>
            <a:ext cx="1080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C0392B"/>
                </a:solidFill>
                <a:latin typeface="Calibri"/>
                <a:ea typeface="Calibri"/>
              </a:rPr>
              <a:t>Career switcher Indonesia belajar mandiri -- dan banyak yang gagal di tengah jalan.</a:t>
            </a:r>
          </a:p>
        </p:txBody>
      </p:sp>
      <p:sp>
        <p:nvSpPr>
          <p:cNvPr id="100007" name="Body"/>
          <p:cNvSpPr txBox="1"/>
          <p:nvPr/>
        </p:nvSpPr>
        <p:spPr>
          <a:xfrm xmlns:a="http://schemas.openxmlformats.org/drawingml/2006/main">
            <a:off x="540000" y="1728000"/>
            <a:ext cx="1080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✗  Tidak ada roadmap personal — materi acak (YouTube, Udemy, blog) tanpa peta ke target role.</a:t>
            </a:r>
          </a:p>
          <a:p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✗  Progres tidak terlacak — tidak ada jawaban: sudah sejauh mana? harus lanjut ke apa?</a:t>
            </a:r>
          </a:p>
          <a:p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✗  AI generik memicu cognitive offloading — langsung dijawab, tanpa belajar aktif. (BJET, 694× dikutip)</a:t>
            </a:r>
          </a:p>
          <a:p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✗  Alternatif mahal — bootcamp &amp; mentor privat tidak terjangkau; kursus online one-size-fits-all.</a:t>
            </a:r>
          </a:p>
        </p:txBody>
      </p:sp>
      <p:sp>
        <p:nvSpPr>
          <p:cNvPr id="100008" name="Footer"/>
          <p:cNvSpPr txBox="1"/>
          <p:nvPr/>
        </p:nvSpPr>
        <p:spPr>
          <a:xfrm xmlns:a="http://schemas.openxmlformats.org/drawingml/2006/main">
            <a:off x="540000" y="4752000"/>
            <a:ext cx="108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>
                <a:solidFill>
                  <a:srgbClr val="555555"/>
                </a:solidFill>
                <a:latin typeface="Calibri"/>
                <a:ea typeface="Calibri"/>
              </a:rPr>
              <a:t>📈  Market upskilling global tumbuh 11–14% CAGR — tapi hampir seluruhnya B2B/korporasi. Career switcher individu tidak terlayani.</a:t>
            </a:r>
          </a:p>
        </p:txBody>
      </p:sp>
      <p:sp>
        <p:nvSpPr>
          <p:cNvPr id="100060" name="AccentBar"/>
          <p:cNvSpPr txBox="1"/>
          <p:nvPr/>
        </p:nvSpPr>
        <p:spPr>
          <a:xfrm>
            <a:off x="540000" y="1116000"/>
            <a:ext cx="1800000" cy="54000"/>
          </a:xfrm>
          <a:prstGeom prst="rect">
            <a:avLst/>
          </a:prstGeom>
          <a:solidFill>
            <a:srgbClr val="C0392B"/>
          </a:solidFill>
        </p:spPr>
        <p:txBody>
          <a:bodyPr/>
          <a:lstStyle/>
          <a:p>
            <a:endParaRPr lang="en-US">
              <a:solidFill>
                <a:srgbClr val="C0392B"/>
              </a:solidFill>
            </a:endParaRP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9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A8C8FF"/>
                </a:solidFill>
                <a:latin typeface="Calibri"/>
                <a:ea typeface="Calibri"/>
              </a:rPr>
              <a:t>03</a:t>
            </a:r>
          </a:p>
        </p:txBody>
      </p:sp>
      <p:sp>
        <p:nvSpPr>
          <p:cNvPr id="100010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Solusi: Scaffold, Bukan Oracle</a:t>
            </a:r>
          </a:p>
        </p:txBody>
      </p:sp>
      <p:sp>
        <p:nvSpPr>
          <p:cNvPr id="100011" name="ValueProp"/>
          <p:cNvSpPr txBox="1"/>
          <p:nvPr/>
        </p:nvSpPr>
        <p:spPr>
          <a:xfrm xmlns:a="http://schemas.openxmlformats.org/drawingml/2006/main">
            <a:off x="540000" y="1224000"/>
            <a:ext cx="108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i="1">
                <a:solidFill>
                  <a:srgbClr val="A8C8FF"/>
                </a:solidFill>
                <a:latin typeface="Calibri"/>
                <a:ea typeface="Calibri"/>
              </a:rPr>
              <a:t>Serambi.ai adalah asisten belajar adaptif berbasis multi-agent AI yang memandu career switcher Indonesia -- bukan menjawab untuk mereka.</a:t>
            </a:r>
          </a:p>
        </p:txBody>
      </p:sp>
      <p:sp>
        <p:nvSpPr>
          <p:cNvPr id="100012" name="Body"/>
          <p:cNvSpPr txBox="1"/>
          <p:nvPr/>
        </p:nvSpPr>
        <p:spPr>
          <a:xfrm xmlns:a="http://schemas.openxmlformats.org/drawingml/2006/main">
            <a:off x="540000" y="1872000"/>
            <a:ext cx="1080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1 → Pengguna ketik goal karier: "jadi data analyst dalam 3 bulan"</a:t>
            </a:r>
          </a:p>
          <a:p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2 → Serambi.ai memecah goal → roadmap mingguan terstruktur</a:t>
            </a:r>
          </a:p>
          <a:p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3 → Agent Tutor menjelaskan konsep dengan teknik Feynman</a:t>
            </a:r>
          </a:p>
          <a:p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4 → Agent Assessment: kuis adaptif + graduated hints</a:t>
            </a:r>
          </a:p>
          <a:p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5 → Agent Progress: review berbasis forgetting curve</a:t>
            </a:r>
          </a:p>
          <a:p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6 → Agent Wellbeing: pantau motivasi, cegah burnout</a:t>
            </a:r>
          </a:p>
        </p:txBody>
      </p:sp>
      <p:sp>
        <p:nvSpPr>
          <p:cNvPr id="100061" name="TextBox 5"/>
          <p:cNvSpPr/>
          <p:nvPr/>
        </p:nvSpPr>
        <p:spPr>
          <a:xfrm>
            <a:off x="540000" y="1800000"/>
            <a:ext cx="1440000" cy="21600"/>
          </a:xfrm>
          <a:prstGeom prst="rect">
            <a:avLst/>
          </a:prstGeom>
          <a:solidFill>
            <a:srgbClr val="009FDB"/>
          </a:solidFill>
          <a:ln>
            <a:noFill/>
          </a:ln>
        </p:spPr>
        <p:txBody>
          <a:bodyPr/>
          <a:lstStyle/>
          <a:p/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13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1E2761"/>
                </a:solidFill>
                <a:latin typeface="Calibri"/>
                <a:ea typeface="Calibri"/>
              </a:rPr>
              <a:t>04</a:t>
            </a:r>
          </a:p>
        </p:txBody>
      </p:sp>
      <p:sp>
        <p:nvSpPr>
          <p:cNvPr id="100014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E2761"/>
                </a:solidFill>
                <a:latin typeface="Calibri"/>
                <a:ea typeface="Calibri"/>
              </a:rPr>
              <a:t>Target Pengguna</a:t>
            </a:r>
          </a:p>
        </p:txBody>
      </p:sp>
      <p:sp>
        <p:nvSpPr>
          <p:cNvPr id="100015" name="Persona"/>
          <p:cNvSpPr txBox="1"/>
          <p:nvPr/>
        </p:nvSpPr>
        <p:spPr>
          <a:xfrm xmlns:a="http://schemas.openxmlformats.org/drawingml/2006/main">
            <a:off x="540000" y="1152000"/>
            <a:ext cx="1080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E2761"/>
                </a:solidFill>
                <a:latin typeface="Calibri"/>
                <a:ea typeface="Calibri"/>
              </a:rPr>
              <a:t>Pengguna Primer -- Career Switcher Indonesia</a:t>
            </a:r>
          </a:p>
        </p:txBody>
      </p:sp>
      <p:sp>
        <p:nvSpPr>
          <p:cNvPr id="100016" name="PersonaDetail"/>
          <p:cNvSpPr txBox="1"/>
          <p:nvPr/>
        </p:nvSpPr>
        <p:spPr>
          <a:xfrm xmlns:a="http://schemas.openxmlformats.org/drawingml/2006/main">
            <a:off x="540000" y="1548000"/>
            <a:ext cx="10800000" cy="16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>→  Profesional usia 22–35, bekerja di non-tech (admin, marketing, guru)</a:t>
            </a:r>
          </a:p>
          <a:p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>→  Target: data analyst, backend dev, ML engineer — dalam 1–6 bulan</a:t>
            </a:r>
          </a:p>
          <a:p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>→  Belajar mandiri, waktu terbatas, Bahasa Indonesia, anggaran terbatas</a:t>
            </a:r>
          </a:p>
          <a:p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>→  JTBD: "Saya mau jadi data analyst dalam 3 bulan — sudah mulai tapi tidak tahu harus ngapain selanjutnya"</a:t>
            </a:r>
          </a:p>
        </p:txBody>
      </p:sp>
      <p:sp>
        <p:nvSpPr>
          <p:cNvPr id="100017" name="Secondary"/>
          <p:cNvSpPr txBox="1"/>
          <p:nvPr/>
        </p:nvSpPr>
        <p:spPr>
          <a:xfrm xmlns:a="http://schemas.openxmlformats.org/drawingml/2006/main">
            <a:off x="540000" y="3312000"/>
            <a:ext cx="1080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Sekunder: Tech worker naik level / pivot domain</a:t>
            </a:r>
          </a:p>
          <a:p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B2B (roadmap): bootcamp, kampus, program reskilling Komdigi</a:t>
            </a:r>
          </a:p>
        </p:txBody>
      </p:sp>
      <p:sp>
        <p:nvSpPr>
          <p:cNvPr id="100018" name="MarketNote"/>
          <p:cNvSpPr txBox="1"/>
          <p:nvPr/>
        </p:nvSpPr>
        <p:spPr>
          <a:xfrm xmlns:a="http://schemas.openxmlformats.org/drawingml/2006/main">
            <a:off x="540000" y="4248000"/>
            <a:ext cx="10800000" cy="57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>
                <a:solidFill>
                  <a:srgbClr val="777777"/>
                </a:solidFill>
                <a:latin typeface="Calibri"/>
                <a:ea typeface="Calibri"/>
              </a:rPr>
              <a:t>📊  OECD (2024): kesenjangan tech skills vs output pendidikan tradisional terus melebar — reskilling mandiri adalah solusi utama, tapi minim dukungan adaptif.</a:t>
            </a:r>
          </a:p>
        </p:txBody>
      </p:sp>
      <p:sp>
        <p:nvSpPr>
          <p:cNvPr id="100062" name="TextBox 7"/>
          <p:cNvSpPr/>
          <p:nvPr/>
        </p:nvSpPr>
        <p:spPr>
          <a:xfrm>
            <a:off x="540000" y="1116000"/>
            <a:ext cx="1260000" cy="216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/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19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A8C8FF"/>
                </a:solidFill>
                <a:latin typeface="Calibri"/>
                <a:ea typeface="Calibri"/>
              </a:rPr>
              <a:t>05</a:t>
            </a:r>
          </a:p>
        </p:txBody>
      </p:sp>
      <p:sp>
        <p:nvSpPr>
          <p:cNvPr id="100020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Cara Kerja Serambi.ai</a:t>
            </a:r>
          </a:p>
        </p:txBody>
      </p:sp>
      <p:sp>
        <p:nvSpPr>
          <p:cNvPr id="100021" name="FlowLabel"/>
          <p:cNvSpPr txBox="1"/>
          <p:nvPr/>
        </p:nvSpPr>
        <p:spPr>
          <a:xfrm xmlns:a="http://schemas.openxmlformats.org/drawingml/2006/main">
            <a:off x="540000" y="1152000"/>
            <a:ext cx="108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7DFFB0"/>
                </a:solidFill>
                <a:latin typeface="Calibri"/>
                <a:ea typeface="Calibri"/>
              </a:rPr>
              <a:t>✅  Alur MVP — terverifikasi end-to-end:</a:t>
            </a:r>
          </a:p>
        </p:txBody>
      </p:sp>
      <p:sp>
        <p:nvSpPr>
          <p:cNvPr id="100022" name="Flow"/>
          <p:cNvSpPr txBox="1"/>
          <p:nvPr/>
        </p:nvSpPr>
        <p:spPr>
          <a:xfrm xmlns:a="http://schemas.openxmlformats.org/drawingml/2006/main">
            <a:off x="540000" y="1512000"/>
            <a:ext cx="108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1">
                <a:solidFill>
                  <a:srgbClr val="FFFFFF"/>
                </a:solidFill>
                <a:latin typeface="Calibri"/>
                <a:ea typeface="Calibri"/>
              </a:rPr>
              <a:t>Web App  →  MCP tool  →  Langflow agent flow  →  LLM  →  Roadmap Mingguan</a:t>
            </a:r>
          </a:p>
        </p:txBody>
      </p:sp>
      <p:sp>
        <p:nvSpPr>
          <p:cNvPr id="100023" name="Arch"/>
          <p:cNvSpPr txBox="1"/>
          <p:nvPr/>
        </p:nvSpPr>
        <p:spPr>
          <a:xfrm xmlns:a="http://schemas.openxmlformats.org/drawingml/2006/main">
            <a:off x="540000" y="2520000"/>
            <a:ext cx="10800000" cy="16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Stack integrasi:</a:t>
            </a:r>
          </a:p>
          <a:p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/>
            </a:r>
          </a:p>
          <a:p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IBM Bob  →  MCP (streamable HTTP)  →  Langflow flow engine  →  NaraRouter / longcat-2.5</a:t>
            </a:r>
          </a:p>
          <a:p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/>
            </a:r>
          </a:p>
          <a:p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Kontrak MCP identik saat dev (Bob) dan produksi (Web App backend) — tanpa ubah flow Langflow.</a:t>
            </a:r>
          </a:p>
        </p:txBody>
      </p:sp>
      <p:sp>
        <p:nvSpPr>
          <p:cNvPr id="100024" name="Verified"/>
          <p:cNvSpPr txBox="1"/>
          <p:nvPr/>
        </p:nvSpPr>
        <p:spPr>
          <a:xfrm xmlns:a="http://schemas.openxmlformats.org/drawingml/2006/main">
            <a:off x="540000" y="4320000"/>
            <a:ext cx="108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7DFFB0"/>
                </a:solidFill>
                <a:latin typeface="Calibri"/>
                <a:ea typeface="Calibri"/>
              </a:rPr>
              <a:t>✅  VERIFIED: Bob → goal_decomposer MCP tool → JSON roadmap 12 minggu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25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1E2761"/>
                </a:solidFill>
                <a:latin typeface="Calibri"/>
                <a:ea typeface="Calibri"/>
              </a:rPr>
              <a:t>06</a:t>
            </a:r>
          </a:p>
        </p:txBody>
      </p:sp>
      <p:sp>
        <p:nvSpPr>
          <p:cNvPr id="100026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E2761"/>
                </a:solidFill>
                <a:latin typeface="Calibri"/>
                <a:ea typeface="Calibri"/>
              </a:rPr>
              <a:t>AI &amp; Teknologi</a:t>
            </a:r>
          </a:p>
        </p:txBody>
      </p:sp>
      <p:sp>
        <p:nvSpPr>
          <p:cNvPr id="100027" name="Stack"/>
          <p:cNvSpPr txBox="1"/>
          <p:nvPr/>
        </p:nvSpPr>
        <p:spPr>
          <a:xfrm xmlns:a="http://schemas.openxmlformats.org/drawingml/2006/main">
            <a:off x="540000" y="1152000"/>
            <a:ext cx="108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E2761"/>
                </a:solidFill>
                <a:latin typeface="Calibri"/>
                <a:ea typeface="Calibri"/>
              </a:rPr>
              <a:t>Stack Utama:</a:t>
            </a:r>
          </a:p>
        </p:txBody>
      </p:sp>
      <p:sp>
        <p:nvSpPr>
          <p:cNvPr id="100028" name="StackDetail"/>
          <p:cNvSpPr txBox="1"/>
          <p:nvPr/>
        </p:nvSpPr>
        <p:spPr>
          <a:xfrm xmlns:a="http://schemas.openxmlformats.org/drawingml/2006/main">
            <a:off x="540000" y="1512000"/>
            <a:ext cx="1080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>IBM Bob  —  AI agent harness: build, test, verifikasi agent e2e</a:t>
            </a:r>
          </a:p>
          <a:p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>IBM Langflow  —  Flow execution engine: setiap agent = 1 flow = 1 MCP tool</a:t>
            </a:r>
          </a:p>
          <a:p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>MCP (Model Context Protocol)  —  Bridge pemanggil ↔ agent Langflow</a:t>
            </a:r>
          </a:p>
          <a:p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>NaraRouter / longcat-2.5  —  LLM backbone (temperature 0.3)</a:t>
            </a:r>
          </a:p>
          <a:p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>Arsitektur:  Web App  →  [MCP streamable HTTP]  →  Langflow  →  LLM</a:t>
            </a:r>
          </a:p>
          <a:p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>Named MCP tool per agent — pemanggil bisa diganti tanpa ubah flow.</a:t>
            </a:r>
          </a:p>
        </p:txBody>
      </p:sp>
      <p:sp>
        <p:nvSpPr>
          <p:cNvPr id="100029" name="ResearchGround"/>
          <p:cNvSpPr txBox="1"/>
          <p:nvPr/>
        </p:nvSpPr>
        <p:spPr>
          <a:xfrm xmlns:a="http://schemas.openxmlformats.org/drawingml/2006/main">
            <a:off x="540000" y="3888000"/>
            <a:ext cx="108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300">
                <a:solidFill>
                  <a:srgbClr val="666666"/>
                </a:solidFill>
                <a:latin typeface="Calibri"/>
                <a:ea typeface="Calibri"/>
              </a:rPr>
              <a:t>📚  Landasan riset:  GenMentor (FWCI 47.3)  ·  IntelliCode (FWCI 23.5)  ·  Feynman Bot (arXiv 2506.09055)  ·  Zaidi et al. (arXiv 2004.11327)  ·  BJET (694× dikutip)</a:t>
            </a:r>
          </a:p>
        </p:txBody>
      </p:sp>
      <p:sp>
        <p:nvSpPr>
          <p:cNvPr id="100063" name="TextBox 6"/>
          <p:cNvSpPr/>
          <p:nvPr/>
        </p:nvSpPr>
        <p:spPr>
          <a:xfrm>
            <a:off x="540000" y="1116000"/>
            <a:ext cx="1260000" cy="216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064" name="TextBox 7"/>
          <p:cNvSpPr/>
          <p:nvPr/>
        </p:nvSpPr>
        <p:spPr>
          <a:xfrm>
            <a:off x="540000" y="3780000"/>
            <a:ext cx="10800000" cy="216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/>
          <a:lstStyle/>
          <a:p/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30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A8C8FF"/>
                </a:solidFill>
                <a:latin typeface="Calibri"/>
                <a:ea typeface="Calibri"/>
              </a:rPr>
              <a:t>07</a:t>
            </a:r>
          </a:p>
        </p:txBody>
      </p:sp>
      <p:sp>
        <p:nvSpPr>
          <p:cNvPr id="100031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Fitur Utama</a:t>
            </a:r>
          </a:p>
        </p:txBody>
      </p:sp>
      <p:sp>
        <p:nvSpPr>
          <p:cNvPr id="100032" name="Feature1"/>
          <p:cNvSpPr txBox="1"/>
          <p:nvPr/>
        </p:nvSpPr>
        <p:spPr>
          <a:xfrm xmlns:a="http://schemas.openxmlformats.org/drawingml/2006/main">
            <a:off x="540000" y="1152000"/>
            <a:ext cx="108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600">
                <a:solidFill>
                  <a:srgbClr val="7DFFB0"/>
                </a:solidFill>
                <a:latin typeface="Calibri"/>
                <a:ea typeface="Calibri"/>
              </a:rPr>
              <a:t>✅  LIVE e2e — Goal Decomposer Agent</a:t>
            </a:r>
          </a:p>
          <a:p>
            <a:r>
              <a:rPr lang="en-US" sz="1600">
                <a:solidFill>
                  <a:srgbClr val="7DFFB0"/>
                </a:solidFill>
                <a:latin typeface="Calibri"/>
                <a:ea typeface="Calibri"/>
              </a:rPr>
              <a:t>→  Ketik goal karier → roadmap JSON mingguan (deadline_weeks, milestones, first_action)</a:t>
            </a:r>
          </a:p>
          <a:p>
            <a:r>
              <a:rPr lang="en-US" sz="1600">
                <a:solidFill>
                  <a:srgbClr val="7DFFB0"/>
                </a:solidFill>
                <a:latin typeface="Calibri"/>
                <a:ea typeface="Calibri"/>
              </a:rPr>
              <a:t>→  MCP tool: goal_decomposer  |  Verified: Bob → Langflow → roadmap 12 minggu</a:t>
            </a:r>
          </a:p>
        </p:txBody>
      </p:sp>
      <p:sp>
        <p:nvSpPr>
          <p:cNvPr id="100033" name="Feature2"/>
          <p:cNvSpPr txBox="1"/>
          <p:nvPr/>
        </p:nvSpPr>
        <p:spPr>
          <a:xfrm xmlns:a="http://schemas.openxmlformats.org/drawingml/2006/main">
            <a:off x="540000" y="2232000"/>
            <a:ext cx="10800000" cy="1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600">
                <a:solidFill>
                  <a:srgbClr val="C8DCFF"/>
                </a:solidFill>
                <a:latin typeface="Calibri"/>
                <a:ea typeface="Calibri"/>
              </a:rPr>
              <a:t>🔧  Dev — Tutor Agent (Feynman)</a:t>
            </a:r>
          </a:p>
          <a:p>
            <a:r>
              <a:rPr lang="en-US" sz="1600">
                <a:solidFill>
                  <a:srgbClr val="C8DCFF"/>
                </a:solidFill>
                <a:latin typeface="Calibri"/>
                <a:ea typeface="Calibri"/>
              </a:rPr>
              <a:t>→  Probing questions: AI tidak menjawab langsung, memancing refleksi</a:t>
            </a:r>
          </a:p>
          <a:p>
            <a:r>
              <a:rPr lang="en-US" sz="1600">
                <a:solidFill>
                  <a:srgbClr val="C8DCFF"/>
                </a:solidFill>
                <a:latin typeface="Calibri"/>
                <a:ea typeface="Calibri"/>
              </a:rPr>
              <a:t/>
            </a:r>
          </a:p>
          <a:p>
            <a:r>
              <a:rPr lang="en-US" sz="1600">
                <a:solidFill>
                  <a:srgbClr val="C8DCFF"/>
                </a:solidFill>
                <a:latin typeface="Calibri"/>
                <a:ea typeface="Calibri"/>
              </a:rPr>
              <a:t>🔧  Dev — Assessment Agent (Graduated Hinting)</a:t>
            </a:r>
          </a:p>
          <a:p>
            <a:r>
              <a:rPr lang="en-US" sz="1600">
                <a:solidFill>
                  <a:srgbClr val="C8DCFF"/>
                </a:solidFill>
                <a:latin typeface="Calibri"/>
                <a:ea typeface="Calibri"/>
              </a:rPr>
              <a:t>→  Kuis adaptif; hint terkecil dulu bila salah (IntelliCode, FWCI 23.5)</a:t>
            </a:r>
          </a:p>
        </p:txBody>
      </p:sp>
      <p:sp>
        <p:nvSpPr>
          <p:cNvPr id="100034" name="Feature3"/>
          <p:cNvSpPr txBox="1"/>
          <p:nvPr/>
        </p:nvSpPr>
        <p:spPr>
          <a:xfrm xmlns:a="http://schemas.openxmlformats.org/drawingml/2006/main">
            <a:off x="540000" y="3672000"/>
            <a:ext cx="10800000" cy="1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600">
                <a:solidFill>
                  <a:srgbClr val="C8DCFF"/>
                </a:solidFill>
                <a:latin typeface="Calibri"/>
                <a:ea typeface="Calibri"/>
              </a:rPr>
              <a:t>🔧  Dev — Progress Agent (Spaced Repetition)</a:t>
            </a:r>
          </a:p>
          <a:p>
            <a:r>
              <a:rPr lang="en-US" sz="1600">
                <a:solidFill>
                  <a:srgbClr val="C8DCFF"/>
                </a:solidFill>
                <a:latin typeface="Calibri"/>
                <a:ea typeface="Calibri"/>
              </a:rPr>
              <a:t>→  Jadwal review berbasis forgetting curve individual — +15–20% retensi (Zaidi et al.)</a:t>
            </a:r>
          </a:p>
          <a:p>
            <a:r>
              <a:rPr lang="en-US" sz="1600">
                <a:solidFill>
                  <a:srgbClr val="C8DCFF"/>
                </a:solidFill>
                <a:latin typeface="Calibri"/>
                <a:ea typeface="Calibri"/>
              </a:rPr>
              <a:t/>
            </a:r>
          </a:p>
          <a:p>
            <a:r>
              <a:rPr lang="en-US" sz="1600">
                <a:solidFill>
                  <a:srgbClr val="C8DCFF"/>
                </a:solidFill>
                <a:latin typeface="Calibri"/>
                <a:ea typeface="Calibri"/>
              </a:rPr>
              <a:t>🔧  Dev — Motivator &amp; Wellbeing Agent</a:t>
            </a:r>
          </a:p>
          <a:p>
            <a:r>
              <a:rPr lang="en-US" sz="1600">
                <a:solidFill>
                  <a:srgbClr val="C8DCFF"/>
                </a:solidFill>
                <a:latin typeface="Calibri"/>
                <a:ea typeface="Calibri"/>
              </a:rPr>
              <a:t>→  Nudge kontekstual + cek burnout berkala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35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1E2761"/>
                </a:solidFill>
                <a:latin typeface="Calibri"/>
                <a:ea typeface="Calibri"/>
              </a:rPr>
              <a:t>08</a:t>
            </a:r>
          </a:p>
        </p:txBody>
      </p:sp>
      <p:sp>
        <p:nvSpPr>
          <p:cNvPr id="100036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E2761"/>
                </a:solidFill>
                <a:latin typeface="Calibri"/>
                <a:ea typeface="Calibri"/>
              </a:rPr>
              <a:t>Prototype &amp; Demo</a:t>
            </a:r>
          </a:p>
        </p:txBody>
      </p:sp>
      <p:sp>
        <p:nvSpPr>
          <p:cNvPr id="100037" name="DemoFlow"/>
          <p:cNvSpPr txBox="1"/>
          <p:nvPr/>
        </p:nvSpPr>
        <p:spPr>
          <a:xfrm xmlns:a="http://schemas.openxmlformats.org/drawingml/2006/main">
            <a:off x="540000" y="1152000"/>
            <a:ext cx="108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E2761"/>
                </a:solidFill>
                <a:latin typeface="Calibri"/>
                <a:ea typeface="Calibri"/>
              </a:rPr>
              <a:t>Alur Demo (Goal Agent -- e2e verified):</a:t>
            </a:r>
          </a:p>
        </p:txBody>
      </p:sp>
      <p:sp>
        <p:nvSpPr>
          <p:cNvPr id="100038" name="DemoSteps"/>
          <p:cNvSpPr txBox="1"/>
          <p:nvPr/>
        </p:nvSpPr>
        <p:spPr>
          <a:xfrm xmlns:a="http://schemas.openxmlformats.org/drawingml/2006/main">
            <a:off x="540000" y="1512000"/>
            <a:ext cx="10800000" cy="18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[Screenshot 01] Bob TUI -- harness pengembangan memanggil tool goal_decomposer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[Screenshot 02] Canvas Langflow: flow goal_decomposer (Chat Input -&gt; Prompt -&gt; LLM -&gt; Chat Output)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[Screenshot 03] Endpoint Langflow: nama flow + deskripsi agent dikonfigurasi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[Screenshot 04] Output nyata: JSON roadmap 12 minggu (goal: data analytics)</a:t>
            </a:r>
          </a:p>
        </p:txBody>
      </p:sp>
      <p:sp>
        <p:nvSpPr>
          <p:cNvPr id="100039" name="ScreenshotNote"/>
          <p:cNvSpPr txBox="1"/>
          <p:nvPr/>
        </p:nvSpPr>
        <p:spPr>
          <a:xfrm xmlns:a="http://schemas.openxmlformats.org/drawingml/2006/main">
            <a:off x="540000" y="3420000"/>
            <a:ext cx="1080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999999"/>
                </a:solidFill>
                <a:latin typeface="Calibri"/>
                <a:ea typeface="Calibri"/>
              </a:rPr>
              <a:t>[ Sisipkan 4 screenshot di sini: 01-user-interface.png, 02-langflow-workflow.png, 03-langflow-endpoint.png, 04-output.png ]</a:t>
            </a:r>
          </a:p>
          <a:p xmlns:a="http://schemas.openxmlformats.org/drawingml/2006/main">
            <a:r>
              <a:rPr lang="en-US" sz="1500">
                <a:solidFill>
                  <a:srgbClr val="999999"/>
                </a:solidFill>
                <a:latin typeface="Calibri"/>
                <a:ea typeface="Calibri"/>
              </a:rPr>
              <a:t>File ada di: submission/screenshots/</a:t>
            </a:r>
          </a:p>
        </p:txBody>
      </p:sp>
      <p:sp>
        <p:nvSpPr>
          <p:cNvPr id="100040" name="Claim"/>
          <p:cNvSpPr txBox="1"/>
          <p:nvPr/>
        </p:nvSpPr>
        <p:spPr>
          <a:xfrm xmlns:a="http://schemas.openxmlformats.org/drawingml/2006/main">
            <a:off x="540000" y="4320000"/>
            <a:ext cx="1080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1E2761"/>
                </a:solidFill>
                <a:latin typeface="Calibri"/>
                <a:ea typeface="Calibri"/>
              </a:rPr>
              <a:t>Bukti integrasi: Bob memanggil MCP tool --&gt; Langflow menjalankan flow --&gt; JSON roadmap dikembalikan.</a:t>
            </a:r>
          </a:p>
          <a:p xmlns:a="http://schemas.openxmlformats.org/drawingml/2006/main">
            <a:r>
              <a:rPr lang="en-US" sz="1600" b="1">
                <a:solidFill>
                  <a:srgbClr val="1E2761"/>
                </a:solidFill>
                <a:latin typeface="Calibri"/>
                <a:ea typeface="Calibri"/>
              </a:rPr>
              <a:t>Bukan dijawab dari LLM Bob sendiri -- agent Langflow benar-benar dieksekusi.</a:t>
            </a:r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41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A8C8FF"/>
                </a:solidFill>
                <a:latin typeface="Calibri"/>
                <a:ea typeface="Calibri"/>
              </a:rPr>
              <a:t>09</a:t>
            </a:r>
          </a:p>
        </p:txBody>
      </p:sp>
      <p:sp>
        <p:nvSpPr>
          <p:cNvPr id="100042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Dampak &amp; Nilai</a:t>
            </a:r>
          </a:p>
        </p:txBody>
      </p:sp>
      <p:sp>
        <p:nvSpPr>
          <p:cNvPr id="100043" name="NorthStar"/>
          <p:cNvSpPr txBox="1"/>
          <p:nvPr/>
        </p:nvSpPr>
        <p:spPr>
          <a:xfrm xmlns:a="http://schemas.openxmlformats.org/drawingml/2006/main">
            <a:off x="540000" y="1152000"/>
            <a:ext cx="1080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1">
                <a:solidFill>
                  <a:srgbClr val="7DFFB0"/>
                </a:solidFill>
                <a:latin typeface="Calibri"/>
                <a:ea typeface="Calibri"/>
              </a:rPr>
              <a:t>⭐  North Star: Career Goal Progress Rate ≥ 15%/minggu per pengguna aktif</a:t>
            </a:r>
          </a:p>
        </p:txBody>
      </p:sp>
      <p:sp>
        <p:nvSpPr>
          <p:cNvPr id="100044" name="Metrics"/>
          <p:cNvSpPr txBox="1"/>
          <p:nvPr/>
        </p:nvSpPr>
        <p:spPr>
          <a:xfrm xmlns:a="http://schemas.openxmlformats.org/drawingml/2006/main">
            <a:off x="540000" y="1620000"/>
            <a:ext cx="10800000" cy="23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600">
                <a:solidFill>
                  <a:srgbClr val="FFFFFF"/>
                </a:solidFill>
                <a:latin typeface="Calibri"/>
                <a:ea typeface="Calibri"/>
              </a:rPr>
              <a:t>⚡  Roadmap personal: 2–4 jam riset mandiri → &lt; 1 menit — terbukti demo e2e</a:t>
            </a:r>
          </a:p>
          <a:p>
            <a:r>
              <a:rPr lang="en-US" sz="16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>
            <a:r>
              <a:rPr lang="en-US" sz="1600">
                <a:solidFill>
                  <a:srgbClr val="FFFFFF"/>
                </a:solidFill>
                <a:latin typeface="Calibri"/>
                <a:ea typeface="Calibri"/>
              </a:rPr>
              <a:t>📈  Retensi belajar: +15–20% vs spaced repetition tetap (Zaidi et al., arXiv 2004.11327)</a:t>
            </a:r>
          </a:p>
          <a:p>
            <a:r>
              <a:rPr lang="en-US" sz="16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>
            <a:r>
              <a:rPr lang="en-US" sz="1600">
                <a:solidFill>
                  <a:srgbClr val="FFFFFF"/>
                </a:solidFill>
                <a:latin typeface="Calibri"/>
                <a:ea typeface="Calibri"/>
              </a:rPr>
              <a:t>🎯  Target: 1.000 pengguna/bulan pada bulan ke-6 setelah rilis</a:t>
            </a:r>
          </a:p>
          <a:p>
            <a:r>
              <a:rPr lang="en-US" sz="16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>
            <a:r>
              <a:rPr lang="en-US" sz="1600">
                <a:solidFill>
                  <a:srgbClr val="FFFFFF"/>
                </a:solidFill>
                <a:latin typeface="Calibri"/>
                <a:ea typeface="Calibri"/>
              </a:rPr>
              <a:t>🔬  Meta-analisis AI pada self-regulated learning: g = 1.613 (32 studi, Frontiers in Education 2025)</a:t>
            </a:r>
          </a:p>
          <a:p>
            <a:r>
              <a:rPr lang="en-US" sz="16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>
            <a:r>
              <a:rPr lang="en-US" sz="1600">
                <a:solidFill>
                  <a:srgbClr val="FFFFFF"/>
                </a:solidFill>
                <a:latin typeface="Calibri"/>
                <a:ea typeface="Calibri"/>
              </a:rPr>
              <a:t>💡  Feynman Bot: 80%+ peserta lebih pilih daripada membaca pasif (arXiv 2506.09055)</a:t>
            </a:r>
          </a:p>
        </p:txBody>
      </p:sp>
      <p:sp>
        <p:nvSpPr>
          <p:cNvPr id="100045" name="Competitive"/>
          <p:cNvSpPr txBox="1"/>
          <p:nvPr/>
        </p:nvSpPr>
        <p:spPr>
          <a:xfrm xmlns:a="http://schemas.openxmlformats.org/drawingml/2006/main">
            <a:off x="540000" y="4140000"/>
            <a:ext cx="108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200">
                <a:solidFill>
                  <a:srgbClr val="8AAADD"/>
                </a:solidFill>
                <a:latin typeface="Calibri"/>
                <a:ea typeface="Calibri"/>
              </a:rPr>
              <a:t>Kuadran unclaimed: High Adaptivity × Bahasa Indonesia  —  Serambi.ai = 'Learning OS'</a:t>
            </a:r>
          </a:p>
          <a:p>
            <a:r>
              <a:rPr lang="en-US" sz="1200">
                <a:solidFill>
                  <a:srgbClr val="8AAADD"/>
                </a:solidFill>
                <a:latin typeface="Calibri"/>
                <a:ea typeface="Calibri"/>
              </a:rPr>
              <a:t>vs ChatGPT: oracle langsung jawab  ·  vs Dicoding: kursus tetap (1,3 juta+ user, tapi tidak adaptif)  ·  vs DataCamp: English-first, mahal  ·  vs Boot.dev: backend-only + English  ·  vs Bootcamp: jadwal mahal</a:t>
            </a:r>
          </a:p>
        </p:txBody>
      </p:sp>
      <p:sp>
        <p:nvSpPr>
          <p:cNvPr id="100065" name="TextBox 6"/>
          <p:cNvSpPr/>
          <p:nvPr/>
        </p:nvSpPr>
        <p:spPr>
          <a:xfrm>
            <a:off x="540000" y="4068000"/>
            <a:ext cx="10800000" cy="21600"/>
          </a:xfrm>
          <a:prstGeom prst="rect">
            <a:avLst/>
          </a:prstGeom>
          <a:solidFill>
            <a:srgbClr val="4499BB"/>
          </a:solidFill>
          <a:ln>
            <a:noFill/>
          </a:ln>
        </p:spPr>
        <p:txBody>
          <a:bodyPr/>
          <a:lstStyle/>
          <a:p/>
        </p:txBody>
      </p:sp>
    </p:spTree>
  </p:cSld>
</p:sld>
</file>

<file path=ppt/slides/slide10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46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1E2761"/>
                </a:solidFill>
                <a:latin typeface="Calibri"/>
                <a:ea typeface="Calibri"/>
              </a:rPr>
              <a:t>10</a:t>
            </a:r>
          </a:p>
        </p:txBody>
      </p:sp>
      <p:sp>
        <p:nvSpPr>
          <p:cNvPr id="100047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E2761"/>
                </a:solidFill>
                <a:latin typeface="Calibri"/>
                <a:ea typeface="Calibri"/>
              </a:rPr>
              <a:t>Pengembangan ke Depan</a:t>
            </a:r>
          </a:p>
        </p:txBody>
      </p:sp>
      <p:sp>
        <p:nvSpPr>
          <p:cNvPr id="100048" name="Phase1"/>
          <p:cNvSpPr txBox="1"/>
          <p:nvPr/>
        </p:nvSpPr>
        <p:spPr>
          <a:xfrm xmlns:a="http://schemas.openxmlformats.org/drawingml/2006/main">
            <a:off x="540000" y="1152000"/>
            <a:ext cx="54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E2761"/>
                </a:solidFill>
                <a:latin typeface="Calibri"/>
                <a:ea typeface="Calibri"/>
              </a:rPr>
              <a:t>Fase sekarang (MVP live):</a:t>
            </a:r>
          </a:p>
        </p:txBody>
      </p:sp>
      <p:sp>
        <p:nvSpPr>
          <p:cNvPr id="100049" name="Phase1Detail"/>
          <p:cNvSpPr txBox="1"/>
          <p:nvPr/>
        </p:nvSpPr>
        <p:spPr>
          <a:xfrm xmlns:a="http://schemas.openxmlformats.org/drawingml/2006/main">
            <a:off x="540000" y="1512000"/>
            <a:ext cx="5400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600">
                <a:solidFill>
                  <a:srgbClr val="1A7A1A"/>
                </a:solidFill>
                <a:latin typeface="Calibri"/>
                <a:ea typeface="Calibri"/>
              </a:rPr>
              <a:t>✅  Goal Agent — e2e verified</a:t>
            </a:r>
          </a:p>
          <a:p>
            <a:r>
              <a:rPr lang="en-US" sz="1600">
                <a:solidFill>
                  <a:srgbClr val="1A7A1A"/>
                </a:solidFill>
                <a:latin typeface="Calibri"/>
                <a:ea typeface="Calibri"/>
              </a:rPr>
              <a:t>✅  Infra MCP + Langflow + Bob</a:t>
            </a:r>
          </a:p>
          <a:p>
            <a:r>
              <a:rPr lang="en-US" sz="1600">
                <a:solidFill>
                  <a:srgbClr val="1A7A1A"/>
                </a:solidFill>
                <a:latin typeface="Calibri"/>
                <a:ea typeface="Calibri"/>
              </a:rPr>
              <a:t>✅  Dokumentasi + submission draft</a:t>
            </a:r>
          </a:p>
          <a:p>
            <a:r>
              <a:rPr lang="en-US" sz="1600">
                <a:solidFill>
                  <a:srgbClr val="1A7A1A"/>
                </a:solidFill>
                <a:latin typeface="Calibri"/>
                <a:ea typeface="Calibri"/>
              </a:rPr>
              <a:t>✅  Verification scripts (flow + e2e)</a:t>
            </a:r>
          </a:p>
        </p:txBody>
      </p:sp>
      <p:sp>
        <p:nvSpPr>
          <p:cNvPr id="100050" name="Phase2"/>
          <p:cNvSpPr txBox="1"/>
          <p:nvPr/>
        </p:nvSpPr>
        <p:spPr>
          <a:xfrm xmlns:a="http://schemas.openxmlformats.org/drawingml/2006/main">
            <a:off x="6120000" y="1152000"/>
            <a:ext cx="54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E2761"/>
                </a:solidFill>
                <a:latin typeface="Calibri"/>
                <a:ea typeface="Calibri"/>
              </a:rPr>
              <a:t>3-6 bulan ke depan:</a:t>
            </a:r>
          </a:p>
        </p:txBody>
      </p:sp>
      <p:sp>
        <p:nvSpPr>
          <p:cNvPr id="100051" name="Phase2Detail"/>
          <p:cNvSpPr txBox="1"/>
          <p:nvPr/>
        </p:nvSpPr>
        <p:spPr>
          <a:xfrm xmlns:a="http://schemas.openxmlformats.org/drawingml/2006/main">
            <a:off x="6120000" y="1512000"/>
            <a:ext cx="5400000" cy="1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◻  Tutor Agent (Feynman)</a:t>
            </a:r>
          </a:p>
          <a:p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◻  Assessment Agent (hinting)</a:t>
            </a:r>
          </a:p>
          <a:p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◻  Progress Agent (spaced rep)</a:t>
            </a:r>
          </a:p>
          <a:p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◻  Motivator + Wellbeing Agent</a:t>
            </a:r>
          </a:p>
          <a:p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◻  Web App (antarmuka pengguna)</a:t>
            </a:r>
          </a:p>
          <a:p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◻  WhatsApp bot surface</a:t>
            </a:r>
          </a:p>
        </p:txBody>
      </p:sp>
      <p:sp>
        <p:nvSpPr>
          <p:cNvPr id="100052" name="B2B"/>
          <p:cNvSpPr txBox="1"/>
          <p:nvPr/>
        </p:nvSpPr>
        <p:spPr>
          <a:xfrm xmlns:a="http://schemas.openxmlformats.org/drawingml/2006/main">
            <a:off x="540000" y="3060000"/>
            <a:ext cx="1080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500">
                <a:solidFill>
                  <a:srgbClr val="333333"/>
                </a:solidFill>
                <a:latin typeface="Calibri"/>
                <a:ea typeface="Calibri"/>
              </a:rPr>
              <a:t>Roadmap B2B:  Whitelabel untuk bootcamp, kampus, program reskilling Komdigi</a:t>
            </a:r>
          </a:p>
          <a:p>
            <a:r>
              <a:rPr lang="en-US" sz="1500">
                <a:solidFill>
                  <a:srgbClr val="333333"/>
                </a:solidFill>
                <a:latin typeface="Calibri"/>
                <a:ea typeface="Calibri"/>
              </a:rPr>
              <a:t>Satu instansi — ribuan peserta — biaya per pengguna rendah</a:t>
            </a:r>
          </a:p>
        </p:txBody>
      </p:sp>
      <p:sp>
        <p:nvSpPr>
          <p:cNvPr id="100053" name="Scale"/>
          <p:cNvSpPr txBox="1"/>
          <p:nvPr/>
        </p:nvSpPr>
        <p:spPr>
          <a:xfrm xmlns:a="http://schemas.openxmlformats.org/drawingml/2006/main">
            <a:off x="540000" y="39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300">
                <a:solidFill>
                  <a:srgbClr val="777777"/>
                </a:solidFill>
                <a:latin typeface="Calibri"/>
                <a:ea typeface="Calibri"/>
              </a:rPr>
              <a:t>Skala teknis: Langflow Cloud multi-tenant + analytics progres  ·  Moat: model forgetting curve anonim per domain</a:t>
            </a:r>
          </a:p>
        </p:txBody>
      </p:sp>
      <p:sp>
        <p:nvSpPr>
          <p:cNvPr id="100066" name="TextBox 9"/>
          <p:cNvSpPr/>
          <p:nvPr/>
        </p:nvSpPr>
        <p:spPr>
          <a:xfrm>
            <a:off x="540000" y="1116000"/>
            <a:ext cx="1260000" cy="216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/>
        </p:txBody>
      </p:sp>
    </p:spTree>
  </p:cSld>
</p:sld>
</file>

<file path=ppt/slides/slide11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54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A8C8FF"/>
                </a:solidFill>
                <a:latin typeface="Calibri"/>
                <a:ea typeface="Calibri"/>
              </a:rPr>
              <a:t>11</a:t>
            </a:r>
          </a:p>
        </p:txBody>
      </p:sp>
      <p:sp>
        <p:nvSpPr>
          <p:cNvPr id="100055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Tim &amp; Founder</a:t>
            </a:r>
          </a:p>
        </p:txBody>
      </p:sp>
      <p:sp>
        <p:nvSpPr>
          <p:cNvPr id="100056" name="TeamPlaceholder"/>
          <p:cNvSpPr txBox="1"/>
          <p:nvPr/>
        </p:nvSpPr>
        <p:spPr>
          <a:xfrm xmlns:a="http://schemas.openxmlformats.org/drawingml/2006/main">
            <a:off x="540000" y="1152000"/>
            <a:ext cx="108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FFFFF"/>
                </a:solidFill>
                <a:latin typeface="Calibri"/>
                <a:ea typeface="Calibri"/>
              </a:rPr>
              <a:t>M. Muchsin  —  Solo Founder &amp; Engineer</a:t>
            </a:r>
          </a:p>
        </p:txBody>
      </p:sp>
      <p:sp>
        <p:nvSpPr>
          <p:cNvPr id="100057" name="WhyWin"/>
          <p:cNvSpPr txBox="1"/>
          <p:nvPr/>
        </p:nvSpPr>
        <p:spPr>
          <a:xfrm xmlns:a="http://schemas.openxmlformats.org/drawingml/2006/main">
            <a:off x="540000" y="2340000"/>
            <a:ext cx="10800000" cy="18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Mengapa founder ini:</a:t>
            </a:r>
          </a:p>
          <a:p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/>
            </a:r>
          </a:p>
          <a:p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📄  Riset mendalam — 30+ paper (abstract + DOI); topik riset S2 langsung: LLM hallucination reduction</a:t>
            </a:r>
          </a:p>
          <a:p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✅  Implementasi nyata — Goal Agent e2e verified; bukan mockup, bukan demo palsu</a:t>
            </a:r>
          </a:p>
          <a:p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🔧  Full-stack &amp; agentic — Vue/Nuxt/SvelteKit + agentic AI; paham stack produksi sampai infra agent</a:t>
            </a:r>
          </a:p>
          <a:p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🎓  Pedagogi berbasis bukti — setiap fitur terhubung ke paper dengan FWCI tinggi</a:t>
            </a:r>
          </a:p>
        </p:txBody>
      </p:sp>
      <p:sp>
        <p:nvSpPr>
          <p:cNvPr id="100058" name="Repo"/>
          <p:cNvSpPr txBox="1"/>
          <p:nvPr/>
        </p:nvSpPr>
        <p:spPr>
          <a:xfrm xmlns:a="http://schemas.openxmlformats.org/drawingml/2006/main">
            <a:off x="540000" y="4320000"/>
            <a:ext cx="108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500">
                <a:solidFill>
                  <a:srgbClr val="A8C8FF"/>
                </a:solidFill>
                <a:latin typeface="Calibri"/>
                <a:ea typeface="Calibri"/>
              </a:rPr>
              <a:t>🔗  github.com/mmuchsin/serambi-ai</a:t>
            </a:r>
          </a:p>
          <a:p>
            <a:r>
              <a:rPr lang="en-US" sz="1500">
                <a:solidFill>
                  <a:srgbClr val="A8C8FF"/>
                </a:solidFill>
                <a:latin typeface="Calibri"/>
                <a:ea typeface="Calibri"/>
              </a:rPr>
              <a:t>Stack: IBM Bob × IBM Langflow × MCP × NaraRouter</a:t>
            </a:r>
          </a:p>
        </p:txBody>
      </p:sp>
      <p:sp>
        <p:nvSpPr>
          <p:cNvPr id="100067" name="TextBox 6"/>
          <p:cNvSpPr/>
          <p:nvPr/>
        </p:nvSpPr>
        <p:spPr>
          <a:xfrm>
            <a:off x="540000" y="2088000"/>
            <a:ext cx="10800000" cy="21600"/>
          </a:xfrm>
          <a:prstGeom prst="rect">
            <a:avLst/>
          </a:prstGeom>
          <a:solidFill>
            <a:srgbClr val="4499BB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068" name="TextBox 7"/>
          <p:cNvSpPr txBox="1"/>
          <p:nvPr/>
        </p:nvSpPr>
        <p:spPr>
          <a:xfrm>
            <a:off x="540000" y="1800000"/>
            <a:ext cx="10800000" cy="64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500" i="1">
                <a:solidFill>
                  <a:srgbClr val="C8DCFF"/>
                </a:solidFill>
              </a:rPr>
              <a:t>Software Engineer · Vue / Nuxt / TypeScript · SvelteKit · Agentic AI</a:t>
            </a:r>
          </a:p>
          <a:p>
            <a:r>
              <a:rPr lang="en-US" sz="1500" i="1">
                <a:solidFill>
                  <a:srgbClr val="C8DCFF"/>
                </a:solidFill>
              </a:rPr>
              <a:t>S2 Informatika — Universitas Negeri Semarang (UNNES) · Riset: LLM Hallucination Reduction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OfficeCLI/1.0.144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2026-10-04T05:09:44Z</dcterms:created>
  <cp:lastModifiedBy>OfficeCLI</cp:lastModifiedBy>
  <dcterms:modified xsi:type="dcterms:W3CDTF">2026-10-04T05:09:44Z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1.0.153</vt:lpwstr>
  </op:property>
  <op:property fmtid="{D5CDD505-2E9C-101B-9397-08002B2CF9AE}" pid="3" name="OfficeCLI.LastModified">
    <vt:lpwstr xmlns:vt="http://schemas.openxmlformats.org/officeDocument/2006/docPropsVTypes">2026-10-04T05:57:28Z</vt:lpwstr>
  </op:property>
</op:Properties>
</file>