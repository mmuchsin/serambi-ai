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id"/>
    </a:defPPr>
    <a:lvl1pPr marL="0" algn="l" defTabSz="457200" rtl="0" eaLnBrk="1" latinLnBrk="0" hangingPunct="1">
      <a:defRPr lang="id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lang="id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lang="id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lang="id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lang="id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lang="id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lang="id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lang="id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lang="id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id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id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lang="id"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id" dirty="0"/>
              <a:t>"Belajar mandiri, tapi nggak sendirian." AI career coach untuk career switcher Indonesia.</a:t>
            </a:r>
          </a:p>
          <a:p>
            <a:endParaRPr lang="id" dirty="0"/>
          </a:p>
          <a:p>
            <a:r>
              <a:rPr lang="id" dirty="0"/>
              <a:t>[Stage direction: Kontak mata ke juri, tunjuk screen, jeda 3 detik.]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id" dirty="0"/>
              <a:t>4 pain points: overwhelmed, no structure, no feedback, no motivation. Market gap: 1.2M career switchers, 78% gagal.</a:t>
            </a:r>
          </a:p>
          <a:p>
            <a:endParaRPr lang="id" dirty="0"/>
          </a:p>
          <a:p>
            <a:r>
              <a:rPr lang="id" dirty="0"/>
              <a:t>[Stage direction: Tunjuk 4 pain cards, tunjuk market gap strip.]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id" dirty="0"/>
              <a:t>6 agent steps: Goal → Tutor → Assessment → Progress → Motivator → Wellbeing. Research-anchored.</a:t>
            </a:r>
          </a:p>
          <a:p>
            <a:endParaRPr lang="id" dirty="0"/>
          </a:p>
          <a:p>
            <a:r>
              <a:rPr lang="id" dirty="0"/>
              <a:t>[Stage direction: Tunjuk 6 agent steps, jeda di tiap step.]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id" dirty="0"/>
              <a:t>Persona: Andi, 27, career switcher. JTBD: "Ketika saya gagal, saya ingin tahu apa yang salah." Revenue: freemium + B2B.</a:t>
            </a:r>
          </a:p>
          <a:p>
            <a:endParaRPr lang="id" dirty="0"/>
          </a:p>
          <a:p>
            <a:r>
              <a:rPr lang="id" dirty="0"/>
              <a:t>[Stage direction: Tunjuk persona card, tunjuk JTBD quote.]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id" dirty="0"/>
              <a:t>3 steps: Goal → Roadmap → Execute. E2e verified: Bob → MCP → Langflow → JSON roadmap.</a:t>
            </a:r>
          </a:p>
          <a:p>
            <a:endParaRPr lang="id" dirty="0"/>
          </a:p>
          <a:p>
            <a:r>
              <a:rPr lang="id" dirty="0"/>
              <a:t>[Stage direction: Tunjuk 3 steps, tunjuk e2e verified chip.]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id" dirty="0"/>
              <a:t>4 layers: IBM Bob, Langflow, MCP, NaraRouter. Kontrak MCP sama di dev dan produksi.</a:t>
            </a:r>
          </a:p>
          <a:p>
            <a:endParaRPr lang="id" dirty="0"/>
          </a:p>
          <a:p>
            <a:r>
              <a:rPr lang="id" dirty="0"/>
              <a:t>[Stage direction: Tunjuk architecture diagram, jeda di MCP.]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id" dirty="0"/>
              <a:t>6 agent, 5 fitur. 1 LIVE e2e: Goal Decomposer. Tutor, Assessment, Progress, Motivator+Wellbeing.</a:t>
            </a:r>
          </a:p>
          <a:p>
            <a:endParaRPr lang="id" dirty="0"/>
          </a:p>
          <a:p>
            <a:r>
              <a:rPr lang="id" dirty="0"/>
              <a:t>[Stage direction: Tunjuk LIVE chip, jeda 2 detik, tunjuk agent-flow.]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id" dirty="0"/>
              <a:t>4 screenshots nyata: Bob TUI, Langflow canvas, endpoint, JSON output. Bukan mockup.</a:t>
            </a:r>
          </a:p>
          <a:p>
            <a:endParaRPr lang="id" dirty="0"/>
          </a:p>
          <a:p>
            <a:r>
              <a:rPr lang="id" dirty="0"/>
              <a:t>[Stage direction: Transisi ke demo live, jeda 3 detik.]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id" dirty="0"/>
              <a:t>6 KPIs: ≥15% progress, &lt;1 menit roadmap, +15–20% retensi, g=1.613, 80%+, 1.000 user. 4 guardrails.</a:t>
            </a:r>
          </a:p>
          <a:p>
            <a:endParaRPr lang="id" dirty="0"/>
          </a:p>
          <a:p>
            <a:r>
              <a:rPr lang="id" dirty="0"/>
              <a:t>[Stage direction: Tunjuk KPI, tunjuk guardrail cards.]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id" dirty="0"/>
              <a:t>Selesai: Goal Agent e2e, infra, dokumentasi, verification. 3–6 bulan: 5 agent + web app + WhatsApp. B2B.</a:t>
            </a:r>
          </a:p>
          <a:p>
            <a:endParaRPr lang="id" dirty="0"/>
          </a:p>
          <a:p>
            <a:r>
              <a:rPr lang="id" dirty="0"/>
              <a:t>[Stage direction: Tunjuk kolom "Selesai", lalu "3–6 bulan", lalu B2B strip.]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id" dirty="0"/>
              <a:t>M. Muchsin, S2 Informatika UNNES. 4 bukti: riset, implementasi, full-stack, pedagogi. Repo: github.com/mmuchsin/serambi-ai</a:t>
            </a:r>
          </a:p>
          <a:p>
            <a:endParaRPr lang="id" dirty="0"/>
          </a:p>
          <a:p>
            <a:r>
              <a:rPr lang="id" dirty="0"/>
              <a:t>[Stage direction: Tunjuk link repo besar, jeda 3 detik, kontak mata ke juri.]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rambi-pitch-deck-v2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id" smtClean="0"/>
              <a:t>04/10/2026</a:t>
            </a:fld>
            <a:endParaRPr lang="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id" smtClean="0"/>
              <a:t>‹#›</a:t>
            </a:fld>
            <a:endParaRPr lang="id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erambi-pitch-deck-v2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id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id" smtClean="0"/>
              <a:t>04/10/2026</a:t>
            </a:fld>
            <a:endParaRPr lang="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id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id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id" smtClean="0"/>
              <a:t>‹#›</a:t>
            </a:fld>
            <a:endParaRPr lang="id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457200" rtl="0" eaLnBrk="1" latinLnBrk="0" hangingPunct="1">
        <a:spcBef>
          <a:spcPct val="0"/>
        </a:spcBef>
        <a:buNone/>
        <a:defRPr lang="id" sz="31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lang="id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lang="id"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lang="id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lang="id"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lang="id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lang="id"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lang="id"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lang="id"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lang="id"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"/>
      </a:defPPr>
      <a:lvl1pPr marL="0" algn="l" defTabSz="457200" rtl="0" eaLnBrk="1" latinLnBrk="0" hangingPunct="1">
        <a:defRPr lang="id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lang="id"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lang="id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lang="id"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lang="id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lang="id"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lang="id"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lang="id"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lang="id"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01-wordmark"/>
          <p:cNvGrpSpPr/>
          <p:nvPr/>
        </p:nvGrpSpPr>
        <p:grpSpPr>
          <a:xfrm>
            <a:off x="533400" y="571500"/>
            <a:ext cx="2904476" cy="698627"/>
            <a:chOff x="533400" y="571500"/>
            <a:chExt cx="2904476" cy="698627"/>
          </a:xfrm>
        </p:grpSpPr>
        <p:pic>
          <p:nvPicPr>
            <p:cNvPr id="2" name="Image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3400" y="571500"/>
              <a:ext cx="609600" cy="609600"/>
            </a:xfrm>
            <a:prstGeom prst="rect">
              <a:avLst/>
            </a:prstGeom>
          </p:spPr>
        </p:pic>
        <p:sp>
          <p:nvSpPr>
            <p:cNvPr id="3" name="TextBox 3"/>
            <p:cNvSpPr txBox="1"/>
            <p:nvPr/>
          </p:nvSpPr>
          <p:spPr>
            <a:xfrm>
              <a:off x="1279398" y="654050"/>
              <a:ext cx="215847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Serambi.ai</a:t>
              </a:r>
            </a:p>
          </p:txBody>
        </p:sp>
      </p:grpSp>
      <p:grpSp>
        <p:nvGrpSpPr>
          <p:cNvPr id="7" name="p01-hero"/>
          <p:cNvGrpSpPr/>
          <p:nvPr/>
        </p:nvGrpSpPr>
        <p:grpSpPr>
          <a:xfrm>
            <a:off x="533400" y="1333500"/>
            <a:ext cx="11125200" cy="3143250"/>
            <a:chOff x="533400" y="1333500"/>
            <a:chExt cx="11125200" cy="3143250"/>
          </a:xfrm>
        </p:grpSpPr>
        <p:sp>
          <p:nvSpPr>
            <p:cNvPr id="5" name="Rectangle 5"/>
            <p:cNvSpPr/>
            <p:nvPr/>
          </p:nvSpPr>
          <p:spPr>
            <a:xfrm>
              <a:off x="533400" y="1333500"/>
              <a:ext cx="11125200" cy="3143250"/>
            </a:xfrm>
            <a:prstGeom prst="roundRect">
              <a:avLst>
                <a:gd name="adj" fmla="val 7273"/>
              </a:avLst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4"/>
            <a:srcRect t="24886" b="24886"/>
            <a:stretch>
              <a:fillRect/>
            </a:stretch>
          </p:blipFill>
          <p:spPr>
            <a:xfrm>
              <a:off x="533400" y="1333500"/>
              <a:ext cx="11125200" cy="3143250"/>
            </a:xfrm>
            <a:prstGeom prst="roundRect">
              <a:avLst>
                <a:gd name="adj" fmla="val 7272"/>
              </a:avLst>
            </a:prstGeom>
          </p:spPr>
        </p:pic>
      </p:grpSp>
      <p:grpSp>
        <p:nvGrpSpPr>
          <p:cNvPr id="11" name="p01-assertion"/>
          <p:cNvGrpSpPr/>
          <p:nvPr/>
        </p:nvGrpSpPr>
        <p:grpSpPr>
          <a:xfrm>
            <a:off x="514350" y="4552950"/>
            <a:ext cx="7110855" cy="1431544"/>
            <a:chOff x="514350" y="4552950"/>
            <a:chExt cx="7110855" cy="1431544"/>
          </a:xfrm>
        </p:grpSpPr>
        <p:sp>
          <p:nvSpPr>
            <p:cNvPr id="8" name="TextBox 8"/>
            <p:cNvSpPr txBox="1"/>
            <p:nvPr/>
          </p:nvSpPr>
          <p:spPr>
            <a:xfrm>
              <a:off x="514350" y="4552950"/>
              <a:ext cx="5873004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40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Scaffold, Bukan Oracle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21208" y="5194300"/>
              <a:ext cx="552630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2400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Belajar mandiri, tapi nggak sendirian.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24256" y="5632450"/>
              <a:ext cx="710094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Adaptive multi-agent learning assistant untuk career switcher Indonesia</a:t>
              </a:r>
            </a:p>
          </p:txBody>
        </p:sp>
      </p:grpSp>
      <p:grpSp>
        <p:nvGrpSpPr>
          <p:cNvPr id="18" name="p01-partners-chip"/>
          <p:cNvGrpSpPr/>
          <p:nvPr/>
        </p:nvGrpSpPr>
        <p:grpSpPr>
          <a:xfrm>
            <a:off x="533400" y="5962650"/>
            <a:ext cx="8191500" cy="419100"/>
            <a:chOff x="533400" y="5962650"/>
            <a:chExt cx="8191500" cy="419100"/>
          </a:xfrm>
        </p:grpSpPr>
        <p:sp>
          <p:nvSpPr>
            <p:cNvPr id="12" name="Rectangle 12"/>
            <p:cNvSpPr/>
            <p:nvPr/>
          </p:nvSpPr>
          <p:spPr>
            <a:xfrm>
              <a:off x="533400" y="5962650"/>
              <a:ext cx="8191500" cy="4191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5142" y="6064250"/>
              <a:ext cx="42016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IBM SkillsBuild University Education National Hackathon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4991100" y="6057900"/>
              <a:ext cx="9525" cy="228600"/>
            </a:xfrm>
            <a:custGeom>
              <a:avLst/>
              <a:gdLst/>
              <a:ahLst/>
              <a:cxnLst/>
              <a:rect l="l" t="t" r="r" b="b"/>
              <a:pathLst>
                <a:path w="9525" h="228600">
                  <a:moveTo>
                    <a:pt x="0" y="0"/>
                  </a:moveTo>
                  <a:lnTo>
                    <a:pt x="0" y="22860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  <p:txBody>
            <a:bodyPr/>
            <a:lstStyle/>
            <a:p>
              <a:endParaRPr lang="en-ID"/>
            </a:p>
          </p:txBody>
        </p:sp>
        <p:pic>
          <p:nvPicPr>
            <p:cNvPr id="15" name="Image 15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19700" y="6038850"/>
              <a:ext cx="714375" cy="266700"/>
            </a:xfrm>
            <a:prstGeom prst="rect">
              <a:avLst/>
            </a:prstGeom>
          </p:spPr>
        </p:pic>
        <p:pic>
          <p:nvPicPr>
            <p:cNvPr id="16" name="Image 16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162675" y="6038850"/>
              <a:ext cx="876300" cy="266700"/>
            </a:xfrm>
            <a:prstGeom prst="rect">
              <a:avLst/>
            </a:prstGeom>
          </p:spPr>
        </p:pic>
        <p:pic>
          <p:nvPicPr>
            <p:cNvPr id="17" name="Image 17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267575" y="6038850"/>
              <a:ext cx="314325" cy="266700"/>
            </a:xfrm>
            <a:prstGeom prst="rect">
              <a:avLst/>
            </a:prstGeom>
          </p:spPr>
        </p:pic>
      </p:grpSp>
      <p:grpSp>
        <p:nvGrpSpPr>
          <p:cNvPr id="21" name="p01-name"/>
          <p:cNvGrpSpPr/>
          <p:nvPr/>
        </p:nvGrpSpPr>
        <p:grpSpPr>
          <a:xfrm>
            <a:off x="8953500" y="5962650"/>
            <a:ext cx="2705100" cy="419100"/>
            <a:chOff x="8953500" y="5962650"/>
            <a:chExt cx="2705100" cy="419100"/>
          </a:xfrm>
        </p:grpSpPr>
        <p:sp>
          <p:nvSpPr>
            <p:cNvPr id="19" name="Rectangle 19"/>
            <p:cNvSpPr/>
            <p:nvPr/>
          </p:nvSpPr>
          <p:spPr>
            <a:xfrm>
              <a:off x="8953500" y="5962650"/>
              <a:ext cx="2705100" cy="4191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768716" y="6038850"/>
              <a:ext cx="10746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id" sz="150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M. Muchsin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02-header"/>
          <p:cNvGrpSpPr/>
          <p:nvPr/>
        </p:nvGrpSpPr>
        <p:grpSpPr>
          <a:xfrm>
            <a:off x="517398" y="533400"/>
            <a:ext cx="11141202" cy="1114552"/>
            <a:chOff x="517398" y="533400"/>
            <a:chExt cx="11141202" cy="1114552"/>
          </a:xfrm>
        </p:grpSpPr>
        <p:sp>
          <p:nvSpPr>
            <p:cNvPr id="2" name="TextBox 2"/>
            <p:cNvSpPr txBox="1"/>
            <p:nvPr/>
          </p:nvSpPr>
          <p:spPr>
            <a:xfrm>
              <a:off x="517398" y="536575"/>
              <a:ext cx="5581938" cy="11113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900"/>
                </a:lnSpc>
              </a:pPr>
              <a:r>
                <a:rPr lang="id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Belajar mandiri — dan banyak</a:t>
              </a:r>
              <a:br>
                <a:rPr lang="id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</a:br>
              <a:r>
                <a:rPr lang="id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yang gagal di tengah jalan</a:t>
              </a:r>
            </a:p>
          </p:txBody>
        </p:sp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391900" y="533400"/>
              <a:ext cx="266700" cy="266700"/>
            </a:xfrm>
            <a:prstGeom prst="rect">
              <a:avLst/>
            </a:prstGeom>
          </p:spPr>
        </p:pic>
      </p:grpSp>
      <p:grpSp>
        <p:nvGrpSpPr>
          <p:cNvPr id="7" name="p02-panel"/>
          <p:cNvGrpSpPr/>
          <p:nvPr/>
        </p:nvGrpSpPr>
        <p:grpSpPr>
          <a:xfrm>
            <a:off x="533400" y="1600200"/>
            <a:ext cx="6134100" cy="3733800"/>
            <a:chOff x="533400" y="1600200"/>
            <a:chExt cx="6134100" cy="3733800"/>
          </a:xfrm>
        </p:grpSpPr>
        <p:sp>
          <p:nvSpPr>
            <p:cNvPr id="5" name="Rectangle 5"/>
            <p:cNvSpPr/>
            <p:nvPr/>
          </p:nvSpPr>
          <p:spPr>
            <a:xfrm>
              <a:off x="533400" y="1600200"/>
              <a:ext cx="6134100" cy="3733800"/>
            </a:xfrm>
            <a:prstGeom prst="roundRect">
              <a:avLst>
                <a:gd name="adj" fmla="val 5102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4"/>
            <a:srcRect l="3794" r="3795"/>
            <a:stretch>
              <a:fillRect/>
            </a:stretch>
          </p:blipFill>
          <p:spPr>
            <a:xfrm>
              <a:off x="533400" y="1600200"/>
              <a:ext cx="6134100" cy="3733800"/>
            </a:xfrm>
            <a:prstGeom prst="roundRect">
              <a:avLst>
                <a:gd name="adj" fmla="val 5102"/>
              </a:avLst>
            </a:prstGeom>
          </p:spPr>
        </p:pic>
      </p:grpSp>
      <p:grpSp>
        <p:nvGrpSpPr>
          <p:cNvPr id="14" name="p02-pain-1"/>
          <p:cNvGrpSpPr/>
          <p:nvPr/>
        </p:nvGrpSpPr>
        <p:grpSpPr>
          <a:xfrm>
            <a:off x="7086600" y="1651000"/>
            <a:ext cx="3445646" cy="791083"/>
            <a:chOff x="7086600" y="1651000"/>
            <a:chExt cx="3445646" cy="791083"/>
          </a:xfrm>
        </p:grpSpPr>
        <p:grpSp>
          <p:nvGrpSpPr>
            <p:cNvPr id="11" name="Group 11"/>
            <p:cNvGrpSpPr/>
            <p:nvPr/>
          </p:nvGrpSpPr>
          <p:grpSpPr>
            <a:xfrm>
              <a:off x="7086600" y="1657350"/>
              <a:ext cx="228599" cy="228599"/>
              <a:chOff x="7086600" y="1657350"/>
              <a:chExt cx="228599" cy="228599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7086600" y="1835149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25400"/>
                    </a:moveTo>
                    <a:cubicBezTo>
                      <a:pt x="0" y="39428"/>
                      <a:pt x="11372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9" name="Freeform 9"/>
              <p:cNvSpPr/>
              <p:nvPr/>
            </p:nvSpPr>
            <p:spPr>
              <a:xfrm>
                <a:off x="7264399" y="1657350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25400" y="50800"/>
                    </a:move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  <a:cubicBezTo>
                      <a:pt x="0" y="39428"/>
                      <a:pt x="11372" y="50800"/>
                      <a:pt x="25400" y="50800"/>
                    </a:cubicBez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10" name="Freeform 10"/>
              <p:cNvSpPr/>
              <p:nvPr/>
            </p:nvSpPr>
            <p:spPr>
              <a:xfrm>
                <a:off x="7112000" y="1682750"/>
                <a:ext cx="1905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77800">
                    <a:moveTo>
                      <a:pt x="76200" y="177800"/>
                    </a:moveTo>
                    <a:lnTo>
                      <a:pt x="146050" y="177800"/>
                    </a:lnTo>
                    <a:cubicBezTo>
                      <a:pt x="170599" y="177800"/>
                      <a:pt x="190500" y="157899"/>
                      <a:pt x="190500" y="133350"/>
                    </a:cubicBezTo>
                    <a:cubicBezTo>
                      <a:pt x="190500" y="108801"/>
                      <a:pt x="170599" y="88900"/>
                      <a:pt x="146050" y="88900"/>
                    </a:cubicBezTo>
                    <a:lnTo>
                      <a:pt x="44450" y="88900"/>
                    </a:lnTo>
                    <a:cubicBezTo>
                      <a:pt x="19901" y="88900"/>
                      <a:pt x="0" y="68999"/>
                      <a:pt x="0" y="44450"/>
                    </a:cubicBezTo>
                    <a:cubicBezTo>
                      <a:pt x="0" y="19901"/>
                      <a:pt x="19901" y="0"/>
                      <a:pt x="44450" y="0"/>
                    </a:cubicBezTo>
                    <a:lnTo>
                      <a:pt x="101600" y="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  <p:txBody>
              <a:bodyPr/>
              <a:lstStyle/>
              <a:p>
                <a:endParaRPr lang="en-ID"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7572756" y="1651000"/>
              <a:ext cx="2891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Tidak ada roadmap personal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75042" y="1968500"/>
              <a:ext cx="2957204" cy="473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Materi acak dari YouTube, Udemy, blog —</a:t>
              </a:r>
              <a:b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tanpa peta ke target role.</a:t>
              </a:r>
            </a:p>
          </p:txBody>
        </p:sp>
      </p:grpSp>
      <p:grpSp>
        <p:nvGrpSpPr>
          <p:cNvPr id="20" name="p02-pain-2"/>
          <p:cNvGrpSpPr/>
          <p:nvPr/>
        </p:nvGrpSpPr>
        <p:grpSpPr>
          <a:xfrm>
            <a:off x="7099300" y="2603500"/>
            <a:ext cx="3255804" cy="791083"/>
            <a:chOff x="7099300" y="2603500"/>
            <a:chExt cx="3255804" cy="791083"/>
          </a:xfrm>
        </p:grpSpPr>
        <p:grpSp>
          <p:nvGrpSpPr>
            <p:cNvPr id="17" name="Group 17"/>
            <p:cNvGrpSpPr/>
            <p:nvPr/>
          </p:nvGrpSpPr>
          <p:grpSpPr>
            <a:xfrm>
              <a:off x="7099300" y="2647950"/>
              <a:ext cx="203199" cy="174624"/>
              <a:chOff x="7099300" y="2647950"/>
              <a:chExt cx="203199" cy="174624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7099300" y="2813049"/>
                <a:ext cx="203199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9525">
                    <a:moveTo>
                      <a:pt x="0" y="0"/>
                    </a:moveTo>
                    <a:lnTo>
                      <a:pt x="203199" y="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16" name="Freeform 16"/>
              <p:cNvSpPr/>
              <p:nvPr/>
            </p:nvSpPr>
            <p:spPr>
              <a:xfrm>
                <a:off x="7099300" y="2647950"/>
                <a:ext cx="203199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114300">
                    <a:moveTo>
                      <a:pt x="0" y="114300"/>
                    </a:moveTo>
                    <a:lnTo>
                      <a:pt x="50800" y="38100"/>
                    </a:lnTo>
                    <a:lnTo>
                      <a:pt x="101600" y="63500"/>
                    </a:lnTo>
                    <a:lnTo>
                      <a:pt x="152400" y="0"/>
                    </a:lnTo>
                    <a:lnTo>
                      <a:pt x="203199" y="5080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  <p:txBody>
              <a:bodyPr/>
              <a:lstStyle/>
              <a:p>
                <a:endParaRPr lang="en-ID"/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7572756" y="2603500"/>
              <a:ext cx="2217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Progres tidak terlacak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575042" y="2921000"/>
              <a:ext cx="2780062" cy="473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Tidak ada jawaban: sudah sejauh mana,</a:t>
              </a:r>
              <a:b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lanjut ke apa?</a:t>
              </a:r>
            </a:p>
          </p:txBody>
        </p:sp>
      </p:grpSp>
      <p:grpSp>
        <p:nvGrpSpPr>
          <p:cNvPr id="30" name="p02-pain-3"/>
          <p:cNvGrpSpPr/>
          <p:nvPr/>
        </p:nvGrpSpPr>
        <p:grpSpPr>
          <a:xfrm>
            <a:off x="7086600" y="3556000"/>
            <a:ext cx="4449865" cy="791083"/>
            <a:chOff x="7086600" y="3556000"/>
            <a:chExt cx="4449865" cy="791083"/>
          </a:xfrm>
        </p:grpSpPr>
        <p:grpSp>
          <p:nvGrpSpPr>
            <p:cNvPr id="27" name="Group 27"/>
            <p:cNvGrpSpPr/>
            <p:nvPr/>
          </p:nvGrpSpPr>
          <p:grpSpPr>
            <a:xfrm>
              <a:off x="7086600" y="3562350"/>
              <a:ext cx="228599" cy="228600"/>
              <a:chOff x="7086600" y="3562350"/>
              <a:chExt cx="228599" cy="22860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7200900" y="3689350"/>
                <a:ext cx="889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101600">
                    <a:moveTo>
                      <a:pt x="44450" y="0"/>
                    </a:moveTo>
                    <a:cubicBezTo>
                      <a:pt x="19901" y="0"/>
                      <a:pt x="0" y="19901"/>
                      <a:pt x="0" y="44450"/>
                    </a:cubicBezTo>
                    <a:lnTo>
                      <a:pt x="0" y="57150"/>
                    </a:lnTo>
                    <a:cubicBezTo>
                      <a:pt x="0" y="81699"/>
                      <a:pt x="19901" y="101600"/>
                      <a:pt x="44450" y="101600"/>
                    </a:cubicBezTo>
                    <a:cubicBezTo>
                      <a:pt x="68999" y="101600"/>
                      <a:pt x="88900" y="81699"/>
                      <a:pt x="88900" y="57150"/>
                    </a:cubicBezTo>
                    <a:lnTo>
                      <a:pt x="88900" y="3429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22" name="Freeform 22"/>
              <p:cNvSpPr/>
              <p:nvPr/>
            </p:nvSpPr>
            <p:spPr>
              <a:xfrm>
                <a:off x="7112000" y="3689350"/>
                <a:ext cx="889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101600">
                    <a:moveTo>
                      <a:pt x="44450" y="0"/>
                    </a:moveTo>
                    <a:cubicBezTo>
                      <a:pt x="68999" y="0"/>
                      <a:pt x="88900" y="19901"/>
                      <a:pt x="88900" y="44450"/>
                    </a:cubicBezTo>
                    <a:lnTo>
                      <a:pt x="88900" y="57150"/>
                    </a:lnTo>
                    <a:cubicBezTo>
                      <a:pt x="88900" y="81699"/>
                      <a:pt x="68999" y="101600"/>
                      <a:pt x="44450" y="101600"/>
                    </a:cubicBezTo>
                    <a:cubicBezTo>
                      <a:pt x="19901" y="101600"/>
                      <a:pt x="0" y="81699"/>
                      <a:pt x="0" y="57150"/>
                    </a:cubicBezTo>
                    <a:lnTo>
                      <a:pt x="0" y="3429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23" name="Freeform 23"/>
              <p:cNvSpPr/>
              <p:nvPr/>
            </p:nvSpPr>
            <p:spPr>
              <a:xfrm>
                <a:off x="7264399" y="3638550"/>
                <a:ext cx="508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88900">
                    <a:moveTo>
                      <a:pt x="6350" y="88900"/>
                    </a:moveTo>
                    <a:cubicBezTo>
                      <a:pt x="30899" y="88900"/>
                      <a:pt x="50800" y="68999"/>
                      <a:pt x="50800" y="44450"/>
                    </a:cubicBezTo>
                    <a:cubicBezTo>
                      <a:pt x="50800" y="19901"/>
                      <a:pt x="30899" y="0"/>
                      <a:pt x="6350" y="0"/>
                    </a:cubicBezTo>
                    <a:lnTo>
                      <a:pt x="0" y="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24" name="Freeform 24"/>
              <p:cNvSpPr/>
              <p:nvPr/>
            </p:nvSpPr>
            <p:spPr>
              <a:xfrm>
                <a:off x="7200900" y="3562350"/>
                <a:ext cx="88900" cy="8001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80010">
                    <a:moveTo>
                      <a:pt x="88900" y="80010"/>
                    </a:moveTo>
                    <a:lnTo>
                      <a:pt x="88900" y="44450"/>
                    </a:lnTo>
                    <a:cubicBezTo>
                      <a:pt x="88900" y="19901"/>
                      <a:pt x="68999" y="0"/>
                      <a:pt x="44450" y="0"/>
                    </a:cubicBezTo>
                    <a:cubicBezTo>
                      <a:pt x="19901" y="0"/>
                      <a:pt x="0" y="19901"/>
                      <a:pt x="0" y="44450"/>
                    </a:cubicBez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25" name="Freeform 25"/>
              <p:cNvSpPr/>
              <p:nvPr/>
            </p:nvSpPr>
            <p:spPr>
              <a:xfrm>
                <a:off x="7086600" y="3638550"/>
                <a:ext cx="508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88900">
                    <a:moveTo>
                      <a:pt x="44450" y="88900"/>
                    </a:moveTo>
                    <a:cubicBezTo>
                      <a:pt x="19901" y="88900"/>
                      <a:pt x="0" y="68999"/>
                      <a:pt x="0" y="44450"/>
                    </a:cubicBezTo>
                    <a:cubicBezTo>
                      <a:pt x="0" y="19901"/>
                      <a:pt x="19901" y="0"/>
                      <a:pt x="44450" y="0"/>
                    </a:cubicBezTo>
                    <a:lnTo>
                      <a:pt x="50800" y="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26" name="Freeform 26"/>
              <p:cNvSpPr/>
              <p:nvPr/>
            </p:nvSpPr>
            <p:spPr>
              <a:xfrm>
                <a:off x="7112000" y="3562350"/>
                <a:ext cx="889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171450">
                    <a:moveTo>
                      <a:pt x="0" y="80010"/>
                    </a:moveTo>
                    <a:lnTo>
                      <a:pt x="0" y="44450"/>
                    </a:lnTo>
                    <a:cubicBezTo>
                      <a:pt x="0" y="19901"/>
                      <a:pt x="19901" y="0"/>
                      <a:pt x="44450" y="0"/>
                    </a:cubicBezTo>
                    <a:cubicBezTo>
                      <a:pt x="68999" y="0"/>
                      <a:pt x="88900" y="19901"/>
                      <a:pt x="88900" y="44450"/>
                    </a:cubicBezTo>
                    <a:lnTo>
                      <a:pt x="88900" y="17145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  <p:txBody>
              <a:bodyPr/>
              <a:lstStyle/>
              <a:p>
                <a:endParaRPr lang="en-ID"/>
              </a:p>
            </p:txBody>
          </p:sp>
        </p:grpSp>
        <p:sp>
          <p:nvSpPr>
            <p:cNvPr id="28" name="TextBox 28"/>
            <p:cNvSpPr txBox="1"/>
            <p:nvPr/>
          </p:nvSpPr>
          <p:spPr>
            <a:xfrm>
              <a:off x="7572756" y="3556000"/>
              <a:ext cx="396370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 generik memicu cognitive offloading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575042" y="3873500"/>
              <a:ext cx="2698880" cy="473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Langsung dijawab — belajar aktif tidak</a:t>
              </a:r>
              <a:b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terjadi (BJET, 694× dikutip).</a:t>
              </a:r>
            </a:p>
          </p:txBody>
        </p:sp>
      </p:grpSp>
      <p:grpSp>
        <p:nvGrpSpPr>
          <p:cNvPr id="39" name="p02-pain-4"/>
          <p:cNvGrpSpPr/>
          <p:nvPr/>
        </p:nvGrpSpPr>
        <p:grpSpPr>
          <a:xfrm>
            <a:off x="7086600" y="4508500"/>
            <a:ext cx="3380752" cy="791083"/>
            <a:chOff x="7086600" y="4508500"/>
            <a:chExt cx="3380752" cy="791083"/>
          </a:xfrm>
        </p:grpSpPr>
        <p:grpSp>
          <p:nvGrpSpPr>
            <p:cNvPr id="36" name="Group 36"/>
            <p:cNvGrpSpPr/>
            <p:nvPr/>
          </p:nvGrpSpPr>
          <p:grpSpPr>
            <a:xfrm>
              <a:off x="7086600" y="4513148"/>
              <a:ext cx="228600" cy="230302"/>
              <a:chOff x="7086600" y="4513148"/>
              <a:chExt cx="228600" cy="230302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7162800" y="4616450"/>
                <a:ext cx="1524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76200">
                    <a:moveTo>
                      <a:pt x="0" y="38100"/>
                    </a:moveTo>
                    <a:cubicBezTo>
                      <a:pt x="0" y="59144"/>
                      <a:pt x="34112" y="76200"/>
                      <a:pt x="76200" y="76200"/>
                    </a:cubicBezTo>
                    <a:cubicBezTo>
                      <a:pt x="118288" y="76200"/>
                      <a:pt x="152400" y="59144"/>
                      <a:pt x="152400" y="38100"/>
                    </a:cubicBezTo>
                    <a:cubicBezTo>
                      <a:pt x="152400" y="17056"/>
                      <a:pt x="118288" y="0"/>
                      <a:pt x="76200" y="0"/>
                    </a:cubicBezTo>
                    <a:cubicBezTo>
                      <a:pt x="34112" y="0"/>
                      <a:pt x="0" y="17056"/>
                      <a:pt x="0" y="38100"/>
                    </a:cubicBez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32" name="Freeform 32"/>
              <p:cNvSpPr/>
              <p:nvPr/>
            </p:nvSpPr>
            <p:spPr>
              <a:xfrm>
                <a:off x="7162800" y="4654550"/>
                <a:ext cx="1524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88900">
                    <a:moveTo>
                      <a:pt x="0" y="0"/>
                    </a:moveTo>
                    <a:lnTo>
                      <a:pt x="0" y="50800"/>
                    </a:lnTo>
                    <a:cubicBezTo>
                      <a:pt x="0" y="71831"/>
                      <a:pt x="34112" y="88900"/>
                      <a:pt x="76200" y="88900"/>
                    </a:cubicBezTo>
                    <a:cubicBezTo>
                      <a:pt x="118288" y="88900"/>
                      <a:pt x="152400" y="71831"/>
                      <a:pt x="152400" y="50800"/>
                    </a:cubicBezTo>
                    <a:lnTo>
                      <a:pt x="152400" y="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33" name="Freeform 33"/>
              <p:cNvSpPr/>
              <p:nvPr/>
            </p:nvSpPr>
            <p:spPr>
              <a:xfrm>
                <a:off x="7086600" y="4513148"/>
                <a:ext cx="152400" cy="79603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79603">
                    <a:moveTo>
                      <a:pt x="0" y="39802"/>
                    </a:moveTo>
                    <a:cubicBezTo>
                      <a:pt x="0" y="53416"/>
                      <a:pt x="14529" y="65989"/>
                      <a:pt x="38100" y="72796"/>
                    </a:cubicBezTo>
                    <a:cubicBezTo>
                      <a:pt x="61671" y="79603"/>
                      <a:pt x="90729" y="79603"/>
                      <a:pt x="114300" y="72796"/>
                    </a:cubicBezTo>
                    <a:cubicBezTo>
                      <a:pt x="137871" y="65989"/>
                      <a:pt x="152400" y="53416"/>
                      <a:pt x="152400" y="39802"/>
                    </a:cubicBezTo>
                    <a:cubicBezTo>
                      <a:pt x="152400" y="26187"/>
                      <a:pt x="137871" y="13614"/>
                      <a:pt x="114300" y="6807"/>
                    </a:cubicBezTo>
                    <a:cubicBezTo>
                      <a:pt x="90729" y="0"/>
                      <a:pt x="61671" y="0"/>
                      <a:pt x="38100" y="6807"/>
                    </a:cubicBezTo>
                    <a:cubicBezTo>
                      <a:pt x="14529" y="13614"/>
                      <a:pt x="0" y="26187"/>
                      <a:pt x="0" y="39802"/>
                    </a:cubicBez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34" name="Freeform 34"/>
              <p:cNvSpPr/>
              <p:nvPr/>
            </p:nvSpPr>
            <p:spPr>
              <a:xfrm>
                <a:off x="7086600" y="4552950"/>
                <a:ext cx="254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152400">
                    <a:moveTo>
                      <a:pt x="0" y="0"/>
                    </a:moveTo>
                    <a:lnTo>
                      <a:pt x="0" y="127000"/>
                    </a:lnTo>
                    <a:cubicBezTo>
                      <a:pt x="0" y="138277"/>
                      <a:pt x="9804" y="145415"/>
                      <a:pt x="25400" y="152400"/>
                    </a:cubicBez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35" name="Freeform 35"/>
              <p:cNvSpPr/>
              <p:nvPr/>
            </p:nvSpPr>
            <p:spPr>
              <a:xfrm>
                <a:off x="7086600" y="4616450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0" y="0"/>
                    </a:moveTo>
                    <a:cubicBezTo>
                      <a:pt x="0" y="11278"/>
                      <a:pt x="9804" y="18415"/>
                      <a:pt x="25400" y="25400"/>
                    </a:cubicBez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  <p:txBody>
              <a:bodyPr/>
              <a:lstStyle/>
              <a:p>
                <a:endParaRPr lang="en-ID"/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7572756" y="4508500"/>
              <a:ext cx="26962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Alternatif tidak terjangkau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575042" y="4826000"/>
              <a:ext cx="2892310" cy="473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Bootcamp &amp; mentor privat mahal; kursus</a:t>
              </a:r>
              <a:b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online one-size-fits-all.</a:t>
              </a:r>
            </a:p>
          </p:txBody>
        </p:sp>
      </p:grpSp>
      <p:grpSp>
        <p:nvGrpSpPr>
          <p:cNvPr id="43" name="p02-gap-strip"/>
          <p:cNvGrpSpPr/>
          <p:nvPr/>
        </p:nvGrpSpPr>
        <p:grpSpPr>
          <a:xfrm>
            <a:off x="533400" y="5562600"/>
            <a:ext cx="11125200" cy="764794"/>
            <a:chOff x="533400" y="5562600"/>
            <a:chExt cx="11125200" cy="764794"/>
          </a:xfrm>
        </p:grpSpPr>
        <p:sp>
          <p:nvSpPr>
            <p:cNvPr id="40" name="Rectangle 40"/>
            <p:cNvSpPr/>
            <p:nvPr/>
          </p:nvSpPr>
          <p:spPr>
            <a:xfrm>
              <a:off x="533400" y="5562600"/>
              <a:ext cx="11125200" cy="762000"/>
            </a:xfrm>
            <a:prstGeom prst="roundRect">
              <a:avLst>
                <a:gd name="adj" fmla="val 25000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52856" y="5670550"/>
              <a:ext cx="965030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Kesenjangan pasar:</a:t>
              </a:r>
              <a:r>
                <a:rPr lang="id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 upskilling global tumbuh CAGR 11–14% — hampir seluruhnya B2B/korporasi;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52856" y="5975350"/>
              <a:ext cx="455139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career switcher individu masih tidak terlayani.</a:t>
              </a:r>
            </a:p>
          </p:txBody>
        </p:sp>
      </p:grpSp>
      <p:grpSp>
        <p:nvGrpSpPr>
          <p:cNvPr id="51" name="p02-footer"/>
          <p:cNvGrpSpPr/>
          <p:nvPr/>
        </p:nvGrpSpPr>
        <p:grpSpPr>
          <a:xfrm>
            <a:off x="533400" y="6477000"/>
            <a:ext cx="11125200" cy="279908"/>
            <a:chOff x="533400" y="6477000"/>
            <a:chExt cx="11125200" cy="279908"/>
          </a:xfrm>
        </p:grpSpPr>
        <p:sp>
          <p:nvSpPr>
            <p:cNvPr id="44" name="Rectangle 44"/>
            <p:cNvSpPr/>
            <p:nvPr/>
          </p:nvSpPr>
          <p:spPr>
            <a:xfrm>
              <a:off x="533400" y="6629400"/>
              <a:ext cx="190500" cy="762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45" name="Rectangle 45"/>
            <p:cNvSpPr/>
            <p:nvPr/>
          </p:nvSpPr>
          <p:spPr>
            <a:xfrm>
              <a:off x="762000" y="6591300"/>
              <a:ext cx="190500" cy="114300"/>
            </a:xfrm>
            <a:prstGeom prst="roundRect">
              <a:avLst>
                <a:gd name="adj" fmla="val 33333"/>
              </a:avLst>
            </a:prstGeom>
            <a:solidFill>
              <a:schemeClr val="accent6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46" name="Rectangle 46"/>
            <p:cNvSpPr/>
            <p:nvPr/>
          </p:nvSpPr>
          <p:spPr>
            <a:xfrm>
              <a:off x="990600" y="6553200"/>
              <a:ext cx="190500" cy="152400"/>
            </a:xfrm>
            <a:prstGeom prst="roundRect">
              <a:avLst>
                <a:gd name="adj" fmla="val 25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47" name="Rectangle 47"/>
            <p:cNvSpPr/>
            <p:nvPr/>
          </p:nvSpPr>
          <p:spPr>
            <a:xfrm>
              <a:off x="1219200" y="6515100"/>
              <a:ext cx="190500" cy="190500"/>
            </a:xfrm>
            <a:prstGeom prst="roundRect">
              <a:avLst>
                <a:gd name="adj" fmla="val 2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48" name="Rectangle 48"/>
            <p:cNvSpPr/>
            <p:nvPr/>
          </p:nvSpPr>
          <p:spPr>
            <a:xfrm>
              <a:off x="1447800" y="6477000"/>
              <a:ext cx="190500" cy="228600"/>
            </a:xfrm>
            <a:prstGeom prst="roundRect">
              <a:avLst>
                <a:gd name="adj" fmla="val 2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1049000" y="6477000"/>
              <a:ext cx="609600" cy="2667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254838" y="6492875"/>
              <a:ext cx="1979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03-header"/>
          <p:cNvGrpSpPr/>
          <p:nvPr/>
        </p:nvGrpSpPr>
        <p:grpSpPr>
          <a:xfrm>
            <a:off x="517398" y="511175"/>
            <a:ext cx="11141202" cy="1018667"/>
            <a:chOff x="517398" y="511175"/>
            <a:chExt cx="11141202" cy="1018667"/>
          </a:xfrm>
        </p:grpSpPr>
        <p:sp>
          <p:nvSpPr>
            <p:cNvPr id="2" name="TextBox 2"/>
            <p:cNvSpPr txBox="1"/>
            <p:nvPr/>
          </p:nvSpPr>
          <p:spPr>
            <a:xfrm>
              <a:off x="517398" y="511175"/>
              <a:ext cx="457026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Scaffold, Bukan Oracle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1208" y="1060450"/>
              <a:ext cx="1097157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2400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Serambi.ai memandu learner ke jawaban — tidak menjawab untuk mereka.</a:t>
              </a:r>
            </a:p>
          </p:txBody>
        </p:sp>
        <p:pic>
          <p:nvPicPr>
            <p:cNvPr id="4" name="Image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391900" y="533400"/>
              <a:ext cx="266700" cy="266700"/>
            </a:xfrm>
            <a:prstGeom prst="rect">
              <a:avLst/>
            </a:prstGeom>
          </p:spPr>
        </p:pic>
      </p:grpSp>
      <p:grpSp>
        <p:nvGrpSpPr>
          <p:cNvPr id="10" name="p03-step-1"/>
          <p:cNvGrpSpPr/>
          <p:nvPr/>
        </p:nvGrpSpPr>
        <p:grpSpPr>
          <a:xfrm>
            <a:off x="533400" y="1841500"/>
            <a:ext cx="3064331" cy="543433"/>
            <a:chOff x="533400" y="1841500"/>
            <a:chExt cx="3064331" cy="543433"/>
          </a:xfrm>
        </p:grpSpPr>
        <p:sp>
          <p:nvSpPr>
            <p:cNvPr id="6" name="Ellipse 6"/>
            <p:cNvSpPr/>
            <p:nvPr/>
          </p:nvSpPr>
          <p:spPr>
            <a:xfrm>
              <a:off x="533400" y="1933575"/>
              <a:ext cx="323850" cy="3238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42415" y="2006600"/>
              <a:ext cx="1058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id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57656" y="1841500"/>
              <a:ext cx="101795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Ketik goal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59942" y="2120900"/>
              <a:ext cx="25377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“Guru mau switch ke AI engineer”</a:t>
              </a:r>
            </a:p>
          </p:txBody>
        </p:sp>
      </p:grpSp>
      <p:grpSp>
        <p:nvGrpSpPr>
          <p:cNvPr id="15" name="p03-step-2"/>
          <p:cNvGrpSpPr/>
          <p:nvPr/>
        </p:nvGrpSpPr>
        <p:grpSpPr>
          <a:xfrm>
            <a:off x="533400" y="2527300"/>
            <a:ext cx="3175388" cy="543433"/>
            <a:chOff x="533400" y="2527300"/>
            <a:chExt cx="3175388" cy="543433"/>
          </a:xfrm>
        </p:grpSpPr>
        <p:sp>
          <p:nvSpPr>
            <p:cNvPr id="11" name="Ellipse 11"/>
            <p:cNvSpPr/>
            <p:nvPr/>
          </p:nvSpPr>
          <p:spPr>
            <a:xfrm>
              <a:off x="533400" y="2619375"/>
              <a:ext cx="323850" cy="3238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42415" y="2692400"/>
              <a:ext cx="1058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id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57656" y="2527300"/>
              <a:ext cx="20399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Roadmap mingguan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59942" y="2806700"/>
              <a:ext cx="26488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Goal Agent memecah goal jadi peta</a:t>
              </a:r>
            </a:p>
          </p:txBody>
        </p:sp>
      </p:grpSp>
      <p:grpSp>
        <p:nvGrpSpPr>
          <p:cNvPr id="20" name="p03-step-3"/>
          <p:cNvGrpSpPr/>
          <p:nvPr/>
        </p:nvGrpSpPr>
        <p:grpSpPr>
          <a:xfrm>
            <a:off x="533400" y="3213100"/>
            <a:ext cx="3695796" cy="543433"/>
            <a:chOff x="533400" y="3213100"/>
            <a:chExt cx="3695796" cy="543433"/>
          </a:xfrm>
        </p:grpSpPr>
        <p:sp>
          <p:nvSpPr>
            <p:cNvPr id="16" name="Ellipse 16"/>
            <p:cNvSpPr/>
            <p:nvPr/>
          </p:nvSpPr>
          <p:spPr>
            <a:xfrm>
              <a:off x="533400" y="3305175"/>
              <a:ext cx="323850" cy="3238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42415" y="3378200"/>
              <a:ext cx="1058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id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57656" y="3213100"/>
              <a:ext cx="18235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Feynman tutoring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59942" y="3492500"/>
              <a:ext cx="31692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Tutor Agent memancing, bukan menjawab</a:t>
              </a:r>
            </a:p>
          </p:txBody>
        </p:sp>
      </p:grpSp>
      <p:grpSp>
        <p:nvGrpSpPr>
          <p:cNvPr id="25" name="p03-step-4"/>
          <p:cNvGrpSpPr/>
          <p:nvPr/>
        </p:nvGrpSpPr>
        <p:grpSpPr>
          <a:xfrm>
            <a:off x="533400" y="3898900"/>
            <a:ext cx="3240392" cy="543433"/>
            <a:chOff x="533400" y="3898900"/>
            <a:chExt cx="3240392" cy="543433"/>
          </a:xfrm>
        </p:grpSpPr>
        <p:sp>
          <p:nvSpPr>
            <p:cNvPr id="21" name="Ellipse 21"/>
            <p:cNvSpPr/>
            <p:nvPr/>
          </p:nvSpPr>
          <p:spPr>
            <a:xfrm>
              <a:off x="533400" y="3990975"/>
              <a:ext cx="323850" cy="3238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2415" y="4064000"/>
              <a:ext cx="1058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id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57656" y="3898900"/>
              <a:ext cx="12174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Kuis adaptif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59942" y="4178300"/>
              <a:ext cx="27138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Assessment Agent + graduated hints</a:t>
              </a:r>
            </a:p>
          </p:txBody>
        </p:sp>
      </p:grpSp>
      <p:grpSp>
        <p:nvGrpSpPr>
          <p:cNvPr id="30" name="p03-step-5"/>
          <p:cNvGrpSpPr/>
          <p:nvPr/>
        </p:nvGrpSpPr>
        <p:grpSpPr>
          <a:xfrm>
            <a:off x="533400" y="4584700"/>
            <a:ext cx="3363018" cy="543433"/>
            <a:chOff x="533400" y="4584700"/>
            <a:chExt cx="3363018" cy="543433"/>
          </a:xfrm>
        </p:grpSpPr>
        <p:sp>
          <p:nvSpPr>
            <p:cNvPr id="26" name="Ellipse 26"/>
            <p:cNvSpPr/>
            <p:nvPr/>
          </p:nvSpPr>
          <p:spPr>
            <a:xfrm>
              <a:off x="533400" y="4676775"/>
              <a:ext cx="323850" cy="3238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42415" y="4749800"/>
              <a:ext cx="1058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id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57656" y="4584700"/>
              <a:ext cx="18044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Spaced repetition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59942" y="4864100"/>
              <a:ext cx="28364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Review sesuai forgetting curve pribadi</a:t>
              </a:r>
            </a:p>
          </p:txBody>
        </p:sp>
      </p:grpSp>
      <p:grpSp>
        <p:nvGrpSpPr>
          <p:cNvPr id="35" name="p03-step-6"/>
          <p:cNvGrpSpPr/>
          <p:nvPr/>
        </p:nvGrpSpPr>
        <p:grpSpPr>
          <a:xfrm>
            <a:off x="533400" y="5270500"/>
            <a:ext cx="3653513" cy="543433"/>
            <a:chOff x="533400" y="5270500"/>
            <a:chExt cx="3653513" cy="543433"/>
          </a:xfrm>
        </p:grpSpPr>
        <p:sp>
          <p:nvSpPr>
            <p:cNvPr id="31" name="Ellipse 31"/>
            <p:cNvSpPr/>
            <p:nvPr/>
          </p:nvSpPr>
          <p:spPr>
            <a:xfrm>
              <a:off x="533400" y="5362575"/>
              <a:ext cx="323850" cy="3238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42415" y="5435600"/>
              <a:ext cx="1058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id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57656" y="5270500"/>
              <a:ext cx="17699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Pantau wellbeing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59942" y="5549900"/>
              <a:ext cx="31269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Wellbeing Agent: motivasi, cegah burnout</a:t>
              </a:r>
            </a:p>
          </p:txBody>
        </p:sp>
      </p:grpSp>
      <p:grpSp>
        <p:nvGrpSpPr>
          <p:cNvPr id="38" name="p03-panel"/>
          <p:cNvGrpSpPr/>
          <p:nvPr/>
        </p:nvGrpSpPr>
        <p:grpSpPr>
          <a:xfrm>
            <a:off x="6248400" y="1809750"/>
            <a:ext cx="5410200" cy="4095750"/>
            <a:chOff x="6248400" y="1809750"/>
            <a:chExt cx="5410200" cy="4095750"/>
          </a:xfrm>
        </p:grpSpPr>
        <p:sp>
          <p:nvSpPr>
            <p:cNvPr id="36" name="Rectangle 36"/>
            <p:cNvSpPr/>
            <p:nvPr/>
          </p:nvSpPr>
          <p:spPr>
            <a:xfrm>
              <a:off x="6248400" y="1809750"/>
              <a:ext cx="5410200" cy="4095750"/>
            </a:xfrm>
            <a:prstGeom prst="roundRect">
              <a:avLst>
                <a:gd name="adj" fmla="val 4651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pic>
          <p:nvPicPr>
            <p:cNvPr id="37" name="_edit_2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48400" y="2333625"/>
              <a:ext cx="5400675" cy="3038475"/>
            </a:xfrm>
            <a:prstGeom prst="rect">
              <a:avLst/>
            </a:prstGeom>
          </p:spPr>
        </p:pic>
      </p:grpSp>
      <p:grpSp>
        <p:nvGrpSpPr>
          <p:cNvPr id="40" name="p03-anchor"/>
          <p:cNvGrpSpPr/>
          <p:nvPr/>
        </p:nvGrpSpPr>
        <p:grpSpPr>
          <a:xfrm>
            <a:off x="527304" y="6051550"/>
            <a:ext cx="8132934" cy="234696"/>
            <a:chOff x="527304" y="6051550"/>
            <a:chExt cx="8132934" cy="234696"/>
          </a:xfrm>
        </p:grpSpPr>
        <p:sp>
          <p:nvSpPr>
            <p:cNvPr id="39" name="TextBox 39"/>
            <p:cNvSpPr txBox="1"/>
            <p:nvPr/>
          </p:nvSpPr>
          <p:spPr>
            <a:xfrm>
              <a:off x="527304" y="6051550"/>
              <a:ext cx="81329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Anchor pedagogis: GenMentor (FWCI 47.3) · IntelliCode (FWCI 23.5) · Feynman Bot (arXiv 2506.09055) · Spaced Repetition</a:t>
              </a:r>
            </a:p>
          </p:txBody>
        </p:sp>
      </p:grpSp>
      <p:grpSp>
        <p:nvGrpSpPr>
          <p:cNvPr id="48" name="p03-footer"/>
          <p:cNvGrpSpPr/>
          <p:nvPr/>
        </p:nvGrpSpPr>
        <p:grpSpPr>
          <a:xfrm>
            <a:off x="533400" y="6477000"/>
            <a:ext cx="11125200" cy="279908"/>
            <a:chOff x="533400" y="6477000"/>
            <a:chExt cx="11125200" cy="279908"/>
          </a:xfrm>
        </p:grpSpPr>
        <p:sp>
          <p:nvSpPr>
            <p:cNvPr id="41" name="Rectangle 41"/>
            <p:cNvSpPr/>
            <p:nvPr/>
          </p:nvSpPr>
          <p:spPr>
            <a:xfrm>
              <a:off x="533400" y="6629400"/>
              <a:ext cx="190500" cy="762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42" name="Rectangle 42"/>
            <p:cNvSpPr/>
            <p:nvPr/>
          </p:nvSpPr>
          <p:spPr>
            <a:xfrm>
              <a:off x="762000" y="6591300"/>
              <a:ext cx="190500" cy="114300"/>
            </a:xfrm>
            <a:prstGeom prst="roundRect">
              <a:avLst>
                <a:gd name="adj" fmla="val 33333"/>
              </a:avLst>
            </a:prstGeom>
            <a:solidFill>
              <a:schemeClr val="accent6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43" name="Rectangle 43"/>
            <p:cNvSpPr/>
            <p:nvPr/>
          </p:nvSpPr>
          <p:spPr>
            <a:xfrm>
              <a:off x="990600" y="6553200"/>
              <a:ext cx="190500" cy="152400"/>
            </a:xfrm>
            <a:prstGeom prst="roundRect">
              <a:avLst>
                <a:gd name="adj" fmla="val 25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44" name="Rectangle 44"/>
            <p:cNvSpPr/>
            <p:nvPr/>
          </p:nvSpPr>
          <p:spPr>
            <a:xfrm>
              <a:off x="1219200" y="6515100"/>
              <a:ext cx="190500" cy="190500"/>
            </a:xfrm>
            <a:prstGeom prst="roundRect">
              <a:avLst>
                <a:gd name="adj" fmla="val 2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45" name="Rectangle 45"/>
            <p:cNvSpPr/>
            <p:nvPr/>
          </p:nvSpPr>
          <p:spPr>
            <a:xfrm>
              <a:off x="1447800" y="6477000"/>
              <a:ext cx="190500" cy="228600"/>
            </a:xfrm>
            <a:prstGeom prst="roundRect">
              <a:avLst>
                <a:gd name="adj" fmla="val 2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46" name="Rectangle 46"/>
            <p:cNvSpPr/>
            <p:nvPr/>
          </p:nvSpPr>
          <p:spPr>
            <a:xfrm>
              <a:off x="11049000" y="6477000"/>
              <a:ext cx="609600" cy="2667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254838" y="6492875"/>
              <a:ext cx="1979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04-header"/>
          <p:cNvGrpSpPr/>
          <p:nvPr/>
        </p:nvGrpSpPr>
        <p:grpSpPr>
          <a:xfrm>
            <a:off x="517398" y="533400"/>
            <a:ext cx="11141202" cy="1114552"/>
            <a:chOff x="517398" y="533400"/>
            <a:chExt cx="11141202" cy="1114552"/>
          </a:xfrm>
        </p:grpSpPr>
        <p:sp>
          <p:nvSpPr>
            <p:cNvPr id="2" name="TextBox 2"/>
            <p:cNvSpPr txBox="1"/>
            <p:nvPr/>
          </p:nvSpPr>
          <p:spPr>
            <a:xfrm>
              <a:off x="517398" y="536575"/>
              <a:ext cx="6207136" cy="11113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900"/>
                </a:lnSpc>
              </a:pPr>
              <a:r>
                <a:rPr lang="id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Career switcher Indonesia:</a:t>
              </a:r>
              <a:br>
                <a:rPr lang="id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</a:br>
              <a:r>
                <a:rPr lang="id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22–35, non-tech, belajar mandiri</a:t>
              </a:r>
            </a:p>
          </p:txBody>
        </p:sp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391900" y="533400"/>
              <a:ext cx="266700" cy="266700"/>
            </a:xfrm>
            <a:prstGeom prst="rect">
              <a:avLst/>
            </a:prstGeom>
          </p:spPr>
        </p:pic>
      </p:grpSp>
      <p:grpSp>
        <p:nvGrpSpPr>
          <p:cNvPr id="21" name="p04-persona"/>
          <p:cNvGrpSpPr/>
          <p:nvPr/>
        </p:nvGrpSpPr>
        <p:grpSpPr>
          <a:xfrm>
            <a:off x="533400" y="1600200"/>
            <a:ext cx="5334000" cy="3543300"/>
            <a:chOff x="533400" y="1600200"/>
            <a:chExt cx="5334000" cy="3543300"/>
          </a:xfrm>
        </p:grpSpPr>
        <p:sp>
          <p:nvSpPr>
            <p:cNvPr id="5" name="Rectangle 5"/>
            <p:cNvSpPr/>
            <p:nvPr/>
          </p:nvSpPr>
          <p:spPr>
            <a:xfrm>
              <a:off x="533400" y="1600200"/>
              <a:ext cx="5334000" cy="3543300"/>
            </a:xfrm>
            <a:prstGeom prst="roundRect">
              <a:avLst>
                <a:gd name="adj" fmla="val 5376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885825" y="1952625"/>
              <a:ext cx="285751" cy="285751"/>
              <a:chOff x="885825" y="1952625"/>
              <a:chExt cx="285751" cy="285751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917575" y="1952625"/>
                <a:ext cx="1270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127000">
                    <a:moveTo>
                      <a:pt x="0" y="63500"/>
                    </a:moveTo>
                    <a:cubicBezTo>
                      <a:pt x="0" y="98570"/>
                      <a:pt x="28430" y="127000"/>
                      <a:pt x="63500" y="127000"/>
                    </a:cubicBezTo>
                    <a:cubicBezTo>
                      <a:pt x="98570" y="127000"/>
                      <a:pt x="127000" y="98570"/>
                      <a:pt x="127000" y="63500"/>
                    </a:cubicBezTo>
                    <a:cubicBezTo>
                      <a:pt x="127000" y="28430"/>
                      <a:pt x="98570" y="0"/>
                      <a:pt x="63500" y="0"/>
                    </a:cubicBezTo>
                    <a:cubicBezTo>
                      <a:pt x="28430" y="0"/>
                      <a:pt x="0" y="28430"/>
                      <a:pt x="0" y="63500"/>
                    </a:cubicBez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7" name="Freeform 7"/>
              <p:cNvSpPr/>
              <p:nvPr/>
            </p:nvSpPr>
            <p:spPr>
              <a:xfrm>
                <a:off x="885825" y="2143125"/>
                <a:ext cx="1905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95250">
                    <a:moveTo>
                      <a:pt x="0" y="95250"/>
                    </a:moveTo>
                    <a:lnTo>
                      <a:pt x="0" y="63500"/>
                    </a:lnTo>
                    <a:cubicBezTo>
                      <a:pt x="0" y="28430"/>
                      <a:pt x="28430" y="0"/>
                      <a:pt x="63500" y="0"/>
                    </a:cubicBezTo>
                    <a:lnTo>
                      <a:pt x="127000" y="0"/>
                    </a:lnTo>
                    <a:cubicBezTo>
                      <a:pt x="162070" y="0"/>
                      <a:pt x="190500" y="28430"/>
                      <a:pt x="190500" y="63500"/>
                    </a:cubicBezTo>
                    <a:lnTo>
                      <a:pt x="190500" y="95250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8" name="Freeform 8"/>
              <p:cNvSpPr/>
              <p:nvPr/>
            </p:nvSpPr>
            <p:spPr>
              <a:xfrm>
                <a:off x="1092201" y="1954689"/>
                <a:ext cx="47750" cy="123031"/>
              </a:xfrm>
              <a:custGeom>
                <a:avLst/>
                <a:gdLst/>
                <a:ahLst/>
                <a:cxnLst/>
                <a:rect l="l" t="t" r="r" b="b"/>
                <a:pathLst>
                  <a:path w="47750" h="123031">
                    <a:moveTo>
                      <a:pt x="0" y="0"/>
                    </a:moveTo>
                    <a:cubicBezTo>
                      <a:pt x="28097" y="7194"/>
                      <a:pt x="47750" y="32512"/>
                      <a:pt x="47750" y="61516"/>
                    </a:cubicBezTo>
                    <a:cubicBezTo>
                      <a:pt x="47750" y="90520"/>
                      <a:pt x="28097" y="115837"/>
                      <a:pt x="0" y="123031"/>
                    </a:cubicBez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9" name="Freeform 9"/>
              <p:cNvSpPr/>
              <p:nvPr/>
            </p:nvSpPr>
            <p:spPr>
              <a:xfrm>
                <a:off x="1123951" y="2145507"/>
                <a:ext cx="47625" cy="92869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92869">
                    <a:moveTo>
                      <a:pt x="47625" y="92869"/>
                    </a:moveTo>
                    <a:lnTo>
                      <a:pt x="47625" y="61119"/>
                    </a:lnTo>
                    <a:cubicBezTo>
                      <a:pt x="47459" y="32299"/>
                      <a:pt x="27905" y="7205"/>
                      <a:pt x="0" y="0"/>
                    </a:cubicBez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  <p:txBody>
              <a:bodyPr/>
              <a:lstStyle/>
              <a:p>
                <a:endParaRPr lang="en-ID"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1364742" y="2006600"/>
              <a:ext cx="11563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Persona primer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29056" y="2374900"/>
              <a:ext cx="409558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Profesional 22–35, background non-tech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31342" y="2743200"/>
              <a:ext cx="2810546" cy="7593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Guru, admin, marketing — mau pivot ke</a:t>
              </a:r>
              <a:b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AI engineer, data analyst, backend dev</a:t>
              </a:r>
              <a:b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belajar mandiri, 1–6 bulan.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838200" y="3619500"/>
              <a:ext cx="1304925" cy="3048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64692" y="3654425"/>
              <a:ext cx="11637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Waktu terbatas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276475" y="3619500"/>
              <a:ext cx="1457325" cy="3048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402967" y="3654425"/>
              <a:ext cx="13094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Bahasa Indonesia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867150" y="3619500"/>
              <a:ext cx="1533525" cy="3048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993642" y="3654425"/>
              <a:ext cx="1380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Anggaran terbatas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31342" y="4235450"/>
              <a:ext cx="38917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Beachhead: individu yang tidak terlayani pasar B2B</a:t>
              </a:r>
            </a:p>
          </p:txBody>
        </p:sp>
      </p:grpSp>
      <p:grpSp>
        <p:nvGrpSpPr>
          <p:cNvPr id="30" name="p04-card-sekunder"/>
          <p:cNvGrpSpPr/>
          <p:nvPr/>
        </p:nvGrpSpPr>
        <p:grpSpPr>
          <a:xfrm>
            <a:off x="6248400" y="1600200"/>
            <a:ext cx="5410200" cy="1066800"/>
            <a:chOff x="6248400" y="1600200"/>
            <a:chExt cx="5410200" cy="1066800"/>
          </a:xfrm>
        </p:grpSpPr>
        <p:sp>
          <p:nvSpPr>
            <p:cNvPr id="22" name="Rectangle 22"/>
            <p:cNvSpPr/>
            <p:nvPr/>
          </p:nvSpPr>
          <p:spPr>
            <a:xfrm>
              <a:off x="6248400" y="1600200"/>
              <a:ext cx="5410200" cy="1066800"/>
            </a:xfrm>
            <a:prstGeom prst="roundRect">
              <a:avLst>
                <a:gd name="adj" fmla="val 17857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en-ID"/>
            </a:p>
          </p:txBody>
        </p:sp>
        <p:grpSp>
          <p:nvGrpSpPr>
            <p:cNvPr id="27" name="Group 27"/>
            <p:cNvGrpSpPr/>
            <p:nvPr/>
          </p:nvGrpSpPr>
          <p:grpSpPr>
            <a:xfrm>
              <a:off x="6591300" y="1801997"/>
              <a:ext cx="228599" cy="228599"/>
              <a:chOff x="6591300" y="1801997"/>
              <a:chExt cx="228599" cy="228599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6616700" y="1801997"/>
                <a:ext cx="1016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101600">
                    <a:moveTo>
                      <a:pt x="0" y="50800"/>
                    </a:moveTo>
                    <a:cubicBezTo>
                      <a:pt x="0" y="78856"/>
                      <a:pt x="22744" y="101600"/>
                      <a:pt x="50800" y="101600"/>
                    </a:cubicBezTo>
                    <a:cubicBezTo>
                      <a:pt x="78856" y="101600"/>
                      <a:pt x="101600" y="78856"/>
                      <a:pt x="101600" y="50800"/>
                    </a:cubicBezTo>
                    <a:cubicBezTo>
                      <a:pt x="101600" y="22744"/>
                      <a:pt x="78856" y="0"/>
                      <a:pt x="50800" y="0"/>
                    </a:cubicBezTo>
                    <a:cubicBezTo>
                      <a:pt x="22744" y="0"/>
                      <a:pt x="0" y="22744"/>
                      <a:pt x="0" y="50800"/>
                    </a:cubicBez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24" name="Freeform 24"/>
              <p:cNvSpPr/>
              <p:nvPr/>
            </p:nvSpPr>
            <p:spPr>
              <a:xfrm>
                <a:off x="6591300" y="1954396"/>
                <a:ext cx="1524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76200">
                    <a:moveTo>
                      <a:pt x="0" y="76200"/>
                    </a:moveTo>
                    <a:lnTo>
                      <a:pt x="0" y="50800"/>
                    </a:lnTo>
                    <a:cubicBezTo>
                      <a:pt x="0" y="22744"/>
                      <a:pt x="22744" y="0"/>
                      <a:pt x="50800" y="0"/>
                    </a:cubicBezTo>
                    <a:lnTo>
                      <a:pt x="101600" y="0"/>
                    </a:lnTo>
                    <a:cubicBezTo>
                      <a:pt x="129656" y="0"/>
                      <a:pt x="152400" y="22744"/>
                      <a:pt x="152400" y="50800"/>
                    </a:cubicBezTo>
                    <a:lnTo>
                      <a:pt x="152400" y="7620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25" name="Freeform 25"/>
              <p:cNvSpPr/>
              <p:nvPr/>
            </p:nvSpPr>
            <p:spPr>
              <a:xfrm>
                <a:off x="6756399" y="1803648"/>
                <a:ext cx="38200" cy="98425"/>
              </a:xfrm>
              <a:custGeom>
                <a:avLst/>
                <a:gdLst/>
                <a:ahLst/>
                <a:cxnLst/>
                <a:rect l="l" t="t" r="r" b="b"/>
                <a:pathLst>
                  <a:path w="38200" h="98425">
                    <a:moveTo>
                      <a:pt x="0" y="0"/>
                    </a:moveTo>
                    <a:cubicBezTo>
                      <a:pt x="22478" y="5755"/>
                      <a:pt x="38200" y="26009"/>
                      <a:pt x="38200" y="49212"/>
                    </a:cubicBezTo>
                    <a:cubicBezTo>
                      <a:pt x="38200" y="72415"/>
                      <a:pt x="22478" y="92670"/>
                      <a:pt x="0" y="98425"/>
                    </a:cubicBez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26" name="Freeform 26"/>
              <p:cNvSpPr/>
              <p:nvPr/>
            </p:nvSpPr>
            <p:spPr>
              <a:xfrm>
                <a:off x="6781799" y="1956301"/>
                <a:ext cx="38100" cy="74295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74295">
                    <a:moveTo>
                      <a:pt x="38100" y="74295"/>
                    </a:moveTo>
                    <a:lnTo>
                      <a:pt x="38100" y="48895"/>
                    </a:lnTo>
                    <a:cubicBezTo>
                      <a:pt x="37967" y="25839"/>
                      <a:pt x="22324" y="5764"/>
                      <a:pt x="0" y="0"/>
                    </a:cubicBez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  <p:txBody>
              <a:bodyPr/>
              <a:lstStyle/>
              <a:p>
                <a:endParaRPr lang="en-ID"/>
              </a:p>
            </p:txBody>
          </p:sp>
        </p:grpSp>
        <p:sp>
          <p:nvSpPr>
            <p:cNvPr id="28" name="TextBox 28"/>
            <p:cNvSpPr txBox="1"/>
            <p:nvPr/>
          </p:nvSpPr>
          <p:spPr>
            <a:xfrm>
              <a:off x="7001256" y="1777835"/>
              <a:ext cx="20036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Pengguna sekunder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546342" y="2159000"/>
              <a:ext cx="28024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Tech worker naik level / pivot domain</a:t>
              </a:r>
            </a:p>
          </p:txBody>
        </p:sp>
      </p:grpSp>
      <p:grpSp>
        <p:nvGrpSpPr>
          <p:cNvPr id="38" name="p04-card-pasar"/>
          <p:cNvGrpSpPr/>
          <p:nvPr/>
        </p:nvGrpSpPr>
        <p:grpSpPr>
          <a:xfrm>
            <a:off x="6248400" y="2838450"/>
            <a:ext cx="5410200" cy="1066800"/>
            <a:chOff x="6248400" y="2838450"/>
            <a:chExt cx="5410200" cy="1066800"/>
          </a:xfrm>
        </p:grpSpPr>
        <p:sp>
          <p:nvSpPr>
            <p:cNvPr id="31" name="Rectangle 31"/>
            <p:cNvSpPr/>
            <p:nvPr/>
          </p:nvSpPr>
          <p:spPr>
            <a:xfrm>
              <a:off x="6248400" y="2838450"/>
              <a:ext cx="5410200" cy="1066800"/>
            </a:xfrm>
            <a:prstGeom prst="roundRect">
              <a:avLst>
                <a:gd name="adj" fmla="val 17857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en-ID"/>
            </a:p>
          </p:txBody>
        </p:sp>
        <p:grpSp>
          <p:nvGrpSpPr>
            <p:cNvPr id="34" name="Group 34"/>
            <p:cNvGrpSpPr/>
            <p:nvPr/>
          </p:nvGrpSpPr>
          <p:grpSpPr>
            <a:xfrm>
              <a:off x="6604000" y="3091129"/>
              <a:ext cx="203199" cy="174625"/>
              <a:chOff x="6604000" y="3091129"/>
              <a:chExt cx="203199" cy="174625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6604000" y="3256229"/>
                <a:ext cx="203199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9525">
                    <a:moveTo>
                      <a:pt x="0" y="0"/>
                    </a:moveTo>
                    <a:lnTo>
                      <a:pt x="203199" y="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33" name="Freeform 33"/>
              <p:cNvSpPr/>
              <p:nvPr/>
            </p:nvSpPr>
            <p:spPr>
              <a:xfrm>
                <a:off x="6604000" y="3091129"/>
                <a:ext cx="203199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114300">
                    <a:moveTo>
                      <a:pt x="0" y="114300"/>
                    </a:moveTo>
                    <a:lnTo>
                      <a:pt x="50800" y="38100"/>
                    </a:lnTo>
                    <a:lnTo>
                      <a:pt x="101600" y="63500"/>
                    </a:lnTo>
                    <a:lnTo>
                      <a:pt x="152400" y="0"/>
                    </a:lnTo>
                    <a:lnTo>
                      <a:pt x="203199" y="5080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  <p:txBody>
              <a:bodyPr/>
              <a:lstStyle/>
              <a:p>
                <a:endParaRPr lang="en-ID"/>
              </a:p>
            </p:txBody>
          </p:sp>
        </p:grpSp>
        <p:sp>
          <p:nvSpPr>
            <p:cNvPr id="35" name="TextBox 35"/>
            <p:cNvSpPr txBox="1"/>
            <p:nvPr/>
          </p:nvSpPr>
          <p:spPr>
            <a:xfrm>
              <a:off x="7001256" y="3016085"/>
              <a:ext cx="26927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Pasar &amp; willingness-to-pay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546342" y="3397250"/>
              <a:ext cx="33373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OECD 2024: kesenjangan tech skills melebar;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546342" y="3625850"/>
              <a:ext cx="39753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upskilling CAGR 11–14% fokus B2B (studi Politecnico)</a:t>
              </a:r>
            </a:p>
          </p:txBody>
        </p:sp>
      </p:grpSp>
      <p:grpSp>
        <p:nvGrpSpPr>
          <p:cNvPr id="50" name="p04-card-revenue"/>
          <p:cNvGrpSpPr/>
          <p:nvPr/>
        </p:nvGrpSpPr>
        <p:grpSpPr>
          <a:xfrm>
            <a:off x="6248400" y="4076700"/>
            <a:ext cx="5410200" cy="1066800"/>
            <a:chOff x="6248400" y="4076700"/>
            <a:chExt cx="5410200" cy="1066800"/>
          </a:xfrm>
        </p:grpSpPr>
        <p:sp>
          <p:nvSpPr>
            <p:cNvPr id="39" name="Rectangle 39"/>
            <p:cNvSpPr/>
            <p:nvPr/>
          </p:nvSpPr>
          <p:spPr>
            <a:xfrm>
              <a:off x="6248400" y="4076700"/>
              <a:ext cx="5410200" cy="1066800"/>
            </a:xfrm>
            <a:prstGeom prst="roundRect">
              <a:avLst>
                <a:gd name="adj" fmla="val 17857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en-ID"/>
            </a:p>
          </p:txBody>
        </p:sp>
        <p:grpSp>
          <p:nvGrpSpPr>
            <p:cNvPr id="45" name="Group 45"/>
            <p:cNvGrpSpPr/>
            <p:nvPr/>
          </p:nvGrpSpPr>
          <p:grpSpPr>
            <a:xfrm>
              <a:off x="6591300" y="4238447"/>
              <a:ext cx="228600" cy="230302"/>
              <a:chOff x="6591300" y="4238447"/>
              <a:chExt cx="228600" cy="230302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6667500" y="4341749"/>
                <a:ext cx="1524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76200">
                    <a:moveTo>
                      <a:pt x="0" y="38100"/>
                    </a:moveTo>
                    <a:cubicBezTo>
                      <a:pt x="0" y="59144"/>
                      <a:pt x="34112" y="76200"/>
                      <a:pt x="76200" y="76200"/>
                    </a:cubicBezTo>
                    <a:cubicBezTo>
                      <a:pt x="118288" y="76200"/>
                      <a:pt x="152400" y="59144"/>
                      <a:pt x="152400" y="38100"/>
                    </a:cubicBezTo>
                    <a:cubicBezTo>
                      <a:pt x="152400" y="17056"/>
                      <a:pt x="118288" y="0"/>
                      <a:pt x="76200" y="0"/>
                    </a:cubicBezTo>
                    <a:cubicBezTo>
                      <a:pt x="34112" y="0"/>
                      <a:pt x="0" y="17056"/>
                      <a:pt x="0" y="38100"/>
                    </a:cubicBez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41" name="Freeform 41"/>
              <p:cNvSpPr/>
              <p:nvPr/>
            </p:nvSpPr>
            <p:spPr>
              <a:xfrm>
                <a:off x="6667500" y="4379849"/>
                <a:ext cx="1524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88900">
                    <a:moveTo>
                      <a:pt x="0" y="0"/>
                    </a:moveTo>
                    <a:lnTo>
                      <a:pt x="0" y="50800"/>
                    </a:lnTo>
                    <a:cubicBezTo>
                      <a:pt x="0" y="71831"/>
                      <a:pt x="34112" y="88900"/>
                      <a:pt x="76200" y="88900"/>
                    </a:cubicBezTo>
                    <a:cubicBezTo>
                      <a:pt x="118288" y="88900"/>
                      <a:pt x="152400" y="71831"/>
                      <a:pt x="152400" y="50800"/>
                    </a:cubicBezTo>
                    <a:lnTo>
                      <a:pt x="152400" y="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42" name="Freeform 42"/>
              <p:cNvSpPr/>
              <p:nvPr/>
            </p:nvSpPr>
            <p:spPr>
              <a:xfrm>
                <a:off x="6591300" y="4238447"/>
                <a:ext cx="152400" cy="79603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79603">
                    <a:moveTo>
                      <a:pt x="0" y="39802"/>
                    </a:moveTo>
                    <a:cubicBezTo>
                      <a:pt x="0" y="53416"/>
                      <a:pt x="14529" y="65989"/>
                      <a:pt x="38100" y="72796"/>
                    </a:cubicBezTo>
                    <a:cubicBezTo>
                      <a:pt x="61671" y="79603"/>
                      <a:pt x="90729" y="79603"/>
                      <a:pt x="114300" y="72796"/>
                    </a:cubicBezTo>
                    <a:cubicBezTo>
                      <a:pt x="137871" y="65989"/>
                      <a:pt x="152400" y="53416"/>
                      <a:pt x="152400" y="39802"/>
                    </a:cubicBezTo>
                    <a:cubicBezTo>
                      <a:pt x="152400" y="26187"/>
                      <a:pt x="137871" y="13614"/>
                      <a:pt x="114300" y="6807"/>
                    </a:cubicBezTo>
                    <a:cubicBezTo>
                      <a:pt x="90729" y="0"/>
                      <a:pt x="61671" y="0"/>
                      <a:pt x="38100" y="6807"/>
                    </a:cubicBezTo>
                    <a:cubicBezTo>
                      <a:pt x="14529" y="13614"/>
                      <a:pt x="0" y="26187"/>
                      <a:pt x="0" y="39802"/>
                    </a:cubicBez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43" name="Freeform 43"/>
              <p:cNvSpPr/>
              <p:nvPr/>
            </p:nvSpPr>
            <p:spPr>
              <a:xfrm>
                <a:off x="6591300" y="4278249"/>
                <a:ext cx="254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152400">
                    <a:moveTo>
                      <a:pt x="0" y="0"/>
                    </a:moveTo>
                    <a:lnTo>
                      <a:pt x="0" y="127000"/>
                    </a:lnTo>
                    <a:cubicBezTo>
                      <a:pt x="0" y="138277"/>
                      <a:pt x="9804" y="145415"/>
                      <a:pt x="25400" y="152400"/>
                    </a:cubicBez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44" name="Freeform 44"/>
              <p:cNvSpPr/>
              <p:nvPr/>
            </p:nvSpPr>
            <p:spPr>
              <a:xfrm>
                <a:off x="6591300" y="4341749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0" y="0"/>
                    </a:moveTo>
                    <a:cubicBezTo>
                      <a:pt x="0" y="11278"/>
                      <a:pt x="9804" y="18415"/>
                      <a:pt x="25400" y="25400"/>
                    </a:cubicBez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  <p:txBody>
              <a:bodyPr/>
              <a:lstStyle/>
              <a:p>
                <a:endParaRPr lang="en-ID"/>
              </a:p>
            </p:txBody>
          </p:sp>
        </p:grpSp>
        <p:sp>
          <p:nvSpPr>
            <p:cNvPr id="46" name="TextBox 46"/>
            <p:cNvSpPr txBox="1"/>
            <p:nvPr/>
          </p:nvSpPr>
          <p:spPr>
            <a:xfrm>
              <a:off x="7001256" y="4215987"/>
              <a:ext cx="196897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Revenue (skenario)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10553700" y="4229100"/>
              <a:ext cx="838200" cy="2476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671826" y="4260850"/>
              <a:ext cx="6019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id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Skenario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546342" y="4622800"/>
              <a:ext cx="4049358" cy="4926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Freemium: roadmap gratis · pro = kuis + spaced repetition</a:t>
              </a:r>
              <a:b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B2B whitelabel: bootcamp, kampus, program reskilling</a:t>
              </a:r>
            </a:p>
          </p:txBody>
        </p:sp>
      </p:grpSp>
      <p:grpSp>
        <p:nvGrpSpPr>
          <p:cNvPr id="54" name="p04-jtbd"/>
          <p:cNvGrpSpPr/>
          <p:nvPr/>
        </p:nvGrpSpPr>
        <p:grpSpPr>
          <a:xfrm>
            <a:off x="533400" y="5334000"/>
            <a:ext cx="11125200" cy="914400"/>
            <a:chOff x="533400" y="5334000"/>
            <a:chExt cx="11125200" cy="914400"/>
          </a:xfrm>
        </p:grpSpPr>
        <p:sp>
          <p:nvSpPr>
            <p:cNvPr id="51" name="Rectangle 51"/>
            <p:cNvSpPr/>
            <p:nvPr/>
          </p:nvSpPr>
          <p:spPr>
            <a:xfrm>
              <a:off x="533400" y="5334000"/>
              <a:ext cx="11125200" cy="914400"/>
            </a:xfrm>
            <a:prstGeom prst="roundRect">
              <a:avLst>
                <a:gd name="adj" fmla="val 20833"/>
              </a:avLst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52856" y="5575300"/>
              <a:ext cx="106475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“Saya guru, mau pakai AI untuk switch ke AI engineer — sudah coba-coba, tapi tidak tahu mulai dari mana.”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55904" y="5956300"/>
              <a:ext cx="23778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200" dirty="0">
                  <a:solidFill>
                    <a:srgbClr val="EEF1F9"/>
                  </a:solidFill>
                  <a:latin typeface="+mn-lt"/>
                  <a:ea typeface="+mn-ea"/>
                  <a:cs typeface="+mn-cs"/>
                </a:rPr>
                <a:t>— Job-to-be-done, submission draft</a:t>
              </a:r>
            </a:p>
          </p:txBody>
        </p:sp>
      </p:grpSp>
      <p:grpSp>
        <p:nvGrpSpPr>
          <p:cNvPr id="62" name="p04-footer"/>
          <p:cNvGrpSpPr/>
          <p:nvPr/>
        </p:nvGrpSpPr>
        <p:grpSpPr>
          <a:xfrm>
            <a:off x="533400" y="6477000"/>
            <a:ext cx="11125200" cy="279908"/>
            <a:chOff x="533400" y="6477000"/>
            <a:chExt cx="11125200" cy="279908"/>
          </a:xfrm>
        </p:grpSpPr>
        <p:sp>
          <p:nvSpPr>
            <p:cNvPr id="55" name="Rectangle 55"/>
            <p:cNvSpPr/>
            <p:nvPr/>
          </p:nvSpPr>
          <p:spPr>
            <a:xfrm>
              <a:off x="533400" y="6629400"/>
              <a:ext cx="190500" cy="762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56" name="Rectangle 56"/>
            <p:cNvSpPr/>
            <p:nvPr/>
          </p:nvSpPr>
          <p:spPr>
            <a:xfrm>
              <a:off x="762000" y="6591300"/>
              <a:ext cx="190500" cy="114300"/>
            </a:xfrm>
            <a:prstGeom prst="roundRect">
              <a:avLst>
                <a:gd name="adj" fmla="val 33333"/>
              </a:avLst>
            </a:prstGeom>
            <a:solidFill>
              <a:schemeClr val="accent6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57" name="Rectangle 57"/>
            <p:cNvSpPr/>
            <p:nvPr/>
          </p:nvSpPr>
          <p:spPr>
            <a:xfrm>
              <a:off x="990600" y="6553200"/>
              <a:ext cx="190500" cy="152400"/>
            </a:xfrm>
            <a:prstGeom prst="roundRect">
              <a:avLst>
                <a:gd name="adj" fmla="val 25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58" name="Rectangle 58"/>
            <p:cNvSpPr/>
            <p:nvPr/>
          </p:nvSpPr>
          <p:spPr>
            <a:xfrm>
              <a:off x="1219200" y="6515100"/>
              <a:ext cx="190500" cy="190500"/>
            </a:xfrm>
            <a:prstGeom prst="roundRect">
              <a:avLst>
                <a:gd name="adj" fmla="val 2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59" name="Rectangle 59"/>
            <p:cNvSpPr/>
            <p:nvPr/>
          </p:nvSpPr>
          <p:spPr>
            <a:xfrm>
              <a:off x="1447800" y="6477000"/>
              <a:ext cx="190500" cy="228600"/>
            </a:xfrm>
            <a:prstGeom prst="roundRect">
              <a:avLst>
                <a:gd name="adj" fmla="val 2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60" name="Rectangle 60"/>
            <p:cNvSpPr/>
            <p:nvPr/>
          </p:nvSpPr>
          <p:spPr>
            <a:xfrm>
              <a:off x="11049000" y="6477000"/>
              <a:ext cx="609600" cy="2667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254838" y="6492875"/>
              <a:ext cx="1979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05-header"/>
          <p:cNvGrpSpPr/>
          <p:nvPr/>
        </p:nvGrpSpPr>
        <p:grpSpPr>
          <a:xfrm>
            <a:off x="517398" y="511175"/>
            <a:ext cx="11141202" cy="616077"/>
            <a:chOff x="517398" y="511175"/>
            <a:chExt cx="11141202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517398" y="511175"/>
              <a:ext cx="902956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3 langkah: goal → roadmap → belajar terpandu</a:t>
              </a:r>
            </a:p>
          </p:txBody>
        </p:sp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391900" y="533400"/>
              <a:ext cx="266700" cy="266700"/>
            </a:xfrm>
            <a:prstGeom prst="rect">
              <a:avLst/>
            </a:prstGeom>
          </p:spPr>
        </p:pic>
      </p:grpSp>
      <p:grpSp>
        <p:nvGrpSpPr>
          <p:cNvPr id="16" name="p05-step-2"/>
          <p:cNvGrpSpPr/>
          <p:nvPr/>
        </p:nvGrpSpPr>
        <p:grpSpPr>
          <a:xfrm>
            <a:off x="4476750" y="1428750"/>
            <a:ext cx="3238500" cy="1714500"/>
            <a:chOff x="4476750" y="1428750"/>
            <a:chExt cx="3238500" cy="1714500"/>
          </a:xfrm>
        </p:grpSpPr>
        <p:sp>
          <p:nvSpPr>
            <p:cNvPr id="11" name="Rectangle 11"/>
            <p:cNvSpPr/>
            <p:nvPr/>
          </p:nvSpPr>
          <p:spPr>
            <a:xfrm>
              <a:off x="4476750" y="1428750"/>
              <a:ext cx="3238500" cy="1714500"/>
            </a:xfrm>
            <a:prstGeom prst="roundRect">
              <a:avLst>
                <a:gd name="adj" fmla="val 11111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12" name="Ellipse 12"/>
            <p:cNvSpPr/>
            <p:nvPr/>
          </p:nvSpPr>
          <p:spPr>
            <a:xfrm>
              <a:off x="4743450" y="1626314"/>
              <a:ext cx="381000" cy="381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863403" y="1677114"/>
              <a:ext cx="14109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id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772406" y="2076176"/>
              <a:ext cx="265031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Dapat roadmap mingguan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774692" y="2482908"/>
              <a:ext cx="1828120" cy="4926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Deadline, milestones, first</a:t>
              </a:r>
              <a:b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action — &lt; 1 menit</a:t>
              </a:r>
            </a:p>
          </p:txBody>
        </p:sp>
      </p:grpSp>
      <p:grpSp>
        <p:nvGrpSpPr>
          <p:cNvPr id="22" name="p05-step-3"/>
          <p:cNvGrpSpPr/>
          <p:nvPr/>
        </p:nvGrpSpPr>
        <p:grpSpPr>
          <a:xfrm>
            <a:off x="8420100" y="1428750"/>
            <a:ext cx="3238500" cy="1714500"/>
            <a:chOff x="8420100" y="1428750"/>
            <a:chExt cx="3238500" cy="1714500"/>
          </a:xfrm>
        </p:grpSpPr>
        <p:sp>
          <p:nvSpPr>
            <p:cNvPr id="17" name="Rectangle 17"/>
            <p:cNvSpPr/>
            <p:nvPr/>
          </p:nvSpPr>
          <p:spPr>
            <a:xfrm>
              <a:off x="8420100" y="1428750"/>
              <a:ext cx="3238500" cy="1714500"/>
            </a:xfrm>
            <a:prstGeom prst="roundRect">
              <a:avLst>
                <a:gd name="adj" fmla="val 11111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18" name="Ellipse 18"/>
            <p:cNvSpPr/>
            <p:nvPr/>
          </p:nvSpPr>
          <p:spPr>
            <a:xfrm>
              <a:off x="8686800" y="1598084"/>
              <a:ext cx="381000" cy="381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806753" y="1648884"/>
              <a:ext cx="14109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id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715756" y="2091263"/>
              <a:ext cx="171593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Belajar terpandu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718042" y="2396063"/>
              <a:ext cx="2191628" cy="4926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6 agent: Feynman, kuis adaptif,</a:t>
              </a:r>
              <a:b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spaced repetition, wellbeing</a:t>
              </a:r>
            </a:p>
          </p:txBody>
        </p:sp>
      </p:grpSp>
      <p:grpSp>
        <p:nvGrpSpPr>
          <p:cNvPr id="24" name="p05-arrow-1"/>
          <p:cNvGrpSpPr/>
          <p:nvPr/>
        </p:nvGrpSpPr>
        <p:grpSpPr>
          <a:xfrm>
            <a:off x="3848100" y="2286000"/>
            <a:ext cx="552450" cy="1"/>
            <a:chOff x="3848100" y="2286000"/>
            <a:chExt cx="552450" cy="1"/>
          </a:xfrm>
        </p:grpSpPr>
        <p:sp>
          <p:nvSpPr>
            <p:cNvPr id="23" name="Line 23"/>
            <p:cNvSpPr/>
            <p:nvPr/>
          </p:nvSpPr>
          <p:spPr>
            <a:xfrm>
              <a:off x="3848100" y="2286000"/>
              <a:ext cx="552450" cy="1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tailEnd type="triangle" w="lg" len="lg"/>
            </a:ln>
          </p:spPr>
          <p:txBody>
            <a:bodyPr/>
            <a:lstStyle/>
            <a:p>
              <a:endParaRPr lang="en-ID"/>
            </a:p>
          </p:txBody>
        </p:sp>
      </p:grpSp>
      <p:grpSp>
        <p:nvGrpSpPr>
          <p:cNvPr id="26" name="p05-arrow-2"/>
          <p:cNvGrpSpPr/>
          <p:nvPr/>
        </p:nvGrpSpPr>
        <p:grpSpPr>
          <a:xfrm>
            <a:off x="7791450" y="2286000"/>
            <a:ext cx="552450" cy="1"/>
            <a:chOff x="7791450" y="2286000"/>
            <a:chExt cx="552450" cy="1"/>
          </a:xfrm>
        </p:grpSpPr>
        <p:sp>
          <p:nvSpPr>
            <p:cNvPr id="25" name="Line 25"/>
            <p:cNvSpPr/>
            <p:nvPr/>
          </p:nvSpPr>
          <p:spPr>
            <a:xfrm>
              <a:off x="7791450" y="2286000"/>
              <a:ext cx="552450" cy="1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tailEnd type="triangle" w="lg" len="lg"/>
            </a:ln>
          </p:spPr>
          <p:txBody>
            <a:bodyPr/>
            <a:lstStyle/>
            <a:p>
              <a:endParaRPr lang="en-ID"/>
            </a:p>
          </p:txBody>
        </p:sp>
      </p:grpSp>
      <p:grpSp>
        <p:nvGrpSpPr>
          <p:cNvPr id="29" name="p05-journey"/>
          <p:cNvGrpSpPr/>
          <p:nvPr/>
        </p:nvGrpSpPr>
        <p:grpSpPr>
          <a:xfrm>
            <a:off x="533400" y="3524250"/>
            <a:ext cx="11125200" cy="1714500"/>
            <a:chOff x="533400" y="3524250"/>
            <a:chExt cx="11125200" cy="1714500"/>
          </a:xfrm>
        </p:grpSpPr>
        <p:sp>
          <p:nvSpPr>
            <p:cNvPr id="27" name="Rectangle 27"/>
            <p:cNvSpPr/>
            <p:nvPr/>
          </p:nvSpPr>
          <p:spPr>
            <a:xfrm>
              <a:off x="533400" y="3524250"/>
              <a:ext cx="11125200" cy="1714500"/>
            </a:xfrm>
            <a:prstGeom prst="roundRect">
              <a:avLst>
                <a:gd name="adj" fmla="val 11111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295775" y="3676650"/>
              <a:ext cx="3590925" cy="1409700"/>
            </a:xfrm>
            <a:prstGeom prst="rect">
              <a:avLst/>
            </a:prstGeom>
          </p:spPr>
        </p:pic>
      </p:grpSp>
      <p:grpSp>
        <p:nvGrpSpPr>
          <p:cNvPr id="33" name="p05-verified"/>
          <p:cNvGrpSpPr/>
          <p:nvPr/>
        </p:nvGrpSpPr>
        <p:grpSpPr>
          <a:xfrm>
            <a:off x="533400" y="5562600"/>
            <a:ext cx="6477000" cy="419100"/>
            <a:chOff x="533400" y="5562600"/>
            <a:chExt cx="6477000" cy="419100"/>
          </a:xfrm>
        </p:grpSpPr>
        <p:sp>
          <p:nvSpPr>
            <p:cNvPr id="30" name="Rectangle 30"/>
            <p:cNvSpPr/>
            <p:nvPr/>
          </p:nvSpPr>
          <p:spPr>
            <a:xfrm>
              <a:off x="533400" y="5562600"/>
              <a:ext cx="6477000" cy="4191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31" name="Freeform 31"/>
            <p:cNvSpPr/>
            <p:nvPr/>
          </p:nvSpPr>
          <p:spPr>
            <a:xfrm>
              <a:off x="817563" y="5745163"/>
              <a:ext cx="166688" cy="111125"/>
            </a:xfrm>
            <a:custGeom>
              <a:avLst/>
              <a:gdLst/>
              <a:ahLst/>
              <a:cxnLst/>
              <a:rect l="l" t="t" r="r" b="b"/>
              <a:pathLst>
                <a:path w="166688" h="111125">
                  <a:moveTo>
                    <a:pt x="0" y="55563"/>
                  </a:moveTo>
                  <a:lnTo>
                    <a:pt x="55563" y="111125"/>
                  </a:lnTo>
                  <a:lnTo>
                    <a:pt x="166688" y="0"/>
                  </a:lnTo>
                </a:path>
              </a:pathLst>
            </a:custGeom>
            <a:noFill/>
            <a:ln w="22225">
              <a:solidFill>
                <a:schemeClr val="accent2"/>
              </a:solidFill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36142" y="5664200"/>
              <a:ext cx="55260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E2E verified: Bob → MCP goal_decomposer → JSON roadmap 12 minggu</a:t>
              </a:r>
            </a:p>
          </p:txBody>
        </p:sp>
      </p:grpSp>
      <p:grpSp>
        <p:nvGrpSpPr>
          <p:cNvPr id="41" name="p05-footer"/>
          <p:cNvGrpSpPr/>
          <p:nvPr/>
        </p:nvGrpSpPr>
        <p:grpSpPr>
          <a:xfrm>
            <a:off x="533400" y="6477000"/>
            <a:ext cx="11125200" cy="279908"/>
            <a:chOff x="533400" y="6477000"/>
            <a:chExt cx="11125200" cy="279908"/>
          </a:xfrm>
        </p:grpSpPr>
        <p:sp>
          <p:nvSpPr>
            <p:cNvPr id="34" name="Rectangle 34"/>
            <p:cNvSpPr/>
            <p:nvPr/>
          </p:nvSpPr>
          <p:spPr>
            <a:xfrm>
              <a:off x="533400" y="6629400"/>
              <a:ext cx="190500" cy="762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35" name="Rectangle 35"/>
            <p:cNvSpPr/>
            <p:nvPr/>
          </p:nvSpPr>
          <p:spPr>
            <a:xfrm>
              <a:off x="762000" y="6591300"/>
              <a:ext cx="190500" cy="114300"/>
            </a:xfrm>
            <a:prstGeom prst="roundRect">
              <a:avLst>
                <a:gd name="adj" fmla="val 33333"/>
              </a:avLst>
            </a:prstGeom>
            <a:solidFill>
              <a:schemeClr val="accent6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36" name="Rectangle 36"/>
            <p:cNvSpPr/>
            <p:nvPr/>
          </p:nvSpPr>
          <p:spPr>
            <a:xfrm>
              <a:off x="990600" y="6553200"/>
              <a:ext cx="190500" cy="152400"/>
            </a:xfrm>
            <a:prstGeom prst="roundRect">
              <a:avLst>
                <a:gd name="adj" fmla="val 25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37" name="Rectangle 37"/>
            <p:cNvSpPr/>
            <p:nvPr/>
          </p:nvSpPr>
          <p:spPr>
            <a:xfrm>
              <a:off x="1219200" y="6515100"/>
              <a:ext cx="190500" cy="190500"/>
            </a:xfrm>
            <a:prstGeom prst="roundRect">
              <a:avLst>
                <a:gd name="adj" fmla="val 2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38" name="Rectangle 38"/>
            <p:cNvSpPr/>
            <p:nvPr/>
          </p:nvSpPr>
          <p:spPr>
            <a:xfrm>
              <a:off x="1447800" y="6477000"/>
              <a:ext cx="190500" cy="228600"/>
            </a:xfrm>
            <a:prstGeom prst="roundRect">
              <a:avLst>
                <a:gd name="adj" fmla="val 2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39" name="Rectangle 39"/>
            <p:cNvSpPr/>
            <p:nvPr/>
          </p:nvSpPr>
          <p:spPr>
            <a:xfrm>
              <a:off x="11049000" y="6477000"/>
              <a:ext cx="609600" cy="2667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254838" y="6492875"/>
              <a:ext cx="1979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42" name="p05-step-1">
            <a:extLst>
              <a:ext uri="{FF2B5EF4-FFF2-40B4-BE49-F238E27FC236}">
                <a16:creationId xmlns:a16="http://schemas.microsoft.com/office/drawing/2014/main" id="{7D730DCB-DEB1-78E2-25F7-AA7EA7A9D65D}"/>
              </a:ext>
            </a:extLst>
          </p:cNvPr>
          <p:cNvGrpSpPr/>
          <p:nvPr/>
        </p:nvGrpSpPr>
        <p:grpSpPr>
          <a:xfrm>
            <a:off x="533400" y="1428750"/>
            <a:ext cx="3238500" cy="1714500"/>
            <a:chOff x="533400" y="1428750"/>
            <a:chExt cx="3238500" cy="1714500"/>
          </a:xfrm>
        </p:grpSpPr>
        <p:sp>
          <p:nvSpPr>
            <p:cNvPr id="43" name="Rectangle 5">
              <a:extLst>
                <a:ext uri="{FF2B5EF4-FFF2-40B4-BE49-F238E27FC236}">
                  <a16:creationId xmlns:a16="http://schemas.microsoft.com/office/drawing/2014/main" id="{1F32677B-F306-D944-78BF-810F2AB61323}"/>
                </a:ext>
              </a:extLst>
            </p:cNvPr>
            <p:cNvSpPr/>
            <p:nvPr/>
          </p:nvSpPr>
          <p:spPr>
            <a:xfrm>
              <a:off x="533400" y="1428750"/>
              <a:ext cx="3238500" cy="1714500"/>
            </a:xfrm>
            <a:prstGeom prst="roundRect">
              <a:avLst>
                <a:gd name="adj" fmla="val 11111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44" name="Ellipse 6">
              <a:extLst>
                <a:ext uri="{FF2B5EF4-FFF2-40B4-BE49-F238E27FC236}">
                  <a16:creationId xmlns:a16="http://schemas.microsoft.com/office/drawing/2014/main" id="{C59EAF2D-A18E-7B62-1BED-202341854981}"/>
                </a:ext>
              </a:extLst>
            </p:cNvPr>
            <p:cNvSpPr/>
            <p:nvPr/>
          </p:nvSpPr>
          <p:spPr>
            <a:xfrm>
              <a:off x="800100" y="1623482"/>
              <a:ext cx="381000" cy="381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45" name="TextBox 7">
              <a:extLst>
                <a:ext uri="{FF2B5EF4-FFF2-40B4-BE49-F238E27FC236}">
                  <a16:creationId xmlns:a16="http://schemas.microsoft.com/office/drawing/2014/main" id="{67D5E52B-91A1-696A-11FF-BAF9E7DE0659}"/>
                </a:ext>
              </a:extLst>
            </p:cNvPr>
            <p:cNvSpPr txBox="1"/>
            <p:nvPr/>
          </p:nvSpPr>
          <p:spPr>
            <a:xfrm>
              <a:off x="920053" y="1674282"/>
              <a:ext cx="14109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id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6" name="TextBox 8">
              <a:extLst>
                <a:ext uri="{FF2B5EF4-FFF2-40B4-BE49-F238E27FC236}">
                  <a16:creationId xmlns:a16="http://schemas.microsoft.com/office/drawing/2014/main" id="{F1FDB919-ACA1-DE45-CD8A-B6E739483CF4}"/>
                </a:ext>
              </a:extLst>
            </p:cNvPr>
            <p:cNvSpPr txBox="1"/>
            <p:nvPr/>
          </p:nvSpPr>
          <p:spPr>
            <a:xfrm>
              <a:off x="829056" y="2074330"/>
              <a:ext cx="101795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Ketik goal</a:t>
              </a:r>
            </a:p>
          </p:txBody>
        </p:sp>
        <p:sp>
          <p:nvSpPr>
            <p:cNvPr id="47" name="TextBox 9">
              <a:extLst>
                <a:ext uri="{FF2B5EF4-FFF2-40B4-BE49-F238E27FC236}">
                  <a16:creationId xmlns:a16="http://schemas.microsoft.com/office/drawing/2014/main" id="{B0C7C220-47FE-6AC8-F2AC-5B8C1DF34BE4}"/>
                </a:ext>
              </a:extLst>
            </p:cNvPr>
            <p:cNvSpPr txBox="1"/>
            <p:nvPr/>
          </p:nvSpPr>
          <p:spPr>
            <a:xfrm>
              <a:off x="831342" y="2451100"/>
              <a:ext cx="25377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“Guru mau switch ke AI engineer”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06-header"/>
          <p:cNvGrpSpPr/>
          <p:nvPr/>
        </p:nvGrpSpPr>
        <p:grpSpPr>
          <a:xfrm>
            <a:off x="517398" y="533400"/>
            <a:ext cx="11141202" cy="1114552"/>
            <a:chOff x="517398" y="533400"/>
            <a:chExt cx="11141202" cy="1114552"/>
          </a:xfrm>
        </p:grpSpPr>
        <p:sp>
          <p:nvSpPr>
            <p:cNvPr id="2" name="TextBox 2"/>
            <p:cNvSpPr txBox="1"/>
            <p:nvPr/>
          </p:nvSpPr>
          <p:spPr>
            <a:xfrm>
              <a:off x="517398" y="536575"/>
              <a:ext cx="8928076" cy="11113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900"/>
                </a:lnSpc>
              </a:pPr>
              <a:r>
                <a:rPr lang="id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IBM Bob × Langflow × MCP — kontrak yang sama</a:t>
              </a:r>
              <a:br>
                <a:rPr lang="id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</a:br>
              <a:r>
                <a:rPr lang="id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di dev dan produksi</a:t>
              </a:r>
            </a:p>
          </p:txBody>
        </p:sp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391900" y="533400"/>
              <a:ext cx="266700" cy="266700"/>
            </a:xfrm>
            <a:prstGeom prst="rect">
              <a:avLst/>
            </a:prstGeom>
          </p:spPr>
        </p:pic>
      </p:grpSp>
      <p:grpSp>
        <p:nvGrpSpPr>
          <p:cNvPr id="9" name="p06-row-1"/>
          <p:cNvGrpSpPr/>
          <p:nvPr/>
        </p:nvGrpSpPr>
        <p:grpSpPr>
          <a:xfrm>
            <a:off x="533400" y="1600200"/>
            <a:ext cx="4191000" cy="914400"/>
            <a:chOff x="533400" y="1600200"/>
            <a:chExt cx="4191000" cy="914400"/>
          </a:xfrm>
        </p:grpSpPr>
        <p:sp>
          <p:nvSpPr>
            <p:cNvPr id="5" name="Rectangle 5"/>
            <p:cNvSpPr/>
            <p:nvPr/>
          </p:nvSpPr>
          <p:spPr>
            <a:xfrm>
              <a:off x="533400" y="1600200"/>
              <a:ext cx="4191000" cy="914400"/>
            </a:xfrm>
            <a:prstGeom prst="roundRect">
              <a:avLst>
                <a:gd name="adj" fmla="val 16667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6" name="Freeform 6"/>
            <p:cNvSpPr/>
            <p:nvPr/>
          </p:nvSpPr>
          <p:spPr>
            <a:xfrm>
              <a:off x="762000" y="2000326"/>
              <a:ext cx="304799" cy="114135"/>
            </a:xfrm>
            <a:custGeom>
              <a:avLst/>
              <a:gdLst/>
              <a:ahLst/>
              <a:cxnLst/>
              <a:rect l="l" t="t" r="r" b="b"/>
              <a:pathLst>
                <a:path w="304799" h="114135">
                  <a:moveTo>
                    <a:pt x="299008" y="107785"/>
                  </a:moveTo>
                  <a:cubicBezTo>
                    <a:pt x="299491" y="107785"/>
                    <a:pt x="299770" y="107569"/>
                    <a:pt x="299770" y="107112"/>
                  </a:cubicBezTo>
                  <a:lnTo>
                    <a:pt x="299770" y="106654"/>
                  </a:lnTo>
                  <a:cubicBezTo>
                    <a:pt x="299770" y="106210"/>
                    <a:pt x="299491" y="105994"/>
                    <a:pt x="299008" y="105994"/>
                  </a:cubicBezTo>
                  <a:lnTo>
                    <a:pt x="297865" y="105994"/>
                  </a:lnTo>
                  <a:lnTo>
                    <a:pt x="297865" y="107772"/>
                  </a:lnTo>
                  <a:close/>
                  <a:moveTo>
                    <a:pt x="297865" y="111112"/>
                  </a:moveTo>
                  <a:lnTo>
                    <a:pt x="296328" y="111112"/>
                  </a:lnTo>
                  <a:lnTo>
                    <a:pt x="296328" y="104787"/>
                  </a:lnTo>
                  <a:lnTo>
                    <a:pt x="299186" y="104787"/>
                  </a:lnTo>
                  <a:cubicBezTo>
                    <a:pt x="300608" y="104787"/>
                    <a:pt x="301332" y="105626"/>
                    <a:pt x="301332" y="106781"/>
                  </a:cubicBezTo>
                  <a:cubicBezTo>
                    <a:pt x="301332" y="107785"/>
                    <a:pt x="300875" y="108420"/>
                    <a:pt x="300189" y="108686"/>
                  </a:cubicBezTo>
                  <a:lnTo>
                    <a:pt x="301599" y="111099"/>
                  </a:lnTo>
                  <a:lnTo>
                    <a:pt x="299910" y="111099"/>
                  </a:lnTo>
                  <a:lnTo>
                    <a:pt x="298741" y="108940"/>
                  </a:lnTo>
                  <a:lnTo>
                    <a:pt x="297852" y="108940"/>
                  </a:lnTo>
                  <a:close/>
                  <a:moveTo>
                    <a:pt x="303377" y="108293"/>
                  </a:moveTo>
                  <a:lnTo>
                    <a:pt x="303377" y="107505"/>
                  </a:lnTo>
                  <a:cubicBezTo>
                    <a:pt x="303377" y="104965"/>
                    <a:pt x="301383" y="102971"/>
                    <a:pt x="298767" y="102971"/>
                  </a:cubicBezTo>
                  <a:cubicBezTo>
                    <a:pt x="297549" y="102944"/>
                    <a:pt x="296372" y="103410"/>
                    <a:pt x="295504" y="104264"/>
                  </a:cubicBezTo>
                  <a:cubicBezTo>
                    <a:pt x="294635" y="105118"/>
                    <a:pt x="294149" y="106287"/>
                    <a:pt x="294157" y="107505"/>
                  </a:cubicBezTo>
                  <a:lnTo>
                    <a:pt x="294157" y="108293"/>
                  </a:lnTo>
                  <a:cubicBezTo>
                    <a:pt x="294157" y="110833"/>
                    <a:pt x="296138" y="112839"/>
                    <a:pt x="298767" y="112839"/>
                  </a:cubicBezTo>
                  <a:cubicBezTo>
                    <a:pt x="299987" y="112867"/>
                    <a:pt x="301166" y="112399"/>
                    <a:pt x="302034" y="111542"/>
                  </a:cubicBezTo>
                  <a:cubicBezTo>
                    <a:pt x="302903" y="110685"/>
                    <a:pt x="303387" y="109513"/>
                    <a:pt x="303377" y="108293"/>
                  </a:cubicBezTo>
                  <a:close/>
                  <a:moveTo>
                    <a:pt x="292734" y="107912"/>
                  </a:moveTo>
                  <a:cubicBezTo>
                    <a:pt x="292734" y="104356"/>
                    <a:pt x="295427" y="101663"/>
                    <a:pt x="298767" y="101663"/>
                  </a:cubicBezTo>
                  <a:cubicBezTo>
                    <a:pt x="302120" y="101663"/>
                    <a:pt x="304799" y="104368"/>
                    <a:pt x="304799" y="107899"/>
                  </a:cubicBezTo>
                  <a:cubicBezTo>
                    <a:pt x="304799" y="111442"/>
                    <a:pt x="302120" y="114135"/>
                    <a:pt x="298767" y="114135"/>
                  </a:cubicBezTo>
                  <a:cubicBezTo>
                    <a:pt x="297135" y="114128"/>
                    <a:pt x="295576" y="113465"/>
                    <a:pt x="294440" y="112293"/>
                  </a:cubicBezTo>
                  <a:cubicBezTo>
                    <a:pt x="293305" y="111122"/>
                    <a:pt x="292690" y="109542"/>
                    <a:pt x="292734" y="107912"/>
                  </a:cubicBezTo>
                  <a:close/>
                  <a:moveTo>
                    <a:pt x="205866" y="7925"/>
                  </a:moveTo>
                  <a:lnTo>
                    <a:pt x="203123" y="0"/>
                  </a:lnTo>
                  <a:lnTo>
                    <a:pt x="157911" y="0"/>
                  </a:lnTo>
                  <a:lnTo>
                    <a:pt x="157911" y="7925"/>
                  </a:lnTo>
                  <a:close/>
                  <a:moveTo>
                    <a:pt x="211112" y="23038"/>
                  </a:moveTo>
                  <a:lnTo>
                    <a:pt x="208368" y="15126"/>
                  </a:lnTo>
                  <a:lnTo>
                    <a:pt x="157911" y="15126"/>
                  </a:lnTo>
                  <a:lnTo>
                    <a:pt x="157911" y="23050"/>
                  </a:lnTo>
                  <a:close/>
                  <a:moveTo>
                    <a:pt x="244766" y="113804"/>
                  </a:moveTo>
                  <a:lnTo>
                    <a:pt x="284225" y="113804"/>
                  </a:lnTo>
                  <a:lnTo>
                    <a:pt x="284225" y="105880"/>
                  </a:lnTo>
                  <a:lnTo>
                    <a:pt x="244754" y="105880"/>
                  </a:lnTo>
                  <a:close/>
                  <a:moveTo>
                    <a:pt x="244766" y="98666"/>
                  </a:moveTo>
                  <a:lnTo>
                    <a:pt x="284225" y="98666"/>
                  </a:lnTo>
                  <a:lnTo>
                    <a:pt x="284225" y="90754"/>
                  </a:lnTo>
                  <a:lnTo>
                    <a:pt x="244754" y="90754"/>
                  </a:lnTo>
                  <a:close/>
                  <a:moveTo>
                    <a:pt x="244766" y="83553"/>
                  </a:moveTo>
                  <a:lnTo>
                    <a:pt x="268439" y="83553"/>
                  </a:lnTo>
                  <a:lnTo>
                    <a:pt x="268439" y="75628"/>
                  </a:lnTo>
                  <a:lnTo>
                    <a:pt x="244754" y="75628"/>
                  </a:lnTo>
                  <a:close/>
                  <a:moveTo>
                    <a:pt x="244766" y="68427"/>
                  </a:moveTo>
                  <a:lnTo>
                    <a:pt x="268439" y="68427"/>
                  </a:lnTo>
                  <a:lnTo>
                    <a:pt x="268439" y="60503"/>
                  </a:lnTo>
                  <a:lnTo>
                    <a:pt x="244754" y="60503"/>
                  </a:lnTo>
                  <a:close/>
                  <a:moveTo>
                    <a:pt x="244766" y="53302"/>
                  </a:moveTo>
                  <a:lnTo>
                    <a:pt x="268439" y="53302"/>
                  </a:lnTo>
                  <a:lnTo>
                    <a:pt x="268439" y="45377"/>
                  </a:lnTo>
                  <a:lnTo>
                    <a:pt x="223291" y="45377"/>
                  </a:lnTo>
                  <a:lnTo>
                    <a:pt x="221068" y="51778"/>
                  </a:lnTo>
                  <a:lnTo>
                    <a:pt x="218846" y="45377"/>
                  </a:lnTo>
                  <a:lnTo>
                    <a:pt x="173697" y="45377"/>
                  </a:lnTo>
                  <a:lnTo>
                    <a:pt x="173697" y="53302"/>
                  </a:lnTo>
                  <a:lnTo>
                    <a:pt x="197383" y="53302"/>
                  </a:lnTo>
                  <a:lnTo>
                    <a:pt x="197383" y="46012"/>
                  </a:lnTo>
                  <a:lnTo>
                    <a:pt x="199923" y="53302"/>
                  </a:lnTo>
                  <a:lnTo>
                    <a:pt x="242214" y="53302"/>
                  </a:lnTo>
                  <a:lnTo>
                    <a:pt x="244754" y="46012"/>
                  </a:lnTo>
                  <a:close/>
                  <a:moveTo>
                    <a:pt x="268439" y="30251"/>
                  </a:moveTo>
                  <a:lnTo>
                    <a:pt x="228536" y="30251"/>
                  </a:lnTo>
                  <a:lnTo>
                    <a:pt x="225780" y="38176"/>
                  </a:lnTo>
                  <a:lnTo>
                    <a:pt x="268439" y="38176"/>
                  </a:lnTo>
                  <a:close/>
                  <a:moveTo>
                    <a:pt x="173697" y="68427"/>
                  </a:moveTo>
                  <a:lnTo>
                    <a:pt x="197383" y="68427"/>
                  </a:lnTo>
                  <a:lnTo>
                    <a:pt x="197383" y="60503"/>
                  </a:lnTo>
                  <a:lnTo>
                    <a:pt x="173697" y="60503"/>
                  </a:lnTo>
                  <a:close/>
                  <a:moveTo>
                    <a:pt x="173697" y="83540"/>
                  </a:moveTo>
                  <a:lnTo>
                    <a:pt x="197383" y="83540"/>
                  </a:lnTo>
                  <a:lnTo>
                    <a:pt x="197383" y="75628"/>
                  </a:lnTo>
                  <a:lnTo>
                    <a:pt x="173697" y="75628"/>
                  </a:lnTo>
                  <a:close/>
                  <a:moveTo>
                    <a:pt x="157911" y="98666"/>
                  </a:moveTo>
                  <a:lnTo>
                    <a:pt x="197383" y="98666"/>
                  </a:lnTo>
                  <a:lnTo>
                    <a:pt x="197383" y="90754"/>
                  </a:lnTo>
                  <a:lnTo>
                    <a:pt x="157911" y="90754"/>
                  </a:lnTo>
                  <a:close/>
                  <a:moveTo>
                    <a:pt x="157911" y="113804"/>
                  </a:moveTo>
                  <a:lnTo>
                    <a:pt x="197383" y="113804"/>
                  </a:lnTo>
                  <a:lnTo>
                    <a:pt x="197383" y="105880"/>
                  </a:lnTo>
                  <a:lnTo>
                    <a:pt x="157911" y="105880"/>
                  </a:lnTo>
                  <a:close/>
                  <a:moveTo>
                    <a:pt x="239013" y="0"/>
                  </a:moveTo>
                  <a:lnTo>
                    <a:pt x="236270" y="7925"/>
                  </a:lnTo>
                  <a:lnTo>
                    <a:pt x="284225" y="7925"/>
                  </a:lnTo>
                  <a:lnTo>
                    <a:pt x="284225" y="0"/>
                  </a:lnTo>
                  <a:close/>
                  <a:moveTo>
                    <a:pt x="231025" y="23050"/>
                  </a:moveTo>
                  <a:lnTo>
                    <a:pt x="284238" y="23050"/>
                  </a:lnTo>
                  <a:lnTo>
                    <a:pt x="284238" y="15126"/>
                  </a:lnTo>
                  <a:lnTo>
                    <a:pt x="233768" y="15126"/>
                  </a:lnTo>
                  <a:close/>
                  <a:moveTo>
                    <a:pt x="173697" y="38163"/>
                  </a:moveTo>
                  <a:lnTo>
                    <a:pt x="216357" y="38163"/>
                  </a:lnTo>
                  <a:lnTo>
                    <a:pt x="213613" y="30251"/>
                  </a:lnTo>
                  <a:lnTo>
                    <a:pt x="173697" y="30251"/>
                  </a:lnTo>
                  <a:close/>
                  <a:moveTo>
                    <a:pt x="205219" y="68427"/>
                  </a:moveTo>
                  <a:lnTo>
                    <a:pt x="236918" y="68427"/>
                  </a:lnTo>
                  <a:lnTo>
                    <a:pt x="239687" y="60503"/>
                  </a:lnTo>
                  <a:lnTo>
                    <a:pt x="202450" y="60503"/>
                  </a:lnTo>
                  <a:close/>
                  <a:moveTo>
                    <a:pt x="210515" y="83540"/>
                  </a:moveTo>
                  <a:lnTo>
                    <a:pt x="231622" y="83540"/>
                  </a:lnTo>
                  <a:lnTo>
                    <a:pt x="234391" y="75628"/>
                  </a:lnTo>
                  <a:lnTo>
                    <a:pt x="207746" y="75628"/>
                  </a:lnTo>
                  <a:close/>
                  <a:moveTo>
                    <a:pt x="215798" y="98666"/>
                  </a:moveTo>
                  <a:lnTo>
                    <a:pt x="226339" y="98666"/>
                  </a:lnTo>
                  <a:lnTo>
                    <a:pt x="229107" y="90754"/>
                  </a:lnTo>
                  <a:lnTo>
                    <a:pt x="213029" y="90754"/>
                  </a:lnTo>
                  <a:close/>
                  <a:moveTo>
                    <a:pt x="221056" y="113804"/>
                  </a:moveTo>
                  <a:lnTo>
                    <a:pt x="223812" y="105880"/>
                  </a:lnTo>
                  <a:lnTo>
                    <a:pt x="218325" y="105880"/>
                  </a:lnTo>
                  <a:close/>
                  <a:moveTo>
                    <a:pt x="63157" y="113728"/>
                  </a:moveTo>
                  <a:lnTo>
                    <a:pt x="121297" y="113804"/>
                  </a:lnTo>
                  <a:cubicBezTo>
                    <a:pt x="129197" y="113804"/>
                    <a:pt x="136283" y="110795"/>
                    <a:pt x="141643" y="105880"/>
                  </a:cubicBezTo>
                  <a:lnTo>
                    <a:pt x="63157" y="105880"/>
                  </a:lnTo>
                  <a:close/>
                  <a:moveTo>
                    <a:pt x="124879" y="75628"/>
                  </a:moveTo>
                  <a:lnTo>
                    <a:pt x="124879" y="83553"/>
                  </a:lnTo>
                  <a:lnTo>
                    <a:pt x="151447" y="83553"/>
                  </a:lnTo>
                  <a:cubicBezTo>
                    <a:pt x="151447" y="80810"/>
                    <a:pt x="151066" y="78156"/>
                    <a:pt x="150393" y="75628"/>
                  </a:cubicBezTo>
                  <a:close/>
                  <a:moveTo>
                    <a:pt x="78956" y="83553"/>
                  </a:moveTo>
                  <a:lnTo>
                    <a:pt x="102641" y="83553"/>
                  </a:lnTo>
                  <a:lnTo>
                    <a:pt x="102641" y="75628"/>
                  </a:lnTo>
                  <a:lnTo>
                    <a:pt x="78956" y="75628"/>
                  </a:lnTo>
                  <a:close/>
                  <a:moveTo>
                    <a:pt x="124891" y="38176"/>
                  </a:moveTo>
                  <a:lnTo>
                    <a:pt x="150393" y="38176"/>
                  </a:lnTo>
                  <a:cubicBezTo>
                    <a:pt x="151066" y="35649"/>
                    <a:pt x="151447" y="32995"/>
                    <a:pt x="151447" y="30251"/>
                  </a:cubicBezTo>
                  <a:lnTo>
                    <a:pt x="124891" y="30251"/>
                  </a:lnTo>
                  <a:close/>
                  <a:moveTo>
                    <a:pt x="78956" y="38176"/>
                  </a:moveTo>
                  <a:lnTo>
                    <a:pt x="102641" y="38176"/>
                  </a:lnTo>
                  <a:lnTo>
                    <a:pt x="102641" y="30251"/>
                  </a:lnTo>
                  <a:lnTo>
                    <a:pt x="78956" y="30251"/>
                  </a:lnTo>
                  <a:close/>
                  <a:moveTo>
                    <a:pt x="121285" y="13"/>
                  </a:moveTo>
                  <a:lnTo>
                    <a:pt x="63157" y="13"/>
                  </a:lnTo>
                  <a:lnTo>
                    <a:pt x="63157" y="7937"/>
                  </a:lnTo>
                  <a:lnTo>
                    <a:pt x="141643" y="7937"/>
                  </a:lnTo>
                  <a:cubicBezTo>
                    <a:pt x="136099" y="2832"/>
                    <a:pt x="128834" y="2"/>
                    <a:pt x="121297" y="13"/>
                  </a:cubicBezTo>
                  <a:close/>
                  <a:moveTo>
                    <a:pt x="147396" y="15138"/>
                  </a:moveTo>
                  <a:lnTo>
                    <a:pt x="63157" y="15138"/>
                  </a:lnTo>
                  <a:lnTo>
                    <a:pt x="63157" y="23063"/>
                  </a:lnTo>
                  <a:lnTo>
                    <a:pt x="150584" y="23063"/>
                  </a:lnTo>
                  <a:cubicBezTo>
                    <a:pt x="149905" y="20285"/>
                    <a:pt x="148836" y="17617"/>
                    <a:pt x="147409" y="15138"/>
                  </a:cubicBezTo>
                  <a:close/>
                  <a:moveTo>
                    <a:pt x="78943" y="45390"/>
                  </a:moveTo>
                  <a:lnTo>
                    <a:pt x="78943" y="53314"/>
                  </a:lnTo>
                  <a:lnTo>
                    <a:pt x="140792" y="53314"/>
                  </a:lnTo>
                  <a:cubicBezTo>
                    <a:pt x="143421" y="51079"/>
                    <a:pt x="145643" y="48400"/>
                    <a:pt x="147383" y="45390"/>
                  </a:cubicBezTo>
                  <a:close/>
                  <a:moveTo>
                    <a:pt x="140792" y="60515"/>
                  </a:moveTo>
                  <a:lnTo>
                    <a:pt x="78943" y="60515"/>
                  </a:lnTo>
                  <a:lnTo>
                    <a:pt x="78943" y="68440"/>
                  </a:lnTo>
                  <a:lnTo>
                    <a:pt x="147383" y="68440"/>
                  </a:lnTo>
                  <a:cubicBezTo>
                    <a:pt x="145654" y="65442"/>
                    <a:pt x="143425" y="62762"/>
                    <a:pt x="140792" y="60515"/>
                  </a:cubicBezTo>
                  <a:close/>
                  <a:moveTo>
                    <a:pt x="63144" y="98691"/>
                  </a:moveTo>
                  <a:lnTo>
                    <a:pt x="147396" y="98691"/>
                  </a:lnTo>
                  <a:cubicBezTo>
                    <a:pt x="148793" y="96240"/>
                    <a:pt x="149885" y="93586"/>
                    <a:pt x="150571" y="90767"/>
                  </a:cubicBezTo>
                  <a:lnTo>
                    <a:pt x="63157" y="90767"/>
                  </a:lnTo>
                  <a:close/>
                  <a:moveTo>
                    <a:pt x="0" y="7925"/>
                  </a:moveTo>
                  <a:lnTo>
                    <a:pt x="55270" y="7925"/>
                  </a:lnTo>
                  <a:lnTo>
                    <a:pt x="55270" y="0"/>
                  </a:lnTo>
                  <a:lnTo>
                    <a:pt x="0" y="0"/>
                  </a:lnTo>
                  <a:close/>
                  <a:moveTo>
                    <a:pt x="0" y="23050"/>
                  </a:moveTo>
                  <a:lnTo>
                    <a:pt x="55270" y="23050"/>
                  </a:lnTo>
                  <a:lnTo>
                    <a:pt x="55270" y="15126"/>
                  </a:lnTo>
                  <a:lnTo>
                    <a:pt x="0" y="15126"/>
                  </a:lnTo>
                  <a:close/>
                  <a:moveTo>
                    <a:pt x="15786" y="38176"/>
                  </a:moveTo>
                  <a:lnTo>
                    <a:pt x="39472" y="38176"/>
                  </a:lnTo>
                  <a:lnTo>
                    <a:pt x="39472" y="30251"/>
                  </a:lnTo>
                  <a:lnTo>
                    <a:pt x="15786" y="30251"/>
                  </a:lnTo>
                  <a:close/>
                  <a:moveTo>
                    <a:pt x="15786" y="53302"/>
                  </a:moveTo>
                  <a:lnTo>
                    <a:pt x="39472" y="53302"/>
                  </a:lnTo>
                  <a:lnTo>
                    <a:pt x="39472" y="45377"/>
                  </a:lnTo>
                  <a:lnTo>
                    <a:pt x="15786" y="45377"/>
                  </a:lnTo>
                  <a:close/>
                  <a:moveTo>
                    <a:pt x="15786" y="68415"/>
                  </a:moveTo>
                  <a:lnTo>
                    <a:pt x="39472" y="68415"/>
                  </a:lnTo>
                  <a:lnTo>
                    <a:pt x="39472" y="60503"/>
                  </a:lnTo>
                  <a:lnTo>
                    <a:pt x="15786" y="60503"/>
                  </a:lnTo>
                  <a:close/>
                  <a:moveTo>
                    <a:pt x="15786" y="83553"/>
                  </a:moveTo>
                  <a:lnTo>
                    <a:pt x="39472" y="83553"/>
                  </a:lnTo>
                  <a:lnTo>
                    <a:pt x="39472" y="75628"/>
                  </a:lnTo>
                  <a:lnTo>
                    <a:pt x="15786" y="75628"/>
                  </a:lnTo>
                  <a:close/>
                  <a:moveTo>
                    <a:pt x="0" y="98679"/>
                  </a:moveTo>
                  <a:lnTo>
                    <a:pt x="55270" y="98679"/>
                  </a:lnTo>
                  <a:lnTo>
                    <a:pt x="55270" y="90767"/>
                  </a:lnTo>
                  <a:lnTo>
                    <a:pt x="0" y="90767"/>
                  </a:lnTo>
                  <a:close/>
                  <a:moveTo>
                    <a:pt x="0" y="113817"/>
                  </a:moveTo>
                  <a:lnTo>
                    <a:pt x="55270" y="113817"/>
                  </a:lnTo>
                  <a:lnTo>
                    <a:pt x="55270" y="105892"/>
                  </a:lnTo>
                  <a:lnTo>
                    <a:pt x="0" y="105892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210056" y="1784350"/>
              <a:ext cx="264947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IBM Bob — agent harness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212342" y="2101850"/>
              <a:ext cx="22714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build, test, verifikasi agent e2e</a:t>
              </a:r>
            </a:p>
          </p:txBody>
        </p:sp>
      </p:grpSp>
      <p:grpSp>
        <p:nvGrpSpPr>
          <p:cNvPr id="14" name="p06-row-2"/>
          <p:cNvGrpSpPr/>
          <p:nvPr/>
        </p:nvGrpSpPr>
        <p:grpSpPr>
          <a:xfrm>
            <a:off x="533400" y="2552700"/>
            <a:ext cx="4191000" cy="914400"/>
            <a:chOff x="533400" y="2552700"/>
            <a:chExt cx="4191000" cy="914400"/>
          </a:xfrm>
        </p:grpSpPr>
        <p:sp>
          <p:nvSpPr>
            <p:cNvPr id="10" name="Rectangle 10"/>
            <p:cNvSpPr/>
            <p:nvPr/>
          </p:nvSpPr>
          <p:spPr>
            <a:xfrm>
              <a:off x="533400" y="2552700"/>
              <a:ext cx="4191000" cy="914400"/>
            </a:xfrm>
            <a:prstGeom prst="roundRect">
              <a:avLst>
                <a:gd name="adj" fmla="val 16667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761238" y="2857500"/>
              <a:ext cx="306323" cy="304799"/>
            </a:xfrm>
            <a:custGeom>
              <a:avLst/>
              <a:gdLst/>
              <a:ahLst/>
              <a:cxnLst/>
              <a:rect l="l" t="t" r="r" b="b"/>
              <a:pathLst>
                <a:path w="306323" h="304799">
                  <a:moveTo>
                    <a:pt x="181737" y="2286"/>
                  </a:moveTo>
                  <a:lnTo>
                    <a:pt x="193167" y="4826"/>
                  </a:lnTo>
                  <a:lnTo>
                    <a:pt x="202437" y="8128"/>
                  </a:lnTo>
                  <a:lnTo>
                    <a:pt x="209930" y="11938"/>
                  </a:lnTo>
                  <a:lnTo>
                    <a:pt x="215645" y="16002"/>
                  </a:lnTo>
                  <a:lnTo>
                    <a:pt x="219963" y="20320"/>
                  </a:lnTo>
                  <a:lnTo>
                    <a:pt x="223138" y="24638"/>
                  </a:lnTo>
                  <a:lnTo>
                    <a:pt x="225170" y="28829"/>
                  </a:lnTo>
                  <a:lnTo>
                    <a:pt x="226440" y="32639"/>
                  </a:lnTo>
                  <a:lnTo>
                    <a:pt x="226948" y="35941"/>
                  </a:lnTo>
                  <a:lnTo>
                    <a:pt x="227202" y="38481"/>
                  </a:lnTo>
                  <a:lnTo>
                    <a:pt x="227075" y="40132"/>
                  </a:lnTo>
                  <a:lnTo>
                    <a:pt x="227075" y="107950"/>
                  </a:lnTo>
                  <a:lnTo>
                    <a:pt x="226440" y="115951"/>
                  </a:lnTo>
                  <a:lnTo>
                    <a:pt x="224789" y="122936"/>
                  </a:lnTo>
                  <a:lnTo>
                    <a:pt x="222122" y="128778"/>
                  </a:lnTo>
                  <a:lnTo>
                    <a:pt x="218820" y="133604"/>
                  </a:lnTo>
                  <a:lnTo>
                    <a:pt x="215010" y="137541"/>
                  </a:lnTo>
                  <a:lnTo>
                    <a:pt x="210819" y="140716"/>
                  </a:lnTo>
                  <a:lnTo>
                    <a:pt x="206374" y="143129"/>
                  </a:lnTo>
                  <a:lnTo>
                    <a:pt x="201929" y="144907"/>
                  </a:lnTo>
                  <a:lnTo>
                    <a:pt x="197739" y="146177"/>
                  </a:lnTo>
                  <a:lnTo>
                    <a:pt x="193929" y="147066"/>
                  </a:lnTo>
                  <a:lnTo>
                    <a:pt x="190627" y="147574"/>
                  </a:lnTo>
                  <a:lnTo>
                    <a:pt x="187960" y="147828"/>
                  </a:lnTo>
                  <a:lnTo>
                    <a:pt x="112141" y="147828"/>
                  </a:lnTo>
                  <a:lnTo>
                    <a:pt x="103378" y="148463"/>
                  </a:lnTo>
                  <a:lnTo>
                    <a:pt x="95885" y="150241"/>
                  </a:lnTo>
                  <a:lnTo>
                    <a:pt x="89535" y="153035"/>
                  </a:lnTo>
                  <a:lnTo>
                    <a:pt x="84328" y="156464"/>
                  </a:lnTo>
                  <a:lnTo>
                    <a:pt x="80137" y="160528"/>
                  </a:lnTo>
                  <a:lnTo>
                    <a:pt x="76708" y="164973"/>
                  </a:lnTo>
                  <a:lnTo>
                    <a:pt x="74168" y="169545"/>
                  </a:lnTo>
                  <a:lnTo>
                    <a:pt x="72263" y="174244"/>
                  </a:lnTo>
                  <a:lnTo>
                    <a:pt x="70993" y="178689"/>
                  </a:lnTo>
                  <a:lnTo>
                    <a:pt x="70104" y="182753"/>
                  </a:lnTo>
                  <a:lnTo>
                    <a:pt x="69596" y="186182"/>
                  </a:lnTo>
                  <a:lnTo>
                    <a:pt x="69342" y="188849"/>
                  </a:lnTo>
                  <a:lnTo>
                    <a:pt x="69342" y="227710"/>
                  </a:lnTo>
                  <a:lnTo>
                    <a:pt x="41021" y="227710"/>
                  </a:lnTo>
                  <a:lnTo>
                    <a:pt x="38354" y="227329"/>
                  </a:lnTo>
                  <a:lnTo>
                    <a:pt x="34798" y="226440"/>
                  </a:lnTo>
                  <a:lnTo>
                    <a:pt x="30734" y="224916"/>
                  </a:lnTo>
                  <a:lnTo>
                    <a:pt x="26289" y="222630"/>
                  </a:lnTo>
                  <a:lnTo>
                    <a:pt x="21717" y="219328"/>
                  </a:lnTo>
                  <a:lnTo>
                    <a:pt x="17145" y="214756"/>
                  </a:lnTo>
                  <a:lnTo>
                    <a:pt x="12700" y="208914"/>
                  </a:lnTo>
                  <a:lnTo>
                    <a:pt x="8636" y="201421"/>
                  </a:lnTo>
                  <a:lnTo>
                    <a:pt x="5080" y="192151"/>
                  </a:lnTo>
                  <a:lnTo>
                    <a:pt x="2413" y="180975"/>
                  </a:lnTo>
                  <a:lnTo>
                    <a:pt x="635" y="167640"/>
                  </a:lnTo>
                  <a:lnTo>
                    <a:pt x="0" y="152019"/>
                  </a:lnTo>
                  <a:lnTo>
                    <a:pt x="762" y="136525"/>
                  </a:lnTo>
                  <a:lnTo>
                    <a:pt x="2794" y="123317"/>
                  </a:lnTo>
                  <a:lnTo>
                    <a:pt x="5842" y="112268"/>
                  </a:lnTo>
                  <a:lnTo>
                    <a:pt x="9906" y="103251"/>
                  </a:lnTo>
                  <a:lnTo>
                    <a:pt x="14478" y="96012"/>
                  </a:lnTo>
                  <a:lnTo>
                    <a:pt x="19558" y="90424"/>
                  </a:lnTo>
                  <a:lnTo>
                    <a:pt x="24892" y="86233"/>
                  </a:lnTo>
                  <a:lnTo>
                    <a:pt x="30226" y="83185"/>
                  </a:lnTo>
                  <a:lnTo>
                    <a:pt x="35306" y="81153"/>
                  </a:lnTo>
                  <a:lnTo>
                    <a:pt x="39878" y="79883"/>
                  </a:lnTo>
                  <a:lnTo>
                    <a:pt x="43942" y="79248"/>
                  </a:lnTo>
                  <a:lnTo>
                    <a:pt x="46990" y="79121"/>
                  </a:lnTo>
                  <a:lnTo>
                    <a:pt x="49022" y="79121"/>
                  </a:lnTo>
                  <a:lnTo>
                    <a:pt x="49784" y="79248"/>
                  </a:lnTo>
                  <a:lnTo>
                    <a:pt x="153416" y="79248"/>
                  </a:lnTo>
                  <a:lnTo>
                    <a:pt x="153416" y="68707"/>
                  </a:lnTo>
                  <a:lnTo>
                    <a:pt x="79248" y="68707"/>
                  </a:lnTo>
                  <a:lnTo>
                    <a:pt x="79121" y="33782"/>
                  </a:lnTo>
                  <a:lnTo>
                    <a:pt x="78867" y="29083"/>
                  </a:lnTo>
                  <a:lnTo>
                    <a:pt x="79502" y="24765"/>
                  </a:lnTo>
                  <a:lnTo>
                    <a:pt x="80899" y="20828"/>
                  </a:lnTo>
                  <a:lnTo>
                    <a:pt x="83058" y="17272"/>
                  </a:lnTo>
                  <a:lnTo>
                    <a:pt x="86233" y="13970"/>
                  </a:lnTo>
                  <a:lnTo>
                    <a:pt x="90170" y="11049"/>
                  </a:lnTo>
                  <a:lnTo>
                    <a:pt x="94996" y="8509"/>
                  </a:lnTo>
                  <a:lnTo>
                    <a:pt x="100584" y="6223"/>
                  </a:lnTo>
                  <a:lnTo>
                    <a:pt x="107061" y="4318"/>
                  </a:lnTo>
                  <a:lnTo>
                    <a:pt x="114427" y="2794"/>
                  </a:lnTo>
                  <a:lnTo>
                    <a:pt x="122555" y="1524"/>
                  </a:lnTo>
                  <a:lnTo>
                    <a:pt x="131572" y="762"/>
                  </a:lnTo>
                  <a:lnTo>
                    <a:pt x="141351" y="254"/>
                  </a:lnTo>
                  <a:lnTo>
                    <a:pt x="152019" y="0"/>
                  </a:lnTo>
                  <a:lnTo>
                    <a:pt x="168148" y="635"/>
                  </a:lnTo>
                  <a:close/>
                  <a:moveTo>
                    <a:pt x="101727" y="27432"/>
                  </a:moveTo>
                  <a:lnTo>
                    <a:pt x="98806" y="31623"/>
                  </a:lnTo>
                  <a:lnTo>
                    <a:pt x="97790" y="36830"/>
                  </a:lnTo>
                  <a:lnTo>
                    <a:pt x="98806" y="42037"/>
                  </a:lnTo>
                  <a:lnTo>
                    <a:pt x="101727" y="46355"/>
                  </a:lnTo>
                  <a:lnTo>
                    <a:pt x="105918" y="49149"/>
                  </a:lnTo>
                  <a:lnTo>
                    <a:pt x="111125" y="50292"/>
                  </a:lnTo>
                  <a:lnTo>
                    <a:pt x="116332" y="49149"/>
                  </a:lnTo>
                  <a:lnTo>
                    <a:pt x="120523" y="46355"/>
                  </a:lnTo>
                  <a:lnTo>
                    <a:pt x="123444" y="42037"/>
                  </a:lnTo>
                  <a:lnTo>
                    <a:pt x="124460" y="36830"/>
                  </a:lnTo>
                  <a:lnTo>
                    <a:pt x="123444" y="31623"/>
                  </a:lnTo>
                  <a:lnTo>
                    <a:pt x="120523" y="27432"/>
                  </a:lnTo>
                  <a:lnTo>
                    <a:pt x="116332" y="24638"/>
                  </a:lnTo>
                  <a:lnTo>
                    <a:pt x="111125" y="23495"/>
                  </a:lnTo>
                  <a:lnTo>
                    <a:pt x="105918" y="24638"/>
                  </a:lnTo>
                  <a:close/>
                  <a:moveTo>
                    <a:pt x="267969" y="77597"/>
                  </a:moveTo>
                  <a:lnTo>
                    <a:pt x="271525" y="78359"/>
                  </a:lnTo>
                  <a:lnTo>
                    <a:pt x="275589" y="79883"/>
                  </a:lnTo>
                  <a:lnTo>
                    <a:pt x="280034" y="82169"/>
                  </a:lnTo>
                  <a:lnTo>
                    <a:pt x="284606" y="85598"/>
                  </a:lnTo>
                  <a:lnTo>
                    <a:pt x="289178" y="90043"/>
                  </a:lnTo>
                  <a:lnTo>
                    <a:pt x="293623" y="96012"/>
                  </a:lnTo>
                  <a:lnTo>
                    <a:pt x="297687" y="103505"/>
                  </a:lnTo>
                  <a:lnTo>
                    <a:pt x="301243" y="112776"/>
                  </a:lnTo>
                  <a:lnTo>
                    <a:pt x="303910" y="123952"/>
                  </a:lnTo>
                  <a:lnTo>
                    <a:pt x="305688" y="137160"/>
                  </a:lnTo>
                  <a:lnTo>
                    <a:pt x="306323" y="152781"/>
                  </a:lnTo>
                  <a:lnTo>
                    <a:pt x="305561" y="168402"/>
                  </a:lnTo>
                  <a:lnTo>
                    <a:pt x="303529" y="181610"/>
                  </a:lnTo>
                  <a:lnTo>
                    <a:pt x="300481" y="192532"/>
                  </a:lnTo>
                  <a:lnTo>
                    <a:pt x="296417" y="201548"/>
                  </a:lnTo>
                  <a:lnTo>
                    <a:pt x="291845" y="208787"/>
                  </a:lnTo>
                  <a:lnTo>
                    <a:pt x="286765" y="214502"/>
                  </a:lnTo>
                  <a:lnTo>
                    <a:pt x="281431" y="218693"/>
                  </a:lnTo>
                  <a:lnTo>
                    <a:pt x="276097" y="221741"/>
                  </a:lnTo>
                  <a:lnTo>
                    <a:pt x="271017" y="223773"/>
                  </a:lnTo>
                  <a:lnTo>
                    <a:pt x="266445" y="224916"/>
                  </a:lnTo>
                  <a:lnTo>
                    <a:pt x="262381" y="225551"/>
                  </a:lnTo>
                  <a:lnTo>
                    <a:pt x="259333" y="225805"/>
                  </a:lnTo>
                  <a:lnTo>
                    <a:pt x="257301" y="225678"/>
                  </a:lnTo>
                  <a:lnTo>
                    <a:pt x="152908" y="225678"/>
                  </a:lnTo>
                  <a:lnTo>
                    <a:pt x="152908" y="236092"/>
                  </a:lnTo>
                  <a:lnTo>
                    <a:pt x="227075" y="236092"/>
                  </a:lnTo>
                  <a:lnTo>
                    <a:pt x="227202" y="271144"/>
                  </a:lnTo>
                  <a:lnTo>
                    <a:pt x="227456" y="275716"/>
                  </a:lnTo>
                  <a:lnTo>
                    <a:pt x="226821" y="280034"/>
                  </a:lnTo>
                  <a:lnTo>
                    <a:pt x="225424" y="283971"/>
                  </a:lnTo>
                  <a:lnTo>
                    <a:pt x="223265" y="287654"/>
                  </a:lnTo>
                  <a:lnTo>
                    <a:pt x="220090" y="290829"/>
                  </a:lnTo>
                  <a:lnTo>
                    <a:pt x="216153" y="293877"/>
                  </a:lnTo>
                  <a:lnTo>
                    <a:pt x="211327" y="296417"/>
                  </a:lnTo>
                  <a:lnTo>
                    <a:pt x="205739" y="298576"/>
                  </a:lnTo>
                  <a:lnTo>
                    <a:pt x="199263" y="300481"/>
                  </a:lnTo>
                  <a:lnTo>
                    <a:pt x="191897" y="302132"/>
                  </a:lnTo>
                  <a:lnTo>
                    <a:pt x="183769" y="303275"/>
                  </a:lnTo>
                  <a:lnTo>
                    <a:pt x="174752" y="304164"/>
                  </a:lnTo>
                  <a:lnTo>
                    <a:pt x="164973" y="304672"/>
                  </a:lnTo>
                  <a:lnTo>
                    <a:pt x="154305" y="304799"/>
                  </a:lnTo>
                  <a:lnTo>
                    <a:pt x="138176" y="304291"/>
                  </a:lnTo>
                  <a:lnTo>
                    <a:pt x="124587" y="302513"/>
                  </a:lnTo>
                  <a:lnTo>
                    <a:pt x="113157" y="299973"/>
                  </a:lnTo>
                  <a:lnTo>
                    <a:pt x="103886" y="296798"/>
                  </a:lnTo>
                  <a:lnTo>
                    <a:pt x="96393" y="292988"/>
                  </a:lnTo>
                  <a:lnTo>
                    <a:pt x="90678" y="288797"/>
                  </a:lnTo>
                  <a:lnTo>
                    <a:pt x="86360" y="284479"/>
                  </a:lnTo>
                  <a:lnTo>
                    <a:pt x="83185" y="280161"/>
                  </a:lnTo>
                  <a:lnTo>
                    <a:pt x="81153" y="275970"/>
                  </a:lnTo>
                  <a:lnTo>
                    <a:pt x="79883" y="272160"/>
                  </a:lnTo>
                  <a:lnTo>
                    <a:pt x="79375" y="268985"/>
                  </a:lnTo>
                  <a:lnTo>
                    <a:pt x="79121" y="266445"/>
                  </a:lnTo>
                  <a:lnTo>
                    <a:pt x="79248" y="264794"/>
                  </a:lnTo>
                  <a:lnTo>
                    <a:pt x="79248" y="196977"/>
                  </a:lnTo>
                  <a:lnTo>
                    <a:pt x="79883" y="188849"/>
                  </a:lnTo>
                  <a:lnTo>
                    <a:pt x="81534" y="181991"/>
                  </a:lnTo>
                  <a:lnTo>
                    <a:pt x="84201" y="176149"/>
                  </a:lnTo>
                  <a:lnTo>
                    <a:pt x="87503" y="171323"/>
                  </a:lnTo>
                  <a:lnTo>
                    <a:pt x="91313" y="167259"/>
                  </a:lnTo>
                  <a:lnTo>
                    <a:pt x="95504" y="164211"/>
                  </a:lnTo>
                  <a:lnTo>
                    <a:pt x="99949" y="161671"/>
                  </a:lnTo>
                  <a:lnTo>
                    <a:pt x="104394" y="159893"/>
                  </a:lnTo>
                  <a:lnTo>
                    <a:pt x="108585" y="158623"/>
                  </a:lnTo>
                  <a:lnTo>
                    <a:pt x="112395" y="157861"/>
                  </a:lnTo>
                  <a:lnTo>
                    <a:pt x="115697" y="157353"/>
                  </a:lnTo>
                  <a:lnTo>
                    <a:pt x="118364" y="157099"/>
                  </a:lnTo>
                  <a:lnTo>
                    <a:pt x="120015" y="156972"/>
                  </a:lnTo>
                  <a:lnTo>
                    <a:pt x="194183" y="156972"/>
                  </a:lnTo>
                  <a:lnTo>
                    <a:pt x="202945" y="156337"/>
                  </a:lnTo>
                  <a:lnTo>
                    <a:pt x="210438" y="154559"/>
                  </a:lnTo>
                  <a:lnTo>
                    <a:pt x="216788" y="151892"/>
                  </a:lnTo>
                  <a:lnTo>
                    <a:pt x="221995" y="148336"/>
                  </a:lnTo>
                  <a:lnTo>
                    <a:pt x="226186" y="144272"/>
                  </a:lnTo>
                  <a:lnTo>
                    <a:pt x="229615" y="139827"/>
                  </a:lnTo>
                  <a:lnTo>
                    <a:pt x="232155" y="135255"/>
                  </a:lnTo>
                  <a:lnTo>
                    <a:pt x="234060" y="130683"/>
                  </a:lnTo>
                  <a:lnTo>
                    <a:pt x="235330" y="126238"/>
                  </a:lnTo>
                  <a:lnTo>
                    <a:pt x="236219" y="122174"/>
                  </a:lnTo>
                  <a:lnTo>
                    <a:pt x="236727" y="118618"/>
                  </a:lnTo>
                  <a:lnTo>
                    <a:pt x="236981" y="115951"/>
                  </a:lnTo>
                  <a:lnTo>
                    <a:pt x="236981" y="77089"/>
                  </a:lnTo>
                  <a:lnTo>
                    <a:pt x="263524" y="77089"/>
                  </a:lnTo>
                  <a:lnTo>
                    <a:pt x="265302" y="77216"/>
                  </a:lnTo>
                  <a:close/>
                  <a:moveTo>
                    <a:pt x="185801" y="258571"/>
                  </a:moveTo>
                  <a:lnTo>
                    <a:pt x="182880" y="262762"/>
                  </a:lnTo>
                  <a:lnTo>
                    <a:pt x="181864" y="267969"/>
                  </a:lnTo>
                  <a:lnTo>
                    <a:pt x="182880" y="273176"/>
                  </a:lnTo>
                  <a:lnTo>
                    <a:pt x="185801" y="277367"/>
                  </a:lnTo>
                  <a:lnTo>
                    <a:pt x="189992" y="280288"/>
                  </a:lnTo>
                  <a:lnTo>
                    <a:pt x="195199" y="281304"/>
                  </a:lnTo>
                  <a:lnTo>
                    <a:pt x="200405" y="280288"/>
                  </a:lnTo>
                  <a:lnTo>
                    <a:pt x="204596" y="277367"/>
                  </a:lnTo>
                  <a:lnTo>
                    <a:pt x="207517" y="273176"/>
                  </a:lnTo>
                  <a:lnTo>
                    <a:pt x="208533" y="267969"/>
                  </a:lnTo>
                  <a:lnTo>
                    <a:pt x="207517" y="262762"/>
                  </a:lnTo>
                  <a:lnTo>
                    <a:pt x="204596" y="258571"/>
                  </a:lnTo>
                  <a:lnTo>
                    <a:pt x="200405" y="255650"/>
                  </a:lnTo>
                  <a:lnTo>
                    <a:pt x="195199" y="254634"/>
                  </a:lnTo>
                  <a:lnTo>
                    <a:pt x="189992" y="25565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210056" y="2736850"/>
              <a:ext cx="29396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IBM Langflow — flow engine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212342" y="3054350"/>
              <a:ext cx="16687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tiap flow = 1 MCP tool</a:t>
              </a:r>
            </a:p>
          </p:txBody>
        </p:sp>
      </p:grpSp>
      <p:grpSp>
        <p:nvGrpSpPr>
          <p:cNvPr id="22" name="p06-row-3"/>
          <p:cNvGrpSpPr/>
          <p:nvPr/>
        </p:nvGrpSpPr>
        <p:grpSpPr>
          <a:xfrm>
            <a:off x="533400" y="3581400"/>
            <a:ext cx="4191000" cy="914400"/>
            <a:chOff x="533400" y="3581400"/>
            <a:chExt cx="4191000" cy="914400"/>
          </a:xfrm>
        </p:grpSpPr>
        <p:sp>
          <p:nvSpPr>
            <p:cNvPr id="15" name="Rectangle 15"/>
            <p:cNvSpPr/>
            <p:nvPr/>
          </p:nvSpPr>
          <p:spPr>
            <a:xfrm>
              <a:off x="533400" y="3581400"/>
              <a:ext cx="4191000" cy="914400"/>
            </a:xfrm>
            <a:prstGeom prst="roundRect">
              <a:avLst>
                <a:gd name="adj" fmla="val 16667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grpSp>
          <p:nvGrpSpPr>
            <p:cNvPr id="19" name="Group 19"/>
            <p:cNvGrpSpPr/>
            <p:nvPr/>
          </p:nvGrpSpPr>
          <p:grpSpPr>
            <a:xfrm>
              <a:off x="800100" y="3924300"/>
              <a:ext cx="228599" cy="228599"/>
              <a:chOff x="800100" y="3924300"/>
              <a:chExt cx="228599" cy="228599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800100" y="4102099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25400"/>
                    </a:moveTo>
                    <a:cubicBezTo>
                      <a:pt x="0" y="39428"/>
                      <a:pt x="11372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17" name="Freeform 17"/>
              <p:cNvSpPr/>
              <p:nvPr/>
            </p:nvSpPr>
            <p:spPr>
              <a:xfrm>
                <a:off x="977899" y="3924300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25400" y="50800"/>
                    </a:move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  <a:cubicBezTo>
                      <a:pt x="0" y="39428"/>
                      <a:pt x="11372" y="50800"/>
                      <a:pt x="25400" y="50800"/>
                    </a:cubicBez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18" name="Freeform 18"/>
              <p:cNvSpPr/>
              <p:nvPr/>
            </p:nvSpPr>
            <p:spPr>
              <a:xfrm>
                <a:off x="825500" y="3949700"/>
                <a:ext cx="1905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77800">
                    <a:moveTo>
                      <a:pt x="76200" y="177800"/>
                    </a:moveTo>
                    <a:lnTo>
                      <a:pt x="146050" y="177800"/>
                    </a:lnTo>
                    <a:cubicBezTo>
                      <a:pt x="170599" y="177800"/>
                      <a:pt x="190500" y="157899"/>
                      <a:pt x="190500" y="133350"/>
                    </a:cubicBezTo>
                    <a:cubicBezTo>
                      <a:pt x="190500" y="108801"/>
                      <a:pt x="170599" y="88900"/>
                      <a:pt x="146050" y="88900"/>
                    </a:cubicBezTo>
                    <a:lnTo>
                      <a:pt x="44450" y="88900"/>
                    </a:lnTo>
                    <a:cubicBezTo>
                      <a:pt x="19901" y="88900"/>
                      <a:pt x="0" y="68999"/>
                      <a:pt x="0" y="44450"/>
                    </a:cubicBezTo>
                    <a:cubicBezTo>
                      <a:pt x="0" y="19901"/>
                      <a:pt x="19901" y="0"/>
                      <a:pt x="44450" y="0"/>
                    </a:cubicBezTo>
                    <a:lnTo>
                      <a:pt x="101600" y="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  <p:txBody>
              <a:bodyPr/>
              <a:lstStyle/>
              <a:p>
                <a:endParaRPr lang="en-ID"/>
              </a:p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1210056" y="3765550"/>
              <a:ext cx="25880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MCP — streamable HTTP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212342" y="4083050"/>
              <a:ext cx="31514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bridge Bob ↔ Langflow; kontrak produksi</a:t>
              </a:r>
            </a:p>
          </p:txBody>
        </p:sp>
      </p:grpSp>
      <p:grpSp>
        <p:nvGrpSpPr>
          <p:cNvPr id="33" name="p06-row-4"/>
          <p:cNvGrpSpPr/>
          <p:nvPr/>
        </p:nvGrpSpPr>
        <p:grpSpPr>
          <a:xfrm>
            <a:off x="533400" y="4610100"/>
            <a:ext cx="4191000" cy="914400"/>
            <a:chOff x="533400" y="4610100"/>
            <a:chExt cx="4191000" cy="914400"/>
          </a:xfrm>
        </p:grpSpPr>
        <p:sp>
          <p:nvSpPr>
            <p:cNvPr id="23" name="Rectangle 23"/>
            <p:cNvSpPr/>
            <p:nvPr/>
          </p:nvSpPr>
          <p:spPr>
            <a:xfrm>
              <a:off x="533400" y="4610100"/>
              <a:ext cx="4191000" cy="914400"/>
            </a:xfrm>
            <a:prstGeom prst="roundRect">
              <a:avLst>
                <a:gd name="adj" fmla="val 16667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grpSp>
          <p:nvGrpSpPr>
            <p:cNvPr id="30" name="Group 30"/>
            <p:cNvGrpSpPr/>
            <p:nvPr/>
          </p:nvGrpSpPr>
          <p:grpSpPr>
            <a:xfrm>
              <a:off x="800100" y="4953000"/>
              <a:ext cx="228599" cy="228600"/>
              <a:chOff x="800100" y="4953000"/>
              <a:chExt cx="228599" cy="2286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914400" y="5080000"/>
                <a:ext cx="889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101600">
                    <a:moveTo>
                      <a:pt x="44450" y="0"/>
                    </a:moveTo>
                    <a:cubicBezTo>
                      <a:pt x="19901" y="0"/>
                      <a:pt x="0" y="19901"/>
                      <a:pt x="0" y="44450"/>
                    </a:cubicBezTo>
                    <a:lnTo>
                      <a:pt x="0" y="57150"/>
                    </a:lnTo>
                    <a:cubicBezTo>
                      <a:pt x="0" y="81699"/>
                      <a:pt x="19901" y="101600"/>
                      <a:pt x="44450" y="101600"/>
                    </a:cubicBezTo>
                    <a:cubicBezTo>
                      <a:pt x="68999" y="101600"/>
                      <a:pt x="88900" y="81699"/>
                      <a:pt x="88900" y="57150"/>
                    </a:cubicBezTo>
                    <a:lnTo>
                      <a:pt x="88900" y="3429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25" name="Freeform 25"/>
              <p:cNvSpPr/>
              <p:nvPr/>
            </p:nvSpPr>
            <p:spPr>
              <a:xfrm>
                <a:off x="825500" y="5080000"/>
                <a:ext cx="889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101600">
                    <a:moveTo>
                      <a:pt x="44450" y="0"/>
                    </a:moveTo>
                    <a:cubicBezTo>
                      <a:pt x="68999" y="0"/>
                      <a:pt x="88900" y="19901"/>
                      <a:pt x="88900" y="44450"/>
                    </a:cubicBezTo>
                    <a:lnTo>
                      <a:pt x="88900" y="57150"/>
                    </a:lnTo>
                    <a:cubicBezTo>
                      <a:pt x="88900" y="81699"/>
                      <a:pt x="68999" y="101600"/>
                      <a:pt x="44450" y="101600"/>
                    </a:cubicBezTo>
                    <a:cubicBezTo>
                      <a:pt x="19901" y="101600"/>
                      <a:pt x="0" y="81699"/>
                      <a:pt x="0" y="57150"/>
                    </a:cubicBezTo>
                    <a:lnTo>
                      <a:pt x="0" y="3429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26" name="Freeform 26"/>
              <p:cNvSpPr/>
              <p:nvPr/>
            </p:nvSpPr>
            <p:spPr>
              <a:xfrm>
                <a:off x="977899" y="5029200"/>
                <a:ext cx="508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88900">
                    <a:moveTo>
                      <a:pt x="6350" y="88900"/>
                    </a:moveTo>
                    <a:cubicBezTo>
                      <a:pt x="30899" y="88900"/>
                      <a:pt x="50800" y="68999"/>
                      <a:pt x="50800" y="44450"/>
                    </a:cubicBezTo>
                    <a:cubicBezTo>
                      <a:pt x="50800" y="19901"/>
                      <a:pt x="30899" y="0"/>
                      <a:pt x="6350" y="0"/>
                    </a:cubicBezTo>
                    <a:lnTo>
                      <a:pt x="0" y="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27" name="Freeform 27"/>
              <p:cNvSpPr/>
              <p:nvPr/>
            </p:nvSpPr>
            <p:spPr>
              <a:xfrm>
                <a:off x="914400" y="4953000"/>
                <a:ext cx="88900" cy="8001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80010">
                    <a:moveTo>
                      <a:pt x="88900" y="80010"/>
                    </a:moveTo>
                    <a:lnTo>
                      <a:pt x="88900" y="44450"/>
                    </a:lnTo>
                    <a:cubicBezTo>
                      <a:pt x="88900" y="19901"/>
                      <a:pt x="68999" y="0"/>
                      <a:pt x="44450" y="0"/>
                    </a:cubicBezTo>
                    <a:cubicBezTo>
                      <a:pt x="19901" y="0"/>
                      <a:pt x="0" y="19901"/>
                      <a:pt x="0" y="44450"/>
                    </a:cubicBez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28" name="Freeform 28"/>
              <p:cNvSpPr/>
              <p:nvPr/>
            </p:nvSpPr>
            <p:spPr>
              <a:xfrm>
                <a:off x="800100" y="5029200"/>
                <a:ext cx="508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88900">
                    <a:moveTo>
                      <a:pt x="44450" y="88900"/>
                    </a:moveTo>
                    <a:cubicBezTo>
                      <a:pt x="19901" y="88900"/>
                      <a:pt x="0" y="68999"/>
                      <a:pt x="0" y="44450"/>
                    </a:cubicBezTo>
                    <a:cubicBezTo>
                      <a:pt x="0" y="19901"/>
                      <a:pt x="19901" y="0"/>
                      <a:pt x="44450" y="0"/>
                    </a:cubicBezTo>
                    <a:lnTo>
                      <a:pt x="50800" y="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29" name="Freeform 29"/>
              <p:cNvSpPr/>
              <p:nvPr/>
            </p:nvSpPr>
            <p:spPr>
              <a:xfrm>
                <a:off x="825500" y="4953000"/>
                <a:ext cx="889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171450">
                    <a:moveTo>
                      <a:pt x="0" y="80010"/>
                    </a:moveTo>
                    <a:lnTo>
                      <a:pt x="0" y="44450"/>
                    </a:lnTo>
                    <a:cubicBezTo>
                      <a:pt x="0" y="19901"/>
                      <a:pt x="19901" y="0"/>
                      <a:pt x="44450" y="0"/>
                    </a:cubicBezTo>
                    <a:cubicBezTo>
                      <a:pt x="68999" y="0"/>
                      <a:pt x="88900" y="19901"/>
                      <a:pt x="88900" y="44450"/>
                    </a:cubicBezTo>
                    <a:lnTo>
                      <a:pt x="88900" y="17145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  <p:txBody>
              <a:bodyPr/>
              <a:lstStyle/>
              <a:p>
                <a:endParaRPr lang="en-ID"/>
              </a:p>
            </p:txBody>
          </p:sp>
        </p:grpSp>
        <p:sp>
          <p:nvSpPr>
            <p:cNvPr id="31" name="TextBox 31"/>
            <p:cNvSpPr txBox="1"/>
            <p:nvPr/>
          </p:nvSpPr>
          <p:spPr>
            <a:xfrm>
              <a:off x="1210056" y="4794250"/>
              <a:ext cx="25468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NaraRouter / longcat-2.5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212342" y="5111750"/>
              <a:ext cx="24010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LLM backbone, temperature 0.3</a:t>
              </a:r>
            </a:p>
          </p:txBody>
        </p:sp>
      </p:grpSp>
      <p:grpSp>
        <p:nvGrpSpPr>
          <p:cNvPr id="35" name="p06-arch"/>
          <p:cNvGrpSpPr/>
          <p:nvPr/>
        </p:nvGrpSpPr>
        <p:grpSpPr>
          <a:xfrm>
            <a:off x="5105400" y="1468622"/>
            <a:ext cx="6553200" cy="3829050"/>
            <a:chOff x="5105400" y="1468622"/>
            <a:chExt cx="6553200" cy="3829050"/>
          </a:xfrm>
        </p:grpSpPr>
        <p:pic>
          <p:nvPicPr>
            <p:cNvPr id="34" name="Image 3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105400" y="1468622"/>
              <a:ext cx="6553200" cy="3829050"/>
            </a:xfrm>
            <a:prstGeom prst="rect">
              <a:avLst/>
            </a:prstGeom>
          </p:spPr>
        </p:pic>
      </p:grpSp>
      <p:grpSp>
        <p:nvGrpSpPr>
          <p:cNvPr id="39" name="p06-anchor"/>
          <p:cNvGrpSpPr/>
          <p:nvPr/>
        </p:nvGrpSpPr>
        <p:grpSpPr>
          <a:xfrm>
            <a:off x="533400" y="5562600"/>
            <a:ext cx="11125200" cy="764794"/>
            <a:chOff x="533400" y="5562600"/>
            <a:chExt cx="11125200" cy="764794"/>
          </a:xfrm>
        </p:grpSpPr>
        <p:sp>
          <p:nvSpPr>
            <p:cNvPr id="36" name="Rectangle 36"/>
            <p:cNvSpPr/>
            <p:nvPr/>
          </p:nvSpPr>
          <p:spPr>
            <a:xfrm>
              <a:off x="533400" y="5562600"/>
              <a:ext cx="11125200" cy="762000"/>
            </a:xfrm>
            <a:prstGeom prst="roundRect">
              <a:avLst>
                <a:gd name="adj" fmla="val 25000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52856" y="5670550"/>
              <a:ext cx="77657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Anchor riset: </a:t>
              </a:r>
              <a:r>
                <a:rPr lang="id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GenMentor (FWCI 47.3) · IntelliCode (FWCI 23.5) · Feynman Bot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52856" y="5975350"/>
              <a:ext cx="71138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(arXiv 2506.09055) · Zaidi et al. (arXiv 2004.11327) · BJET (694× dikutip)</a:t>
              </a:r>
            </a:p>
          </p:txBody>
        </p:sp>
      </p:grpSp>
      <p:grpSp>
        <p:nvGrpSpPr>
          <p:cNvPr id="47" name="p06-footer"/>
          <p:cNvGrpSpPr/>
          <p:nvPr/>
        </p:nvGrpSpPr>
        <p:grpSpPr>
          <a:xfrm>
            <a:off x="533400" y="6477000"/>
            <a:ext cx="11125200" cy="279908"/>
            <a:chOff x="533400" y="6477000"/>
            <a:chExt cx="11125200" cy="279908"/>
          </a:xfrm>
        </p:grpSpPr>
        <p:sp>
          <p:nvSpPr>
            <p:cNvPr id="40" name="Rectangle 40"/>
            <p:cNvSpPr/>
            <p:nvPr/>
          </p:nvSpPr>
          <p:spPr>
            <a:xfrm>
              <a:off x="533400" y="6629400"/>
              <a:ext cx="190500" cy="762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41" name="Rectangle 41"/>
            <p:cNvSpPr/>
            <p:nvPr/>
          </p:nvSpPr>
          <p:spPr>
            <a:xfrm>
              <a:off x="762000" y="6591300"/>
              <a:ext cx="190500" cy="114300"/>
            </a:xfrm>
            <a:prstGeom prst="roundRect">
              <a:avLst>
                <a:gd name="adj" fmla="val 33333"/>
              </a:avLst>
            </a:prstGeom>
            <a:solidFill>
              <a:schemeClr val="accent6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42" name="Rectangle 42"/>
            <p:cNvSpPr/>
            <p:nvPr/>
          </p:nvSpPr>
          <p:spPr>
            <a:xfrm>
              <a:off x="990600" y="6553200"/>
              <a:ext cx="190500" cy="152400"/>
            </a:xfrm>
            <a:prstGeom prst="roundRect">
              <a:avLst>
                <a:gd name="adj" fmla="val 25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43" name="Rectangle 43"/>
            <p:cNvSpPr/>
            <p:nvPr/>
          </p:nvSpPr>
          <p:spPr>
            <a:xfrm>
              <a:off x="1219200" y="6515100"/>
              <a:ext cx="190500" cy="190500"/>
            </a:xfrm>
            <a:prstGeom prst="roundRect">
              <a:avLst>
                <a:gd name="adj" fmla="val 2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44" name="Rectangle 44"/>
            <p:cNvSpPr/>
            <p:nvPr/>
          </p:nvSpPr>
          <p:spPr>
            <a:xfrm>
              <a:off x="1447800" y="6477000"/>
              <a:ext cx="190500" cy="228600"/>
            </a:xfrm>
            <a:prstGeom prst="roundRect">
              <a:avLst>
                <a:gd name="adj" fmla="val 2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45" name="Rectangle 45"/>
            <p:cNvSpPr/>
            <p:nvPr/>
          </p:nvSpPr>
          <p:spPr>
            <a:xfrm>
              <a:off x="11049000" y="6477000"/>
              <a:ext cx="609600" cy="2667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254838" y="6492875"/>
              <a:ext cx="1979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07-header"/>
          <p:cNvGrpSpPr/>
          <p:nvPr/>
        </p:nvGrpSpPr>
        <p:grpSpPr>
          <a:xfrm>
            <a:off x="517398" y="511175"/>
            <a:ext cx="11141202" cy="616077"/>
            <a:chOff x="517398" y="511175"/>
            <a:chExt cx="11141202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517398" y="511175"/>
              <a:ext cx="686201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6 agent, 5 fitur — 1 sudah live e2e</a:t>
              </a:r>
            </a:p>
          </p:txBody>
        </p:sp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391900" y="533400"/>
              <a:ext cx="266700" cy="266700"/>
            </a:xfrm>
            <a:prstGeom prst="rect">
              <a:avLst/>
            </a:prstGeom>
          </p:spPr>
        </p:pic>
      </p:grpSp>
      <p:grpSp>
        <p:nvGrpSpPr>
          <p:cNvPr id="11" name="p07-fit-1"/>
          <p:cNvGrpSpPr/>
          <p:nvPr/>
        </p:nvGrpSpPr>
        <p:grpSpPr>
          <a:xfrm>
            <a:off x="533400" y="1524000"/>
            <a:ext cx="5715000" cy="838200"/>
            <a:chOff x="533400" y="1524000"/>
            <a:chExt cx="5715000" cy="838200"/>
          </a:xfrm>
        </p:grpSpPr>
        <p:sp>
          <p:nvSpPr>
            <p:cNvPr id="5" name="Rectangle 5"/>
            <p:cNvSpPr/>
            <p:nvPr/>
          </p:nvSpPr>
          <p:spPr>
            <a:xfrm>
              <a:off x="533400" y="1524000"/>
              <a:ext cx="5715000" cy="838200"/>
            </a:xfrm>
            <a:prstGeom prst="roundRect">
              <a:avLst>
                <a:gd name="adj" fmla="val 18182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6" name="Freeform 6"/>
            <p:cNvSpPr/>
            <p:nvPr/>
          </p:nvSpPr>
          <p:spPr>
            <a:xfrm>
              <a:off x="825500" y="1879600"/>
              <a:ext cx="190500" cy="127000"/>
            </a:xfrm>
            <a:custGeom>
              <a:avLst/>
              <a:gdLst/>
              <a:ahLst/>
              <a:cxnLst/>
              <a:rect l="l" t="t" r="r" b="b"/>
              <a:pathLst>
                <a:path w="190500" h="127000">
                  <a:moveTo>
                    <a:pt x="0" y="63500"/>
                  </a:moveTo>
                  <a:lnTo>
                    <a:pt x="63500" y="127000"/>
                  </a:lnTo>
                  <a:lnTo>
                    <a:pt x="190500" y="0"/>
                  </a:lnTo>
                </a:path>
              </a:pathLst>
            </a:custGeom>
            <a:noFill/>
            <a:ln w="25400">
              <a:solidFill>
                <a:schemeClr val="accent3"/>
              </a:solidFill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210056" y="1670050"/>
              <a:ext cx="181996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Goal Decomposer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212342" y="1987550"/>
              <a:ext cx="46687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goal → roadmap JSON mingguan (MCP tool goal_decomposer)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4876800" y="1617974"/>
              <a:ext cx="609600" cy="2667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011782" y="1646466"/>
              <a:ext cx="3140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id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LIVE</a:t>
              </a:r>
            </a:p>
          </p:txBody>
        </p:sp>
      </p:grpSp>
      <p:grpSp>
        <p:nvGrpSpPr>
          <p:cNvPr id="19" name="p07-fit-2"/>
          <p:cNvGrpSpPr/>
          <p:nvPr/>
        </p:nvGrpSpPr>
        <p:grpSpPr>
          <a:xfrm>
            <a:off x="533400" y="2438400"/>
            <a:ext cx="5715000" cy="838200"/>
            <a:chOff x="533400" y="2438400"/>
            <a:chExt cx="5715000" cy="838200"/>
          </a:xfrm>
        </p:grpSpPr>
        <p:sp>
          <p:nvSpPr>
            <p:cNvPr id="12" name="Rectangle 12"/>
            <p:cNvSpPr/>
            <p:nvPr/>
          </p:nvSpPr>
          <p:spPr>
            <a:xfrm>
              <a:off x="533400" y="2438400"/>
              <a:ext cx="5715000" cy="838200"/>
            </a:xfrm>
            <a:prstGeom prst="roundRect">
              <a:avLst>
                <a:gd name="adj" fmla="val 18182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grpSp>
          <p:nvGrpSpPr>
            <p:cNvPr id="16" name="Group 16"/>
            <p:cNvGrpSpPr/>
            <p:nvPr/>
          </p:nvGrpSpPr>
          <p:grpSpPr>
            <a:xfrm>
              <a:off x="800100" y="2755900"/>
              <a:ext cx="228599" cy="215899"/>
              <a:chOff x="800100" y="2755900"/>
              <a:chExt cx="228599" cy="215899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863600" y="2819400"/>
                <a:ext cx="101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9525">
                    <a:moveTo>
                      <a:pt x="0" y="0"/>
                    </a:moveTo>
                    <a:lnTo>
                      <a:pt x="101600" y="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14" name="Freeform 14"/>
              <p:cNvSpPr/>
              <p:nvPr/>
            </p:nvSpPr>
            <p:spPr>
              <a:xfrm>
                <a:off x="863600" y="2870200"/>
                <a:ext cx="76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9525">
                    <a:moveTo>
                      <a:pt x="0" y="0"/>
                    </a:moveTo>
                    <a:lnTo>
                      <a:pt x="76200" y="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15" name="Freeform 15"/>
              <p:cNvSpPr/>
              <p:nvPr/>
            </p:nvSpPr>
            <p:spPr>
              <a:xfrm>
                <a:off x="800100" y="2755900"/>
                <a:ext cx="228599" cy="215899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215899">
                    <a:moveTo>
                      <a:pt x="190500" y="0"/>
                    </a:moveTo>
                    <a:cubicBezTo>
                      <a:pt x="211542" y="0"/>
                      <a:pt x="228599" y="17058"/>
                      <a:pt x="228599" y="38100"/>
                    </a:cubicBezTo>
                    <a:lnTo>
                      <a:pt x="228599" y="139700"/>
                    </a:lnTo>
                    <a:cubicBezTo>
                      <a:pt x="228599" y="160742"/>
                      <a:pt x="211542" y="177800"/>
                      <a:pt x="190500" y="177800"/>
                    </a:cubicBezTo>
                    <a:lnTo>
                      <a:pt x="127000" y="177800"/>
                    </a:lnTo>
                    <a:lnTo>
                      <a:pt x="63500" y="215899"/>
                    </a:lnTo>
                    <a:lnTo>
                      <a:pt x="63500" y="177800"/>
                    </a:lnTo>
                    <a:lnTo>
                      <a:pt x="38100" y="177800"/>
                    </a:lnTo>
                    <a:cubicBezTo>
                      <a:pt x="17058" y="177800"/>
                      <a:pt x="0" y="160742"/>
                      <a:pt x="0" y="139700"/>
                    </a:cubicBez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lnTo>
                      <a:pt x="190500" y="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  <p:txBody>
              <a:bodyPr/>
              <a:lstStyle/>
              <a:p>
                <a:endParaRPr lang="en-ID"/>
              </a:p>
            </p:txBody>
          </p:sp>
        </p:grpSp>
        <p:sp>
          <p:nvSpPr>
            <p:cNvPr id="17" name="TextBox 17"/>
            <p:cNvSpPr txBox="1"/>
            <p:nvPr/>
          </p:nvSpPr>
          <p:spPr>
            <a:xfrm>
              <a:off x="1210056" y="2584450"/>
              <a:ext cx="171509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Tutor (Feynman)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212342" y="2901950"/>
              <a:ext cx="45931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probing questions — AI memancing refleksi, bukan menjawab</a:t>
              </a:r>
            </a:p>
          </p:txBody>
        </p:sp>
      </p:grpSp>
      <p:grpSp>
        <p:nvGrpSpPr>
          <p:cNvPr id="27" name="p07-fit-3"/>
          <p:cNvGrpSpPr/>
          <p:nvPr/>
        </p:nvGrpSpPr>
        <p:grpSpPr>
          <a:xfrm>
            <a:off x="533400" y="3352800"/>
            <a:ext cx="5715000" cy="838200"/>
            <a:chOff x="533400" y="3352800"/>
            <a:chExt cx="5715000" cy="838200"/>
          </a:xfrm>
        </p:grpSpPr>
        <p:sp>
          <p:nvSpPr>
            <p:cNvPr id="20" name="Rectangle 20"/>
            <p:cNvSpPr/>
            <p:nvPr/>
          </p:nvSpPr>
          <p:spPr>
            <a:xfrm>
              <a:off x="533400" y="3352800"/>
              <a:ext cx="5715000" cy="838200"/>
            </a:xfrm>
            <a:prstGeom prst="roundRect">
              <a:avLst>
                <a:gd name="adj" fmla="val 18182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grpSp>
          <p:nvGrpSpPr>
            <p:cNvPr id="24" name="Group 24"/>
            <p:cNvGrpSpPr/>
            <p:nvPr/>
          </p:nvGrpSpPr>
          <p:grpSpPr>
            <a:xfrm>
              <a:off x="800100" y="3657600"/>
              <a:ext cx="228599" cy="228599"/>
              <a:chOff x="800100" y="3657600"/>
              <a:chExt cx="228599" cy="228599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800100" y="3657600"/>
                <a:ext cx="228599" cy="228599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228599">
                    <a:moveTo>
                      <a:pt x="0" y="114300"/>
                    </a:moveTo>
                    <a:cubicBezTo>
                      <a:pt x="0" y="177426"/>
                      <a:pt x="51174" y="228599"/>
                      <a:pt x="114300" y="228599"/>
                    </a:cubicBezTo>
                    <a:cubicBezTo>
                      <a:pt x="177426" y="228599"/>
                      <a:pt x="228599" y="177426"/>
                      <a:pt x="228599" y="114300"/>
                    </a:cubicBezTo>
                    <a:cubicBezTo>
                      <a:pt x="228599" y="51174"/>
                      <a:pt x="177426" y="0"/>
                      <a:pt x="114300" y="0"/>
                    </a:cubicBezTo>
                    <a:cubicBezTo>
                      <a:pt x="51174" y="0"/>
                      <a:pt x="0" y="51174"/>
                      <a:pt x="0" y="114300"/>
                    </a:cubicBez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22" name="Freeform 22"/>
              <p:cNvSpPr/>
              <p:nvPr/>
            </p:nvSpPr>
            <p:spPr>
              <a:xfrm>
                <a:off x="914400" y="3822699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27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23" name="Freeform 23"/>
              <p:cNvSpPr/>
              <p:nvPr/>
            </p:nvSpPr>
            <p:spPr>
              <a:xfrm>
                <a:off x="895350" y="3731239"/>
                <a:ext cx="46578" cy="53396"/>
              </a:xfrm>
              <a:custGeom>
                <a:avLst/>
                <a:gdLst/>
                <a:ahLst/>
                <a:cxnLst/>
                <a:rect l="l" t="t" r="r" b="b"/>
                <a:pathLst>
                  <a:path w="46578" h="53396">
                    <a:moveTo>
                      <a:pt x="19050" y="53360"/>
                    </a:moveTo>
                    <a:cubicBezTo>
                      <a:pt x="30808" y="53396"/>
                      <a:pt x="41053" y="45356"/>
                      <a:pt x="43815" y="33927"/>
                    </a:cubicBezTo>
                    <a:cubicBezTo>
                      <a:pt x="46578" y="22498"/>
                      <a:pt x="41134" y="10667"/>
                      <a:pt x="30658" y="5329"/>
                    </a:cubicBezTo>
                    <a:cubicBezTo>
                      <a:pt x="20255" y="0"/>
                      <a:pt x="7552" y="2542"/>
                      <a:pt x="0" y="11463"/>
                    </a:cubicBez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  <p:txBody>
              <a:bodyPr/>
              <a:lstStyle/>
              <a:p>
                <a:endParaRPr lang="en-ID"/>
              </a:p>
            </p:txBody>
          </p:sp>
        </p:grpSp>
        <p:sp>
          <p:nvSpPr>
            <p:cNvPr id="25" name="TextBox 25"/>
            <p:cNvSpPr txBox="1"/>
            <p:nvPr/>
          </p:nvSpPr>
          <p:spPr>
            <a:xfrm>
              <a:off x="1210056" y="3498850"/>
              <a:ext cx="21276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Assessment (hinting)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212342" y="3816350"/>
              <a:ext cx="37971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kuis adaptif; salah → hint terkecil dulu (IntelliCode)</a:t>
              </a:r>
            </a:p>
          </p:txBody>
        </p:sp>
      </p:grpSp>
      <p:grpSp>
        <p:nvGrpSpPr>
          <p:cNvPr id="34" name="p07-fit-4"/>
          <p:cNvGrpSpPr/>
          <p:nvPr/>
        </p:nvGrpSpPr>
        <p:grpSpPr>
          <a:xfrm>
            <a:off x="533400" y="4267200"/>
            <a:ext cx="5715000" cy="838200"/>
            <a:chOff x="533400" y="4267200"/>
            <a:chExt cx="5715000" cy="838200"/>
          </a:xfrm>
        </p:grpSpPr>
        <p:sp>
          <p:nvSpPr>
            <p:cNvPr id="28" name="Rectangle 28"/>
            <p:cNvSpPr/>
            <p:nvPr/>
          </p:nvSpPr>
          <p:spPr>
            <a:xfrm>
              <a:off x="533400" y="4267200"/>
              <a:ext cx="5715000" cy="838200"/>
            </a:xfrm>
            <a:prstGeom prst="roundRect">
              <a:avLst>
                <a:gd name="adj" fmla="val 18182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grpSp>
          <p:nvGrpSpPr>
            <p:cNvPr id="31" name="Group 31"/>
            <p:cNvGrpSpPr/>
            <p:nvPr/>
          </p:nvGrpSpPr>
          <p:grpSpPr>
            <a:xfrm>
              <a:off x="812800" y="4579800"/>
              <a:ext cx="203199" cy="213000"/>
              <a:chOff x="812800" y="4579800"/>
              <a:chExt cx="203199" cy="2130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812800" y="4579800"/>
                <a:ext cx="203199" cy="93800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93800">
                    <a:moveTo>
                      <a:pt x="203199" y="93800"/>
                    </a:moveTo>
                    <a:cubicBezTo>
                      <a:pt x="196815" y="47858"/>
                      <a:pt x="160475" y="11871"/>
                      <a:pt x="114473" y="5936"/>
                    </a:cubicBezTo>
                    <a:cubicBezTo>
                      <a:pt x="68472" y="0"/>
                      <a:pt x="24187" y="25584"/>
                      <a:pt x="6350" y="68400"/>
                    </a:cubicBezTo>
                    <a:moveTo>
                      <a:pt x="0" y="17600"/>
                    </a:moveTo>
                    <a:lnTo>
                      <a:pt x="0" y="68400"/>
                    </a:lnTo>
                    <a:lnTo>
                      <a:pt x="50800" y="6840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30" name="Freeform 30"/>
              <p:cNvSpPr/>
              <p:nvPr/>
            </p:nvSpPr>
            <p:spPr>
              <a:xfrm>
                <a:off x="812800" y="4699000"/>
                <a:ext cx="203199" cy="93800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93800">
                    <a:moveTo>
                      <a:pt x="0" y="0"/>
                    </a:moveTo>
                    <a:cubicBezTo>
                      <a:pt x="6385" y="45942"/>
                      <a:pt x="42724" y="81928"/>
                      <a:pt x="88726" y="87864"/>
                    </a:cubicBezTo>
                    <a:cubicBezTo>
                      <a:pt x="134728" y="93800"/>
                      <a:pt x="179012" y="68216"/>
                      <a:pt x="196850" y="25400"/>
                    </a:cubicBezTo>
                    <a:moveTo>
                      <a:pt x="203199" y="76200"/>
                    </a:moveTo>
                    <a:lnTo>
                      <a:pt x="203199" y="25400"/>
                    </a:lnTo>
                    <a:lnTo>
                      <a:pt x="152400" y="2540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  <p:txBody>
              <a:bodyPr/>
              <a:lstStyle/>
              <a:p>
                <a:endParaRPr lang="en-ID"/>
              </a:p>
            </p:txBody>
          </p:sp>
        </p:grpSp>
        <p:sp>
          <p:nvSpPr>
            <p:cNvPr id="32" name="TextBox 32"/>
            <p:cNvSpPr txBox="1"/>
            <p:nvPr/>
          </p:nvSpPr>
          <p:spPr>
            <a:xfrm>
              <a:off x="1210056" y="4413250"/>
              <a:ext cx="218560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Progress (spaced rep)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212342" y="4730750"/>
              <a:ext cx="49503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jadwal review per forgetting curve — +15–20% retensi (Zaidi et al.)</a:t>
              </a:r>
            </a:p>
          </p:txBody>
        </p:sp>
      </p:grpSp>
      <p:grpSp>
        <p:nvGrpSpPr>
          <p:cNvPr id="39" name="p07-fit-5"/>
          <p:cNvGrpSpPr/>
          <p:nvPr/>
        </p:nvGrpSpPr>
        <p:grpSpPr>
          <a:xfrm>
            <a:off x="533400" y="5181600"/>
            <a:ext cx="5715000" cy="838200"/>
            <a:chOff x="533400" y="5181600"/>
            <a:chExt cx="5715000" cy="838200"/>
          </a:xfrm>
        </p:grpSpPr>
        <p:sp>
          <p:nvSpPr>
            <p:cNvPr id="35" name="Rectangle 35"/>
            <p:cNvSpPr/>
            <p:nvPr/>
          </p:nvSpPr>
          <p:spPr>
            <a:xfrm>
              <a:off x="533400" y="5181600"/>
              <a:ext cx="5715000" cy="838200"/>
            </a:xfrm>
            <a:prstGeom prst="roundRect">
              <a:avLst>
                <a:gd name="adj" fmla="val 18182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36" name="Freeform 36"/>
            <p:cNvSpPr/>
            <p:nvPr/>
          </p:nvSpPr>
          <p:spPr>
            <a:xfrm>
              <a:off x="800100" y="5524500"/>
              <a:ext cx="228599" cy="152400"/>
            </a:xfrm>
            <a:custGeom>
              <a:avLst/>
              <a:gdLst/>
              <a:ahLst/>
              <a:cxnLst/>
              <a:rect l="l" t="t" r="r" b="b"/>
              <a:pathLst>
                <a:path w="228599" h="152400">
                  <a:moveTo>
                    <a:pt x="0" y="76200"/>
                  </a:moveTo>
                  <a:lnTo>
                    <a:pt x="57150" y="76200"/>
                  </a:lnTo>
                  <a:lnTo>
                    <a:pt x="76200" y="0"/>
                  </a:lnTo>
                  <a:lnTo>
                    <a:pt x="127000" y="152400"/>
                  </a:lnTo>
                  <a:lnTo>
                    <a:pt x="152400" y="38100"/>
                  </a:lnTo>
                  <a:lnTo>
                    <a:pt x="171450" y="76200"/>
                  </a:lnTo>
                  <a:lnTo>
                    <a:pt x="228599" y="76200"/>
                  </a:lnTo>
                </a:path>
              </a:pathLst>
            </a:custGeom>
            <a:noFill/>
            <a:ln w="25400">
              <a:solidFill>
                <a:schemeClr val="accent3"/>
              </a:solidFill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210056" y="5327650"/>
              <a:ext cx="235047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Motivator &amp; Wellbeing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212342" y="5645150"/>
              <a:ext cx="30357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nudge kontekstual + cek burnout berkala</a:t>
              </a:r>
            </a:p>
          </p:txBody>
        </p:sp>
      </p:grpSp>
      <p:grpSp>
        <p:nvGrpSpPr>
          <p:cNvPr id="41" name="p07-flow"/>
          <p:cNvGrpSpPr/>
          <p:nvPr/>
        </p:nvGrpSpPr>
        <p:grpSpPr>
          <a:xfrm>
            <a:off x="6629400" y="1714500"/>
            <a:ext cx="5029200" cy="4114800"/>
            <a:chOff x="6629400" y="1714500"/>
            <a:chExt cx="5029200" cy="4114800"/>
          </a:xfrm>
        </p:grpSpPr>
        <p:pic>
          <p:nvPicPr>
            <p:cNvPr id="40" name="Image 4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29400" y="1714500"/>
              <a:ext cx="5029200" cy="4114800"/>
            </a:xfrm>
            <a:prstGeom prst="rect">
              <a:avLst/>
            </a:prstGeom>
          </p:spPr>
        </p:pic>
      </p:grpSp>
      <p:grpSp>
        <p:nvGrpSpPr>
          <p:cNvPr id="49" name="p07-footer"/>
          <p:cNvGrpSpPr/>
          <p:nvPr/>
        </p:nvGrpSpPr>
        <p:grpSpPr>
          <a:xfrm>
            <a:off x="533400" y="6477000"/>
            <a:ext cx="11125200" cy="279908"/>
            <a:chOff x="533400" y="6477000"/>
            <a:chExt cx="11125200" cy="279908"/>
          </a:xfrm>
        </p:grpSpPr>
        <p:sp>
          <p:nvSpPr>
            <p:cNvPr id="42" name="Rectangle 42"/>
            <p:cNvSpPr/>
            <p:nvPr/>
          </p:nvSpPr>
          <p:spPr>
            <a:xfrm>
              <a:off x="533400" y="6629400"/>
              <a:ext cx="190500" cy="762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43" name="Rectangle 43"/>
            <p:cNvSpPr/>
            <p:nvPr/>
          </p:nvSpPr>
          <p:spPr>
            <a:xfrm>
              <a:off x="762000" y="6591300"/>
              <a:ext cx="190500" cy="114300"/>
            </a:xfrm>
            <a:prstGeom prst="roundRect">
              <a:avLst>
                <a:gd name="adj" fmla="val 33333"/>
              </a:avLst>
            </a:prstGeom>
            <a:solidFill>
              <a:schemeClr val="accent6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44" name="Rectangle 44"/>
            <p:cNvSpPr/>
            <p:nvPr/>
          </p:nvSpPr>
          <p:spPr>
            <a:xfrm>
              <a:off x="990600" y="6553200"/>
              <a:ext cx="190500" cy="152400"/>
            </a:xfrm>
            <a:prstGeom prst="roundRect">
              <a:avLst>
                <a:gd name="adj" fmla="val 25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45" name="Rectangle 45"/>
            <p:cNvSpPr/>
            <p:nvPr/>
          </p:nvSpPr>
          <p:spPr>
            <a:xfrm>
              <a:off x="1219200" y="6515100"/>
              <a:ext cx="190500" cy="190500"/>
            </a:xfrm>
            <a:prstGeom prst="roundRect">
              <a:avLst>
                <a:gd name="adj" fmla="val 2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46" name="Rectangle 46"/>
            <p:cNvSpPr/>
            <p:nvPr/>
          </p:nvSpPr>
          <p:spPr>
            <a:xfrm>
              <a:off x="1447800" y="6477000"/>
              <a:ext cx="190500" cy="228600"/>
            </a:xfrm>
            <a:prstGeom prst="roundRect">
              <a:avLst>
                <a:gd name="adj" fmla="val 2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47" name="Rectangle 47"/>
            <p:cNvSpPr/>
            <p:nvPr/>
          </p:nvSpPr>
          <p:spPr>
            <a:xfrm>
              <a:off x="11049000" y="6477000"/>
              <a:ext cx="609600" cy="2667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254838" y="6492875"/>
              <a:ext cx="1979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07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08-header"/>
          <p:cNvGrpSpPr/>
          <p:nvPr/>
        </p:nvGrpSpPr>
        <p:grpSpPr>
          <a:xfrm>
            <a:off x="517398" y="533400"/>
            <a:ext cx="11141202" cy="1114552"/>
            <a:chOff x="517398" y="533400"/>
            <a:chExt cx="11141202" cy="1114552"/>
          </a:xfrm>
        </p:grpSpPr>
        <p:sp>
          <p:nvSpPr>
            <p:cNvPr id="2" name="TextBox 2"/>
            <p:cNvSpPr txBox="1"/>
            <p:nvPr/>
          </p:nvSpPr>
          <p:spPr>
            <a:xfrm>
              <a:off x="517398" y="536575"/>
              <a:ext cx="6494492" cy="11113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900"/>
                </a:lnSpc>
              </a:pPr>
              <a:r>
                <a:rPr lang="id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Bukti, bukan janji: agent Langflow</a:t>
              </a:r>
              <a:br>
                <a:rPr lang="id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</a:br>
              <a:r>
                <a:rPr lang="id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benar-benar dieksekusi</a:t>
              </a:r>
            </a:p>
          </p:txBody>
        </p:sp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391900" y="533400"/>
              <a:ext cx="266700" cy="266700"/>
            </a:xfrm>
            <a:prstGeom prst="rect">
              <a:avLst/>
            </a:prstGeom>
          </p:spPr>
        </p:pic>
      </p:grpSp>
      <p:grpSp>
        <p:nvGrpSpPr>
          <p:cNvPr id="8" name="p08-shot-1"/>
          <p:cNvGrpSpPr/>
          <p:nvPr/>
        </p:nvGrpSpPr>
        <p:grpSpPr>
          <a:xfrm>
            <a:off x="526542" y="1600200"/>
            <a:ext cx="5417058" cy="1847850"/>
            <a:chOff x="526542" y="1600200"/>
            <a:chExt cx="5417058" cy="1847850"/>
          </a:xfrm>
        </p:grpSpPr>
        <p:sp>
          <p:nvSpPr>
            <p:cNvPr id="5" name="Rectangle 5"/>
            <p:cNvSpPr/>
            <p:nvPr/>
          </p:nvSpPr>
          <p:spPr>
            <a:xfrm>
              <a:off x="533400" y="1600200"/>
              <a:ext cx="5410200" cy="1847850"/>
            </a:xfrm>
            <a:prstGeom prst="roundRect">
              <a:avLst>
                <a:gd name="adj" fmla="val 8247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076450" y="1695450"/>
              <a:ext cx="2314575" cy="1333500"/>
            </a:xfrm>
            <a:prstGeom prst="rect">
              <a:avLst/>
            </a:prstGeom>
          </p:spPr>
        </p:pic>
        <p:sp>
          <p:nvSpPr>
            <p:cNvPr id="7" name="TextBox 7"/>
            <p:cNvSpPr txBox="1"/>
            <p:nvPr/>
          </p:nvSpPr>
          <p:spPr>
            <a:xfrm>
              <a:off x="526542" y="3130550"/>
              <a:ext cx="43078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[01] Bob TUI — harness dev memanggil goal_decomposer</a:t>
              </a:r>
            </a:p>
          </p:txBody>
        </p:sp>
      </p:grpSp>
      <p:grpSp>
        <p:nvGrpSpPr>
          <p:cNvPr id="12" name="p08-shot-2"/>
          <p:cNvGrpSpPr/>
          <p:nvPr/>
        </p:nvGrpSpPr>
        <p:grpSpPr>
          <a:xfrm>
            <a:off x="6241542" y="1600200"/>
            <a:ext cx="5417058" cy="1847850"/>
            <a:chOff x="6241542" y="1600200"/>
            <a:chExt cx="5417058" cy="1847850"/>
          </a:xfrm>
        </p:grpSpPr>
        <p:sp>
          <p:nvSpPr>
            <p:cNvPr id="9" name="Rectangle 9"/>
            <p:cNvSpPr/>
            <p:nvPr/>
          </p:nvSpPr>
          <p:spPr>
            <a:xfrm>
              <a:off x="6248400" y="1600200"/>
              <a:ext cx="5410200" cy="1847850"/>
            </a:xfrm>
            <a:prstGeom prst="roundRect">
              <a:avLst>
                <a:gd name="adj" fmla="val 8247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810500" y="1695450"/>
              <a:ext cx="2295525" cy="1333500"/>
            </a:xfrm>
            <a:prstGeom prst="rect">
              <a:avLst/>
            </a:prstGeom>
          </p:spPr>
        </p:pic>
        <p:sp>
          <p:nvSpPr>
            <p:cNvPr id="11" name="TextBox 11"/>
            <p:cNvSpPr txBox="1"/>
            <p:nvPr/>
          </p:nvSpPr>
          <p:spPr>
            <a:xfrm>
              <a:off x="6241542" y="3130550"/>
              <a:ext cx="35222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[02] Canvas Langflow — flow goal_decomposer</a:t>
              </a:r>
            </a:p>
          </p:txBody>
        </p:sp>
      </p:grpSp>
      <p:grpSp>
        <p:nvGrpSpPr>
          <p:cNvPr id="16" name="p08-shot-3"/>
          <p:cNvGrpSpPr/>
          <p:nvPr/>
        </p:nvGrpSpPr>
        <p:grpSpPr>
          <a:xfrm>
            <a:off x="526542" y="3714750"/>
            <a:ext cx="5417058" cy="1847850"/>
            <a:chOff x="526542" y="3714750"/>
            <a:chExt cx="5417058" cy="1847850"/>
          </a:xfrm>
        </p:grpSpPr>
        <p:sp>
          <p:nvSpPr>
            <p:cNvPr id="13" name="Rectangle 13"/>
            <p:cNvSpPr/>
            <p:nvPr/>
          </p:nvSpPr>
          <p:spPr>
            <a:xfrm>
              <a:off x="533400" y="3714750"/>
              <a:ext cx="5410200" cy="1847850"/>
            </a:xfrm>
            <a:prstGeom prst="roundRect">
              <a:avLst>
                <a:gd name="adj" fmla="val 8247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pic>
          <p:nvPicPr>
            <p:cNvPr id="14" name="Image 14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076450" y="3810000"/>
              <a:ext cx="2295525" cy="1333500"/>
            </a:xfrm>
            <a:prstGeom prst="rect">
              <a:avLst/>
            </a:prstGeom>
          </p:spPr>
        </p:pic>
        <p:sp>
          <p:nvSpPr>
            <p:cNvPr id="15" name="TextBox 15"/>
            <p:cNvSpPr txBox="1"/>
            <p:nvPr/>
          </p:nvSpPr>
          <p:spPr>
            <a:xfrm>
              <a:off x="526542" y="5245100"/>
              <a:ext cx="40516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[03] Endpoint Langflow — nama flow + deskripsi agent</a:t>
              </a:r>
            </a:p>
          </p:txBody>
        </p:sp>
      </p:grpSp>
      <p:grpSp>
        <p:nvGrpSpPr>
          <p:cNvPr id="20" name="p08-shot-4"/>
          <p:cNvGrpSpPr/>
          <p:nvPr/>
        </p:nvGrpSpPr>
        <p:grpSpPr>
          <a:xfrm>
            <a:off x="6241542" y="3714750"/>
            <a:ext cx="5417058" cy="1847850"/>
            <a:chOff x="6241542" y="3714750"/>
            <a:chExt cx="5417058" cy="1847850"/>
          </a:xfrm>
        </p:grpSpPr>
        <p:sp>
          <p:nvSpPr>
            <p:cNvPr id="17" name="Rectangle 17"/>
            <p:cNvSpPr/>
            <p:nvPr/>
          </p:nvSpPr>
          <p:spPr>
            <a:xfrm>
              <a:off x="6248400" y="3714750"/>
              <a:ext cx="5410200" cy="1847850"/>
            </a:xfrm>
            <a:prstGeom prst="roundRect">
              <a:avLst>
                <a:gd name="adj" fmla="val 8247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591425" y="3810000"/>
              <a:ext cx="2724150" cy="1333500"/>
            </a:xfrm>
            <a:prstGeom prst="rect">
              <a:avLst/>
            </a:prstGeom>
          </p:spPr>
        </p:pic>
        <p:sp>
          <p:nvSpPr>
            <p:cNvPr id="19" name="TextBox 19"/>
            <p:cNvSpPr txBox="1"/>
            <p:nvPr/>
          </p:nvSpPr>
          <p:spPr>
            <a:xfrm>
              <a:off x="6241542" y="5245100"/>
              <a:ext cx="35195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[04] Output nyata — JSON roadmap 12 minggu</a:t>
              </a:r>
            </a:p>
          </p:txBody>
        </p:sp>
      </p:grpSp>
      <p:grpSp>
        <p:nvGrpSpPr>
          <p:cNvPr id="23" name="p08-conclusion"/>
          <p:cNvGrpSpPr/>
          <p:nvPr/>
        </p:nvGrpSpPr>
        <p:grpSpPr>
          <a:xfrm>
            <a:off x="533400" y="5715000"/>
            <a:ext cx="11125200" cy="609600"/>
            <a:chOff x="533400" y="5715000"/>
            <a:chExt cx="11125200" cy="609600"/>
          </a:xfrm>
        </p:grpSpPr>
        <p:sp>
          <p:nvSpPr>
            <p:cNvPr id="21" name="Rectangle 21"/>
            <p:cNvSpPr/>
            <p:nvPr/>
          </p:nvSpPr>
          <p:spPr>
            <a:xfrm>
              <a:off x="533400" y="5715000"/>
              <a:ext cx="11125200" cy="609600"/>
            </a:xfrm>
            <a:prstGeom prst="roundRect">
              <a:avLst>
                <a:gd name="adj" fmla="val 31250"/>
              </a:avLst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658551" y="5880100"/>
              <a:ext cx="687489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id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Bukan dijawab LLM Bob — agent Langflow yang dieksekusi via MCP</a:t>
              </a:r>
            </a:p>
          </p:txBody>
        </p:sp>
      </p:grpSp>
      <p:grpSp>
        <p:nvGrpSpPr>
          <p:cNvPr id="31" name="p08-footer"/>
          <p:cNvGrpSpPr/>
          <p:nvPr/>
        </p:nvGrpSpPr>
        <p:grpSpPr>
          <a:xfrm>
            <a:off x="533400" y="6477000"/>
            <a:ext cx="11125200" cy="279908"/>
            <a:chOff x="533400" y="6477000"/>
            <a:chExt cx="11125200" cy="279908"/>
          </a:xfrm>
        </p:grpSpPr>
        <p:sp>
          <p:nvSpPr>
            <p:cNvPr id="24" name="Rectangle 24"/>
            <p:cNvSpPr/>
            <p:nvPr/>
          </p:nvSpPr>
          <p:spPr>
            <a:xfrm>
              <a:off x="533400" y="6629400"/>
              <a:ext cx="190500" cy="762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62000" y="6591300"/>
              <a:ext cx="190500" cy="114300"/>
            </a:xfrm>
            <a:prstGeom prst="roundRect">
              <a:avLst>
                <a:gd name="adj" fmla="val 33333"/>
              </a:avLst>
            </a:prstGeom>
            <a:solidFill>
              <a:schemeClr val="accent6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26" name="Rectangle 26"/>
            <p:cNvSpPr/>
            <p:nvPr/>
          </p:nvSpPr>
          <p:spPr>
            <a:xfrm>
              <a:off x="990600" y="6553200"/>
              <a:ext cx="190500" cy="152400"/>
            </a:xfrm>
            <a:prstGeom prst="roundRect">
              <a:avLst>
                <a:gd name="adj" fmla="val 25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27" name="Rectangle 27"/>
            <p:cNvSpPr/>
            <p:nvPr/>
          </p:nvSpPr>
          <p:spPr>
            <a:xfrm>
              <a:off x="1219200" y="6515100"/>
              <a:ext cx="190500" cy="190500"/>
            </a:xfrm>
            <a:prstGeom prst="roundRect">
              <a:avLst>
                <a:gd name="adj" fmla="val 2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28" name="Rectangle 28"/>
            <p:cNvSpPr/>
            <p:nvPr/>
          </p:nvSpPr>
          <p:spPr>
            <a:xfrm>
              <a:off x="1447800" y="6477000"/>
              <a:ext cx="190500" cy="228600"/>
            </a:xfrm>
            <a:prstGeom prst="roundRect">
              <a:avLst>
                <a:gd name="adj" fmla="val 2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29" name="Rectangle 29"/>
            <p:cNvSpPr/>
            <p:nvPr/>
          </p:nvSpPr>
          <p:spPr>
            <a:xfrm>
              <a:off x="11049000" y="6477000"/>
              <a:ext cx="609600" cy="2667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254838" y="6492875"/>
              <a:ext cx="1979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08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09-header"/>
          <p:cNvGrpSpPr/>
          <p:nvPr/>
        </p:nvGrpSpPr>
        <p:grpSpPr>
          <a:xfrm>
            <a:off x="517398" y="511175"/>
            <a:ext cx="11141202" cy="616077"/>
            <a:chOff x="517398" y="511175"/>
            <a:chExt cx="11141202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517398" y="511175"/>
              <a:ext cx="888849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Dampak terukur, AI yang bertanggung jawab</a:t>
              </a:r>
            </a:p>
          </p:txBody>
        </p:sp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391900" y="533400"/>
              <a:ext cx="266700" cy="266700"/>
            </a:xfrm>
            <a:prstGeom prst="rect">
              <a:avLst/>
            </a:prstGeom>
          </p:spPr>
        </p:pic>
      </p:grpSp>
      <p:grpSp>
        <p:nvGrpSpPr>
          <p:cNvPr id="10" name="p09-kpi-1"/>
          <p:cNvGrpSpPr/>
          <p:nvPr/>
        </p:nvGrpSpPr>
        <p:grpSpPr>
          <a:xfrm>
            <a:off x="533400" y="1524000"/>
            <a:ext cx="5334000" cy="723900"/>
            <a:chOff x="533400" y="1524000"/>
            <a:chExt cx="5334000" cy="723900"/>
          </a:xfrm>
        </p:grpSpPr>
        <p:sp>
          <p:nvSpPr>
            <p:cNvPr id="5" name="Rectangle 5"/>
            <p:cNvSpPr/>
            <p:nvPr/>
          </p:nvSpPr>
          <p:spPr>
            <a:xfrm>
              <a:off x="533400" y="1524000"/>
              <a:ext cx="5334000" cy="723900"/>
            </a:xfrm>
            <a:prstGeom prst="roundRect">
              <a:avLst>
                <a:gd name="adj" fmla="val 18421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49808" y="1651000"/>
              <a:ext cx="91064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≥ 15%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55904" y="1993900"/>
              <a:ext cx="39709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Career Goal Progress Rate per minggu (North Star — target)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4876800" y="1790700"/>
              <a:ext cx="800100" cy="1905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975876" y="1784350"/>
              <a:ext cx="6019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id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Skenario</a:t>
              </a:r>
            </a:p>
          </p:txBody>
        </p:sp>
      </p:grpSp>
      <p:grpSp>
        <p:nvGrpSpPr>
          <p:cNvPr id="14" name="p09-kpi-2"/>
          <p:cNvGrpSpPr/>
          <p:nvPr/>
        </p:nvGrpSpPr>
        <p:grpSpPr>
          <a:xfrm>
            <a:off x="533400" y="2343150"/>
            <a:ext cx="5334000" cy="723900"/>
            <a:chOff x="533400" y="2343150"/>
            <a:chExt cx="5334000" cy="723900"/>
          </a:xfrm>
        </p:grpSpPr>
        <p:sp>
          <p:nvSpPr>
            <p:cNvPr id="11" name="Rectangle 11"/>
            <p:cNvSpPr/>
            <p:nvPr/>
          </p:nvSpPr>
          <p:spPr>
            <a:xfrm>
              <a:off x="533400" y="2343150"/>
              <a:ext cx="5334000" cy="723900"/>
            </a:xfrm>
            <a:prstGeom prst="roundRect">
              <a:avLst>
                <a:gd name="adj" fmla="val 18421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9808" y="2470150"/>
              <a:ext cx="147621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&lt; 1 menit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5904" y="2813050"/>
              <a:ext cx="37789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Roadmap personal — dari 2–4 jam riset (bukti demo e2e)</a:t>
              </a:r>
            </a:p>
          </p:txBody>
        </p:sp>
      </p:grpSp>
      <p:grpSp>
        <p:nvGrpSpPr>
          <p:cNvPr id="18" name="p09-kpi-3"/>
          <p:cNvGrpSpPr/>
          <p:nvPr/>
        </p:nvGrpSpPr>
        <p:grpSpPr>
          <a:xfrm>
            <a:off x="533400" y="3162300"/>
            <a:ext cx="5334000" cy="723900"/>
            <a:chOff x="533400" y="3162300"/>
            <a:chExt cx="5334000" cy="723900"/>
          </a:xfrm>
        </p:grpSpPr>
        <p:sp>
          <p:nvSpPr>
            <p:cNvPr id="15" name="Rectangle 15"/>
            <p:cNvSpPr/>
            <p:nvPr/>
          </p:nvSpPr>
          <p:spPr>
            <a:xfrm>
              <a:off x="533400" y="3162300"/>
              <a:ext cx="5334000" cy="723900"/>
            </a:xfrm>
            <a:prstGeom prst="roundRect">
              <a:avLst>
                <a:gd name="adj" fmla="val 18421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49808" y="3289300"/>
              <a:ext cx="131053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+15–20%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5904" y="3632200"/>
              <a:ext cx="30646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Retensi vs spaced repetition tetap (Zaidi et al.)</a:t>
              </a:r>
            </a:p>
          </p:txBody>
        </p:sp>
      </p:grpSp>
      <p:grpSp>
        <p:nvGrpSpPr>
          <p:cNvPr id="22" name="p09-kpi-4"/>
          <p:cNvGrpSpPr/>
          <p:nvPr/>
        </p:nvGrpSpPr>
        <p:grpSpPr>
          <a:xfrm>
            <a:off x="533400" y="3981450"/>
            <a:ext cx="5334000" cy="723900"/>
            <a:chOff x="533400" y="3981450"/>
            <a:chExt cx="5334000" cy="723900"/>
          </a:xfrm>
        </p:grpSpPr>
        <p:sp>
          <p:nvSpPr>
            <p:cNvPr id="19" name="Rectangle 19"/>
            <p:cNvSpPr/>
            <p:nvPr/>
          </p:nvSpPr>
          <p:spPr>
            <a:xfrm>
              <a:off x="533400" y="3981450"/>
              <a:ext cx="5334000" cy="723900"/>
            </a:xfrm>
            <a:prstGeom prst="roundRect">
              <a:avLst>
                <a:gd name="adj" fmla="val 18421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49808" y="4108450"/>
              <a:ext cx="144639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g = 1.613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55904" y="4451350"/>
              <a:ext cx="339739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Meta-analisis AI &amp; self-regulated learning (32 studi)</a:t>
              </a:r>
            </a:p>
          </p:txBody>
        </p:sp>
      </p:grpSp>
      <p:grpSp>
        <p:nvGrpSpPr>
          <p:cNvPr id="26" name="p09-kpi-5"/>
          <p:cNvGrpSpPr/>
          <p:nvPr/>
        </p:nvGrpSpPr>
        <p:grpSpPr>
          <a:xfrm>
            <a:off x="533400" y="4800600"/>
            <a:ext cx="5334000" cy="723900"/>
            <a:chOff x="533400" y="4800600"/>
            <a:chExt cx="5334000" cy="723900"/>
          </a:xfrm>
        </p:grpSpPr>
        <p:sp>
          <p:nvSpPr>
            <p:cNvPr id="23" name="Rectangle 23"/>
            <p:cNvSpPr/>
            <p:nvPr/>
          </p:nvSpPr>
          <p:spPr>
            <a:xfrm>
              <a:off x="533400" y="4800600"/>
              <a:ext cx="5334000" cy="723900"/>
            </a:xfrm>
            <a:prstGeom prst="roundRect">
              <a:avLst>
                <a:gd name="adj" fmla="val 18421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49808" y="4927600"/>
              <a:ext cx="81330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80%+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55904" y="5270500"/>
              <a:ext cx="42168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Peserta memilih Feynman vs membaca pasif (arXiv 2506.09055)</a:t>
              </a:r>
            </a:p>
          </p:txBody>
        </p:sp>
      </p:grpSp>
      <p:grpSp>
        <p:nvGrpSpPr>
          <p:cNvPr id="32" name="p09-kpi-6"/>
          <p:cNvGrpSpPr/>
          <p:nvPr/>
        </p:nvGrpSpPr>
        <p:grpSpPr>
          <a:xfrm>
            <a:off x="533400" y="5619750"/>
            <a:ext cx="5334000" cy="723900"/>
            <a:chOff x="533400" y="5619750"/>
            <a:chExt cx="5334000" cy="723900"/>
          </a:xfrm>
        </p:grpSpPr>
        <p:sp>
          <p:nvSpPr>
            <p:cNvPr id="27" name="Rectangle 27"/>
            <p:cNvSpPr/>
            <p:nvPr/>
          </p:nvSpPr>
          <p:spPr>
            <a:xfrm>
              <a:off x="533400" y="5619750"/>
              <a:ext cx="5334000" cy="723900"/>
            </a:xfrm>
            <a:prstGeom prst="roundRect">
              <a:avLst>
                <a:gd name="adj" fmla="val 18421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49808" y="5746750"/>
              <a:ext cx="90021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1.000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55904" y="6089650"/>
              <a:ext cx="32776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Pengguna aktif per bulan pada bulan ke-6 (target)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4876800" y="5886450"/>
              <a:ext cx="800100" cy="1905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975876" y="5880100"/>
              <a:ext cx="6019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id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Skenario</a:t>
              </a:r>
            </a:p>
          </p:txBody>
        </p:sp>
      </p:grpSp>
      <p:grpSp>
        <p:nvGrpSpPr>
          <p:cNvPr id="40" name="p09-guard-1"/>
          <p:cNvGrpSpPr/>
          <p:nvPr/>
        </p:nvGrpSpPr>
        <p:grpSpPr>
          <a:xfrm>
            <a:off x="6248400" y="1524000"/>
            <a:ext cx="5410200" cy="1085850"/>
            <a:chOff x="6248400" y="1524000"/>
            <a:chExt cx="5410200" cy="1085850"/>
          </a:xfrm>
        </p:grpSpPr>
        <p:sp>
          <p:nvSpPr>
            <p:cNvPr id="33" name="Rectangle 33"/>
            <p:cNvSpPr/>
            <p:nvPr/>
          </p:nvSpPr>
          <p:spPr>
            <a:xfrm>
              <a:off x="6248400" y="1524000"/>
              <a:ext cx="5410200" cy="1085850"/>
            </a:xfrm>
            <a:prstGeom prst="roundRect">
              <a:avLst>
                <a:gd name="adj" fmla="val 14035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grpSp>
          <p:nvGrpSpPr>
            <p:cNvPr id="37" name="Group 37"/>
            <p:cNvGrpSpPr/>
            <p:nvPr/>
          </p:nvGrpSpPr>
          <p:grpSpPr>
            <a:xfrm>
              <a:off x="6540500" y="1828800"/>
              <a:ext cx="177800" cy="228600"/>
              <a:chOff x="6540500" y="1828800"/>
              <a:chExt cx="177800" cy="22860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6540500" y="1930400"/>
                <a:ext cx="1778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127000">
                    <a:moveTo>
                      <a:pt x="0" y="25400"/>
                    </a:moveTo>
                    <a:cubicBezTo>
                      <a:pt x="0" y="11372"/>
                      <a:pt x="11372" y="0"/>
                      <a:pt x="25400" y="0"/>
                    </a:cubicBezTo>
                    <a:lnTo>
                      <a:pt x="152400" y="0"/>
                    </a:lnTo>
                    <a:cubicBezTo>
                      <a:pt x="166428" y="0"/>
                      <a:pt x="177800" y="11372"/>
                      <a:pt x="177800" y="25400"/>
                    </a:cubicBezTo>
                    <a:lnTo>
                      <a:pt x="177800" y="101600"/>
                    </a:lnTo>
                    <a:cubicBezTo>
                      <a:pt x="177800" y="115628"/>
                      <a:pt x="166428" y="127000"/>
                      <a:pt x="152400" y="127000"/>
                    </a:cubicBezTo>
                    <a:lnTo>
                      <a:pt x="25400" y="127000"/>
                    </a:lnTo>
                    <a:cubicBezTo>
                      <a:pt x="11372" y="127000"/>
                      <a:pt x="0" y="115628"/>
                      <a:pt x="0" y="101600"/>
                    </a:cubicBezTo>
                    <a:lnTo>
                      <a:pt x="0" y="2540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35" name="Freeform 35"/>
              <p:cNvSpPr/>
              <p:nvPr/>
            </p:nvSpPr>
            <p:spPr>
              <a:xfrm>
                <a:off x="6616700" y="1981200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0" y="12700"/>
                    </a:moveTo>
                    <a:cubicBezTo>
                      <a:pt x="0" y="19714"/>
                      <a:pt x="5686" y="25400"/>
                      <a:pt x="12700" y="25400"/>
                    </a:cubicBezTo>
                    <a:cubicBezTo>
                      <a:pt x="19714" y="25400"/>
                      <a:pt x="25400" y="19714"/>
                      <a:pt x="25400" y="12700"/>
                    </a:cubicBezTo>
                    <a:cubicBezTo>
                      <a:pt x="25400" y="5686"/>
                      <a:pt x="19714" y="0"/>
                      <a:pt x="12700" y="0"/>
                    </a:cubicBezTo>
                    <a:cubicBezTo>
                      <a:pt x="5686" y="0"/>
                      <a:pt x="0" y="5686"/>
                      <a:pt x="0" y="12700"/>
                    </a:cubicBez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36" name="Freeform 36"/>
              <p:cNvSpPr/>
              <p:nvPr/>
            </p:nvSpPr>
            <p:spPr>
              <a:xfrm>
                <a:off x="6578600" y="1828800"/>
                <a:ext cx="1016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101600">
                    <a:moveTo>
                      <a:pt x="0" y="101600"/>
                    </a:moveTo>
                    <a:lnTo>
                      <a:pt x="0" y="50800"/>
                    </a:lnTo>
                    <a:cubicBezTo>
                      <a:pt x="0" y="22744"/>
                      <a:pt x="22744" y="0"/>
                      <a:pt x="50800" y="0"/>
                    </a:cubicBezTo>
                    <a:cubicBezTo>
                      <a:pt x="78856" y="0"/>
                      <a:pt x="101600" y="22744"/>
                      <a:pt x="101600" y="50800"/>
                    </a:cubicBezTo>
                    <a:lnTo>
                      <a:pt x="101600" y="10160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  <p:txBody>
              <a:bodyPr/>
              <a:lstStyle/>
              <a:p>
                <a:endParaRPr lang="en-ID"/>
              </a:p>
            </p:txBody>
          </p:sp>
        </p:grpSp>
        <p:sp>
          <p:nvSpPr>
            <p:cNvPr id="38" name="TextBox 38"/>
            <p:cNvSpPr txBox="1"/>
            <p:nvPr/>
          </p:nvSpPr>
          <p:spPr>
            <a:xfrm>
              <a:off x="6925056" y="1689100"/>
              <a:ext cx="68872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Privasi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927342" y="2025650"/>
              <a:ext cx="32322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data progres milik user, tanpa penjualan PII</a:t>
              </a:r>
            </a:p>
          </p:txBody>
        </p:sp>
      </p:grpSp>
      <p:grpSp>
        <p:nvGrpSpPr>
          <p:cNvPr id="49" name="p09-guard-2"/>
          <p:cNvGrpSpPr/>
          <p:nvPr/>
        </p:nvGrpSpPr>
        <p:grpSpPr>
          <a:xfrm>
            <a:off x="6248400" y="2724150"/>
            <a:ext cx="5410200" cy="1085850"/>
            <a:chOff x="6248400" y="2724150"/>
            <a:chExt cx="5410200" cy="1085850"/>
          </a:xfrm>
        </p:grpSpPr>
        <p:sp>
          <p:nvSpPr>
            <p:cNvPr id="41" name="Rectangle 41"/>
            <p:cNvSpPr/>
            <p:nvPr/>
          </p:nvSpPr>
          <p:spPr>
            <a:xfrm>
              <a:off x="6248400" y="2724150"/>
              <a:ext cx="5410200" cy="1085850"/>
            </a:xfrm>
            <a:prstGeom prst="roundRect">
              <a:avLst>
                <a:gd name="adj" fmla="val 14035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grpSp>
          <p:nvGrpSpPr>
            <p:cNvPr id="46" name="Group 46"/>
            <p:cNvGrpSpPr/>
            <p:nvPr/>
          </p:nvGrpSpPr>
          <p:grpSpPr>
            <a:xfrm>
              <a:off x="6515100" y="3028950"/>
              <a:ext cx="228599" cy="228600"/>
              <a:chOff x="6515100" y="3028950"/>
              <a:chExt cx="228599" cy="228600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6540500" y="3028950"/>
                <a:ext cx="1016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101600">
                    <a:moveTo>
                      <a:pt x="0" y="50800"/>
                    </a:moveTo>
                    <a:cubicBezTo>
                      <a:pt x="0" y="78856"/>
                      <a:pt x="22744" y="101600"/>
                      <a:pt x="50800" y="101600"/>
                    </a:cubicBezTo>
                    <a:cubicBezTo>
                      <a:pt x="78856" y="101600"/>
                      <a:pt x="101600" y="78856"/>
                      <a:pt x="101600" y="50800"/>
                    </a:cubicBezTo>
                    <a:cubicBezTo>
                      <a:pt x="101600" y="22744"/>
                      <a:pt x="78856" y="0"/>
                      <a:pt x="50800" y="0"/>
                    </a:cubicBezTo>
                    <a:cubicBezTo>
                      <a:pt x="22744" y="0"/>
                      <a:pt x="0" y="22744"/>
                      <a:pt x="0" y="50800"/>
                    </a:cubicBez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43" name="Freeform 43"/>
              <p:cNvSpPr/>
              <p:nvPr/>
            </p:nvSpPr>
            <p:spPr>
              <a:xfrm>
                <a:off x="6515100" y="3181350"/>
                <a:ext cx="1524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76200">
                    <a:moveTo>
                      <a:pt x="0" y="76200"/>
                    </a:moveTo>
                    <a:lnTo>
                      <a:pt x="0" y="50800"/>
                    </a:lnTo>
                    <a:cubicBezTo>
                      <a:pt x="0" y="22744"/>
                      <a:pt x="22744" y="0"/>
                      <a:pt x="50800" y="0"/>
                    </a:cubicBezTo>
                    <a:lnTo>
                      <a:pt x="101600" y="0"/>
                    </a:lnTo>
                    <a:cubicBezTo>
                      <a:pt x="129656" y="0"/>
                      <a:pt x="152400" y="22744"/>
                      <a:pt x="152400" y="50800"/>
                    </a:cubicBezTo>
                    <a:lnTo>
                      <a:pt x="152400" y="7620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44" name="Freeform 44"/>
              <p:cNvSpPr/>
              <p:nvPr/>
            </p:nvSpPr>
            <p:spPr>
              <a:xfrm>
                <a:off x="6680199" y="3030601"/>
                <a:ext cx="38200" cy="98425"/>
              </a:xfrm>
              <a:custGeom>
                <a:avLst/>
                <a:gdLst/>
                <a:ahLst/>
                <a:cxnLst/>
                <a:rect l="l" t="t" r="r" b="b"/>
                <a:pathLst>
                  <a:path w="38200" h="98425">
                    <a:moveTo>
                      <a:pt x="0" y="0"/>
                    </a:moveTo>
                    <a:cubicBezTo>
                      <a:pt x="22478" y="5755"/>
                      <a:pt x="38200" y="26009"/>
                      <a:pt x="38200" y="49212"/>
                    </a:cubicBezTo>
                    <a:cubicBezTo>
                      <a:pt x="38200" y="72415"/>
                      <a:pt x="22478" y="92670"/>
                      <a:pt x="0" y="98425"/>
                    </a:cubicBez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45" name="Freeform 45"/>
              <p:cNvSpPr/>
              <p:nvPr/>
            </p:nvSpPr>
            <p:spPr>
              <a:xfrm>
                <a:off x="6705599" y="3183255"/>
                <a:ext cx="38100" cy="74295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74295">
                    <a:moveTo>
                      <a:pt x="38100" y="74295"/>
                    </a:moveTo>
                    <a:lnTo>
                      <a:pt x="38100" y="48895"/>
                    </a:lnTo>
                    <a:cubicBezTo>
                      <a:pt x="37967" y="25839"/>
                      <a:pt x="22324" y="5764"/>
                      <a:pt x="0" y="0"/>
                    </a:cubicBez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  <p:txBody>
              <a:bodyPr/>
              <a:lstStyle/>
              <a:p>
                <a:endParaRPr lang="en-ID"/>
              </a:p>
            </p:txBody>
          </p:sp>
        </p:grpSp>
        <p:sp>
          <p:nvSpPr>
            <p:cNvPr id="47" name="TextBox 47"/>
            <p:cNvSpPr txBox="1"/>
            <p:nvPr/>
          </p:nvSpPr>
          <p:spPr>
            <a:xfrm>
              <a:off x="6925056" y="2889250"/>
              <a:ext cx="15437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Human-in-loop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927342" y="3225800"/>
              <a:ext cx="39183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scaffold memaksa berpikir (counter offloading, BJET)</a:t>
              </a:r>
            </a:p>
          </p:txBody>
        </p:sp>
      </p:grpSp>
      <p:grpSp>
        <p:nvGrpSpPr>
          <p:cNvPr id="54" name="p09-guard-3"/>
          <p:cNvGrpSpPr/>
          <p:nvPr/>
        </p:nvGrpSpPr>
        <p:grpSpPr>
          <a:xfrm>
            <a:off x="6248400" y="3924300"/>
            <a:ext cx="5410200" cy="1085850"/>
            <a:chOff x="6248400" y="3924300"/>
            <a:chExt cx="5410200" cy="1085850"/>
          </a:xfrm>
        </p:grpSpPr>
        <p:sp>
          <p:nvSpPr>
            <p:cNvPr id="50" name="Rectangle 50"/>
            <p:cNvSpPr/>
            <p:nvPr/>
          </p:nvSpPr>
          <p:spPr>
            <a:xfrm>
              <a:off x="6248400" y="3924300"/>
              <a:ext cx="5410200" cy="1085850"/>
            </a:xfrm>
            <a:prstGeom prst="roundRect">
              <a:avLst>
                <a:gd name="adj" fmla="val 14035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51" name="Freeform 51"/>
            <p:cNvSpPr/>
            <p:nvPr/>
          </p:nvSpPr>
          <p:spPr>
            <a:xfrm>
              <a:off x="6515100" y="4267200"/>
              <a:ext cx="228599" cy="152400"/>
            </a:xfrm>
            <a:custGeom>
              <a:avLst/>
              <a:gdLst/>
              <a:ahLst/>
              <a:cxnLst/>
              <a:rect l="l" t="t" r="r" b="b"/>
              <a:pathLst>
                <a:path w="228599" h="152400">
                  <a:moveTo>
                    <a:pt x="0" y="76200"/>
                  </a:moveTo>
                  <a:lnTo>
                    <a:pt x="57150" y="76200"/>
                  </a:lnTo>
                  <a:lnTo>
                    <a:pt x="76200" y="0"/>
                  </a:lnTo>
                  <a:lnTo>
                    <a:pt x="127000" y="152400"/>
                  </a:lnTo>
                  <a:lnTo>
                    <a:pt x="152400" y="38100"/>
                  </a:lnTo>
                  <a:lnTo>
                    <a:pt x="171450" y="76200"/>
                  </a:lnTo>
                  <a:lnTo>
                    <a:pt x="228599" y="76200"/>
                  </a:lnTo>
                </a:path>
              </a:pathLst>
            </a:custGeom>
            <a:noFill/>
            <a:ln w="25400">
              <a:solidFill>
                <a:schemeClr val="accent3"/>
              </a:solidFill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925056" y="4089400"/>
              <a:ext cx="104170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Wellbeing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927342" y="4425950"/>
              <a:ext cx="41965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deteksi burnout + rujukan manusia, bukan nasihat medis</a:t>
              </a:r>
            </a:p>
          </p:txBody>
        </p:sp>
      </p:grpSp>
      <p:grpSp>
        <p:nvGrpSpPr>
          <p:cNvPr id="59" name="p09-guard-4"/>
          <p:cNvGrpSpPr/>
          <p:nvPr/>
        </p:nvGrpSpPr>
        <p:grpSpPr>
          <a:xfrm>
            <a:off x="6248400" y="5124450"/>
            <a:ext cx="5410200" cy="1085850"/>
            <a:chOff x="6248400" y="5124450"/>
            <a:chExt cx="5410200" cy="1085850"/>
          </a:xfrm>
        </p:grpSpPr>
        <p:sp>
          <p:nvSpPr>
            <p:cNvPr id="55" name="Rectangle 55"/>
            <p:cNvSpPr/>
            <p:nvPr/>
          </p:nvSpPr>
          <p:spPr>
            <a:xfrm>
              <a:off x="6248400" y="5124450"/>
              <a:ext cx="5410200" cy="1085850"/>
            </a:xfrm>
            <a:prstGeom prst="roundRect">
              <a:avLst>
                <a:gd name="adj" fmla="val 14035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56" name="Freeform 56"/>
            <p:cNvSpPr/>
            <p:nvPr/>
          </p:nvSpPr>
          <p:spPr>
            <a:xfrm>
              <a:off x="6509811" y="5429250"/>
              <a:ext cx="239177" cy="228599"/>
            </a:xfrm>
            <a:custGeom>
              <a:avLst/>
              <a:gdLst/>
              <a:ahLst/>
              <a:cxnLst/>
              <a:rect l="l" t="t" r="r" b="b"/>
              <a:pathLst>
                <a:path w="239177" h="228599">
                  <a:moveTo>
                    <a:pt x="119589" y="0"/>
                  </a:moveTo>
                  <a:cubicBezTo>
                    <a:pt x="149254" y="26245"/>
                    <a:pt x="187971" y="39910"/>
                    <a:pt x="227538" y="38100"/>
                  </a:cubicBezTo>
                  <a:cubicBezTo>
                    <a:pt x="239177" y="77692"/>
                    <a:pt x="234262" y="120312"/>
                    <a:pt x="213916" y="156216"/>
                  </a:cubicBezTo>
                  <a:cubicBezTo>
                    <a:pt x="193571" y="192120"/>
                    <a:pt x="159534" y="218238"/>
                    <a:pt x="119589" y="228599"/>
                  </a:cubicBezTo>
                  <a:cubicBezTo>
                    <a:pt x="79643" y="218238"/>
                    <a:pt x="45606" y="192120"/>
                    <a:pt x="25261" y="156216"/>
                  </a:cubicBezTo>
                  <a:cubicBezTo>
                    <a:pt x="4915" y="120312"/>
                    <a:pt x="0" y="77692"/>
                    <a:pt x="11639" y="38100"/>
                  </a:cubicBezTo>
                  <a:cubicBezTo>
                    <a:pt x="51206" y="39910"/>
                    <a:pt x="89924" y="26245"/>
                    <a:pt x="119589" y="0"/>
                  </a:cubicBezTo>
                </a:path>
              </a:pathLst>
            </a:custGeom>
            <a:noFill/>
            <a:ln w="25400">
              <a:solidFill>
                <a:schemeClr val="accent3"/>
              </a:solidFill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925056" y="5289550"/>
              <a:ext cx="13184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Transparansi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927342" y="5626100"/>
              <a:ext cx="37303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setiap pilihan pedagogis tertaut paper terpublikasi</a:t>
              </a:r>
            </a:p>
          </p:txBody>
        </p:sp>
      </p:grpSp>
      <p:grpSp>
        <p:nvGrpSpPr>
          <p:cNvPr id="67" name="p09-footer"/>
          <p:cNvGrpSpPr/>
          <p:nvPr/>
        </p:nvGrpSpPr>
        <p:grpSpPr>
          <a:xfrm>
            <a:off x="533400" y="6477000"/>
            <a:ext cx="11125200" cy="279908"/>
            <a:chOff x="533400" y="6477000"/>
            <a:chExt cx="11125200" cy="279908"/>
          </a:xfrm>
        </p:grpSpPr>
        <p:sp>
          <p:nvSpPr>
            <p:cNvPr id="60" name="Rectangle 60"/>
            <p:cNvSpPr/>
            <p:nvPr/>
          </p:nvSpPr>
          <p:spPr>
            <a:xfrm>
              <a:off x="533400" y="6629400"/>
              <a:ext cx="190500" cy="762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61" name="Rectangle 61"/>
            <p:cNvSpPr/>
            <p:nvPr/>
          </p:nvSpPr>
          <p:spPr>
            <a:xfrm>
              <a:off x="762000" y="6591300"/>
              <a:ext cx="190500" cy="114300"/>
            </a:xfrm>
            <a:prstGeom prst="roundRect">
              <a:avLst>
                <a:gd name="adj" fmla="val 33333"/>
              </a:avLst>
            </a:prstGeom>
            <a:solidFill>
              <a:schemeClr val="accent6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62" name="Rectangle 62"/>
            <p:cNvSpPr/>
            <p:nvPr/>
          </p:nvSpPr>
          <p:spPr>
            <a:xfrm>
              <a:off x="990600" y="6553200"/>
              <a:ext cx="190500" cy="152400"/>
            </a:xfrm>
            <a:prstGeom prst="roundRect">
              <a:avLst>
                <a:gd name="adj" fmla="val 25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63" name="Rectangle 63"/>
            <p:cNvSpPr/>
            <p:nvPr/>
          </p:nvSpPr>
          <p:spPr>
            <a:xfrm>
              <a:off x="1219200" y="6515100"/>
              <a:ext cx="190500" cy="190500"/>
            </a:xfrm>
            <a:prstGeom prst="roundRect">
              <a:avLst>
                <a:gd name="adj" fmla="val 2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64" name="Rectangle 64"/>
            <p:cNvSpPr/>
            <p:nvPr/>
          </p:nvSpPr>
          <p:spPr>
            <a:xfrm>
              <a:off x="1447800" y="6477000"/>
              <a:ext cx="190500" cy="228600"/>
            </a:xfrm>
            <a:prstGeom prst="roundRect">
              <a:avLst>
                <a:gd name="adj" fmla="val 2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65" name="Rectangle 65"/>
            <p:cNvSpPr/>
            <p:nvPr/>
          </p:nvSpPr>
          <p:spPr>
            <a:xfrm>
              <a:off x="11049000" y="6477000"/>
              <a:ext cx="609600" cy="2667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254838" y="6492875"/>
              <a:ext cx="1979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09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10-header"/>
          <p:cNvGrpSpPr/>
          <p:nvPr/>
        </p:nvGrpSpPr>
        <p:grpSpPr>
          <a:xfrm>
            <a:off x="517398" y="511175"/>
            <a:ext cx="11141202" cy="616077"/>
            <a:chOff x="517398" y="511175"/>
            <a:chExt cx="11141202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517398" y="511175"/>
              <a:ext cx="936474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MVP live — 5 Agent + web app dalam 3–6 bulan</a:t>
              </a:r>
            </a:p>
          </p:txBody>
        </p:sp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391900" y="533400"/>
              <a:ext cx="266700" cy="266700"/>
            </a:xfrm>
            <a:prstGeom prst="rect">
              <a:avLst/>
            </a:prstGeom>
          </p:spPr>
        </p:pic>
      </p:grpSp>
      <p:grpSp>
        <p:nvGrpSpPr>
          <p:cNvPr id="16" name="p10-done-card"/>
          <p:cNvGrpSpPr/>
          <p:nvPr/>
        </p:nvGrpSpPr>
        <p:grpSpPr>
          <a:xfrm>
            <a:off x="533400" y="1600200"/>
            <a:ext cx="5334000" cy="3810000"/>
            <a:chOff x="533400" y="1600200"/>
            <a:chExt cx="5334000" cy="3810000"/>
          </a:xfrm>
        </p:grpSpPr>
        <p:sp>
          <p:nvSpPr>
            <p:cNvPr id="5" name="Rectangle 5"/>
            <p:cNvSpPr/>
            <p:nvPr/>
          </p:nvSpPr>
          <p:spPr>
            <a:xfrm>
              <a:off x="533400" y="1600200"/>
              <a:ext cx="5334000" cy="3810000"/>
            </a:xfrm>
            <a:prstGeom prst="roundRect">
              <a:avLst>
                <a:gd name="adj" fmla="val 5000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6" name="Freeform 6"/>
            <p:cNvSpPr/>
            <p:nvPr/>
          </p:nvSpPr>
          <p:spPr>
            <a:xfrm>
              <a:off x="825500" y="1974850"/>
              <a:ext cx="190500" cy="127000"/>
            </a:xfrm>
            <a:custGeom>
              <a:avLst/>
              <a:gdLst/>
              <a:ahLst/>
              <a:cxnLst/>
              <a:rect l="l" t="t" r="r" b="b"/>
              <a:pathLst>
                <a:path w="190500" h="127000">
                  <a:moveTo>
                    <a:pt x="0" y="63500"/>
                  </a:moveTo>
                  <a:lnTo>
                    <a:pt x="63500" y="127000"/>
                  </a:lnTo>
                  <a:lnTo>
                    <a:pt x="190500" y="0"/>
                  </a:lnTo>
                </a:path>
              </a:pathLst>
            </a:custGeom>
            <a:noFill/>
            <a:ln w="25400">
              <a:solidFill>
                <a:schemeClr val="accent3"/>
              </a:solidFill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30808" y="1854200"/>
              <a:ext cx="95696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Selesai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809625" y="2619375"/>
              <a:ext cx="142875" cy="95250"/>
            </a:xfrm>
            <a:custGeom>
              <a:avLst/>
              <a:gdLst/>
              <a:ahLst/>
              <a:cxnLst/>
              <a:rect l="l" t="t" r="r" b="b"/>
              <a:pathLst>
                <a:path w="142875" h="95250">
                  <a:moveTo>
                    <a:pt x="0" y="47625"/>
                  </a:moveTo>
                  <a:lnTo>
                    <a:pt x="47625" y="95250"/>
                  </a:lnTo>
                  <a:lnTo>
                    <a:pt x="142875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35380" y="2584450"/>
              <a:ext cx="19530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Goal Agent e2e verified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809625" y="3190875"/>
              <a:ext cx="142875" cy="95250"/>
            </a:xfrm>
            <a:custGeom>
              <a:avLst/>
              <a:gdLst/>
              <a:ahLst/>
              <a:cxnLst/>
              <a:rect l="l" t="t" r="r" b="b"/>
              <a:pathLst>
                <a:path w="142875" h="95250">
                  <a:moveTo>
                    <a:pt x="0" y="47625"/>
                  </a:moveTo>
                  <a:lnTo>
                    <a:pt x="47625" y="95250"/>
                  </a:lnTo>
                  <a:lnTo>
                    <a:pt x="142875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35380" y="3155950"/>
              <a:ext cx="23194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Infra MCP + Langflow + Bob</a:t>
              </a:r>
            </a:p>
          </p:txBody>
        </p:sp>
        <p:sp>
          <p:nvSpPr>
            <p:cNvPr id="12" name="Freeform 12"/>
            <p:cNvSpPr/>
            <p:nvPr/>
          </p:nvSpPr>
          <p:spPr>
            <a:xfrm>
              <a:off x="809625" y="3762375"/>
              <a:ext cx="142875" cy="95250"/>
            </a:xfrm>
            <a:custGeom>
              <a:avLst/>
              <a:gdLst/>
              <a:ahLst/>
              <a:cxnLst/>
              <a:rect l="l" t="t" r="r" b="b"/>
              <a:pathLst>
                <a:path w="142875" h="95250">
                  <a:moveTo>
                    <a:pt x="0" y="47625"/>
                  </a:moveTo>
                  <a:lnTo>
                    <a:pt x="47625" y="95250"/>
                  </a:lnTo>
                  <a:lnTo>
                    <a:pt x="142875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35380" y="3727450"/>
              <a:ext cx="266284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Dokumentasi + submission draft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809625" y="4333875"/>
              <a:ext cx="142875" cy="95250"/>
            </a:xfrm>
            <a:custGeom>
              <a:avLst/>
              <a:gdLst/>
              <a:ahLst/>
              <a:cxnLst/>
              <a:rect l="l" t="t" r="r" b="b"/>
              <a:pathLst>
                <a:path w="142875" h="95250">
                  <a:moveTo>
                    <a:pt x="0" y="47625"/>
                  </a:moveTo>
                  <a:lnTo>
                    <a:pt x="47625" y="95250"/>
                  </a:lnTo>
                  <a:lnTo>
                    <a:pt x="142875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35380" y="4298950"/>
              <a:ext cx="25710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Verification scripts (flow + e2e)</a:t>
              </a:r>
            </a:p>
          </p:txBody>
        </p:sp>
      </p:grpSp>
      <p:grpSp>
        <p:nvGrpSpPr>
          <p:cNvPr id="35" name="p10-next-card"/>
          <p:cNvGrpSpPr/>
          <p:nvPr/>
        </p:nvGrpSpPr>
        <p:grpSpPr>
          <a:xfrm>
            <a:off x="6248400" y="1600200"/>
            <a:ext cx="5410200" cy="3810000"/>
            <a:chOff x="6248400" y="1600200"/>
            <a:chExt cx="5410200" cy="3810000"/>
          </a:xfrm>
        </p:grpSpPr>
        <p:sp>
          <p:nvSpPr>
            <p:cNvPr id="17" name="Rectangle 17"/>
            <p:cNvSpPr/>
            <p:nvPr/>
          </p:nvSpPr>
          <p:spPr>
            <a:xfrm>
              <a:off x="6248400" y="1600200"/>
              <a:ext cx="5410200" cy="3810000"/>
            </a:xfrm>
            <a:prstGeom prst="roundRect">
              <a:avLst>
                <a:gd name="adj" fmla="val 5000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grpSp>
          <p:nvGrpSpPr>
            <p:cNvPr id="21" name="Group 21"/>
            <p:cNvGrpSpPr/>
            <p:nvPr/>
          </p:nvGrpSpPr>
          <p:grpSpPr>
            <a:xfrm>
              <a:off x="6523788" y="1936750"/>
              <a:ext cx="207211" cy="207211"/>
              <a:chOff x="6523788" y="1936750"/>
              <a:chExt cx="207211" cy="207211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6527800" y="1936750"/>
                <a:ext cx="203199" cy="203199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203199">
                    <a:moveTo>
                      <a:pt x="0" y="114300"/>
                    </a:moveTo>
                    <a:cubicBezTo>
                      <a:pt x="46611" y="119839"/>
                      <a:pt x="83360" y="156588"/>
                      <a:pt x="88900" y="203199"/>
                    </a:cubicBezTo>
                    <a:cubicBezTo>
                      <a:pt x="111723" y="190042"/>
                      <a:pt x="126130" y="166029"/>
                      <a:pt x="127000" y="139700"/>
                    </a:cubicBezTo>
                    <a:cubicBezTo>
                      <a:pt x="170608" y="124359"/>
                      <a:pt x="200683" y="84260"/>
                      <a:pt x="203199" y="38100"/>
                    </a:cubicBezTo>
                    <a:cubicBezTo>
                      <a:pt x="203199" y="17058"/>
                      <a:pt x="186142" y="0"/>
                      <a:pt x="165100" y="0"/>
                    </a:cubicBezTo>
                    <a:cubicBezTo>
                      <a:pt x="118940" y="2517"/>
                      <a:pt x="78841" y="32591"/>
                      <a:pt x="63500" y="76200"/>
                    </a:cubicBezTo>
                    <a:cubicBezTo>
                      <a:pt x="37170" y="77069"/>
                      <a:pt x="13158" y="91477"/>
                      <a:pt x="0" y="114300"/>
                    </a:cubicBez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19" name="Freeform 19"/>
              <p:cNvSpPr/>
              <p:nvPr/>
            </p:nvSpPr>
            <p:spPr>
              <a:xfrm>
                <a:off x="6523788" y="2063750"/>
                <a:ext cx="80211" cy="80211"/>
              </a:xfrm>
              <a:custGeom>
                <a:avLst/>
                <a:gdLst/>
                <a:ahLst/>
                <a:cxnLst/>
                <a:rect l="l" t="t" r="r" b="b"/>
                <a:pathLst>
                  <a:path w="80211" h="80211">
                    <a:moveTo>
                      <a:pt x="42111" y="0"/>
                    </a:moveTo>
                    <a:cubicBezTo>
                      <a:pt x="15072" y="15265"/>
                      <a:pt x="0" y="45410"/>
                      <a:pt x="4011" y="76200"/>
                    </a:cubicBezTo>
                    <a:cubicBezTo>
                      <a:pt x="34802" y="80211"/>
                      <a:pt x="64946" y="65139"/>
                      <a:pt x="80211" y="38100"/>
                    </a:cubicBez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20" name="Freeform 20"/>
              <p:cNvSpPr/>
              <p:nvPr/>
            </p:nvSpPr>
            <p:spPr>
              <a:xfrm>
                <a:off x="6654800" y="1987550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0" y="12700"/>
                    </a:moveTo>
                    <a:cubicBezTo>
                      <a:pt x="0" y="19714"/>
                      <a:pt x="5686" y="25400"/>
                      <a:pt x="12700" y="25400"/>
                    </a:cubicBezTo>
                    <a:cubicBezTo>
                      <a:pt x="19714" y="25400"/>
                      <a:pt x="25400" y="19714"/>
                      <a:pt x="25400" y="12700"/>
                    </a:cubicBezTo>
                    <a:cubicBezTo>
                      <a:pt x="25400" y="5686"/>
                      <a:pt x="19714" y="0"/>
                      <a:pt x="12700" y="0"/>
                    </a:cubicBezTo>
                    <a:cubicBezTo>
                      <a:pt x="5686" y="0"/>
                      <a:pt x="0" y="5686"/>
                      <a:pt x="0" y="12700"/>
                    </a:cubicBez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  <p:txBody>
              <a:bodyPr/>
              <a:lstStyle/>
              <a:p>
                <a:endParaRPr lang="en-ID"/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6845808" y="1854200"/>
              <a:ext cx="134478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3–6 bulan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477000" y="2552700"/>
              <a:ext cx="228600" cy="228600"/>
            </a:xfrm>
            <a:prstGeom prst="roundRect">
              <a:avLst>
                <a:gd name="adj" fmla="val 25000"/>
              </a:avLst>
            </a:prstGeom>
            <a:noFill/>
            <a:ln w="19050">
              <a:solidFill>
                <a:schemeClr val="accent3"/>
              </a:solidFill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850380" y="2584450"/>
              <a:ext cx="140017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Tutor (Feynman)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477000" y="3028950"/>
              <a:ext cx="228600" cy="228600"/>
            </a:xfrm>
            <a:prstGeom prst="roundRect">
              <a:avLst>
                <a:gd name="adj" fmla="val 25000"/>
              </a:avLst>
            </a:prstGeom>
            <a:noFill/>
            <a:ln w="19050">
              <a:solidFill>
                <a:schemeClr val="accent3"/>
              </a:solidFill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850380" y="3060700"/>
              <a:ext cx="17314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Assessment (hinting)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477000" y="3505200"/>
              <a:ext cx="228600" cy="228600"/>
            </a:xfrm>
            <a:prstGeom prst="roundRect">
              <a:avLst>
                <a:gd name="adj" fmla="val 25000"/>
              </a:avLst>
            </a:prstGeom>
            <a:noFill/>
            <a:ln w="19050">
              <a:solidFill>
                <a:schemeClr val="accent3"/>
              </a:solidFill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850380" y="3536950"/>
              <a:ext cx="179068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Progress (spaced rep)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477000" y="3981450"/>
              <a:ext cx="228600" cy="228600"/>
            </a:xfrm>
            <a:prstGeom prst="roundRect">
              <a:avLst>
                <a:gd name="adj" fmla="val 25000"/>
              </a:avLst>
            </a:prstGeom>
            <a:noFill/>
            <a:ln w="19050">
              <a:solidFill>
                <a:schemeClr val="accent3"/>
              </a:solidFill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850380" y="4013200"/>
              <a:ext cx="18711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Motivator + Wellbeing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477000" y="4457700"/>
              <a:ext cx="228600" cy="228600"/>
            </a:xfrm>
            <a:prstGeom prst="roundRect">
              <a:avLst>
                <a:gd name="adj" fmla="val 25000"/>
              </a:avLst>
            </a:prstGeom>
            <a:noFill/>
            <a:ln w="19050">
              <a:solidFill>
                <a:schemeClr val="accent3"/>
              </a:solidFill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850380" y="4489450"/>
              <a:ext cx="7905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Web App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477000" y="4933950"/>
              <a:ext cx="228600" cy="228600"/>
            </a:xfrm>
            <a:prstGeom prst="roundRect">
              <a:avLst>
                <a:gd name="adj" fmla="val 25000"/>
              </a:avLst>
            </a:prstGeom>
            <a:noFill/>
            <a:ln w="19050">
              <a:solidFill>
                <a:schemeClr val="accent3"/>
              </a:solidFill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850380" y="4965700"/>
              <a:ext cx="18560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WhatsApp bot surface</a:t>
              </a:r>
            </a:p>
          </p:txBody>
        </p:sp>
      </p:grpSp>
      <p:grpSp>
        <p:nvGrpSpPr>
          <p:cNvPr id="48" name="p10-b2b"/>
          <p:cNvGrpSpPr/>
          <p:nvPr/>
        </p:nvGrpSpPr>
        <p:grpSpPr>
          <a:xfrm>
            <a:off x="533400" y="5429250"/>
            <a:ext cx="3581400" cy="895350"/>
            <a:chOff x="533400" y="5429250"/>
            <a:chExt cx="3581400" cy="895350"/>
          </a:xfrm>
        </p:grpSpPr>
        <p:sp>
          <p:nvSpPr>
            <p:cNvPr id="36" name="Rectangle 36"/>
            <p:cNvSpPr/>
            <p:nvPr/>
          </p:nvSpPr>
          <p:spPr>
            <a:xfrm>
              <a:off x="533400" y="5429250"/>
              <a:ext cx="3581400" cy="895350"/>
            </a:xfrm>
            <a:prstGeom prst="roundRect">
              <a:avLst>
                <a:gd name="adj" fmla="val 21277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grpSp>
          <p:nvGrpSpPr>
            <p:cNvPr id="45" name="Group 45"/>
            <p:cNvGrpSpPr/>
            <p:nvPr/>
          </p:nvGrpSpPr>
          <p:grpSpPr>
            <a:xfrm>
              <a:off x="800100" y="5695950"/>
              <a:ext cx="228599" cy="238124"/>
              <a:chOff x="800100" y="5695950"/>
              <a:chExt cx="228599" cy="238124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800100" y="5924549"/>
                <a:ext cx="228599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9525">
                    <a:moveTo>
                      <a:pt x="0" y="0"/>
                    </a:moveTo>
                    <a:lnTo>
                      <a:pt x="228599" y="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38" name="Freeform 38"/>
              <p:cNvSpPr/>
              <p:nvPr/>
            </p:nvSpPr>
            <p:spPr>
              <a:xfrm>
                <a:off x="876300" y="5759450"/>
                <a:ext cx="12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9525">
                    <a:moveTo>
                      <a:pt x="0" y="0"/>
                    </a:moveTo>
                    <a:lnTo>
                      <a:pt x="12700" y="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39" name="Freeform 39"/>
              <p:cNvSpPr/>
              <p:nvPr/>
            </p:nvSpPr>
            <p:spPr>
              <a:xfrm>
                <a:off x="876300" y="5810250"/>
                <a:ext cx="12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9525">
                    <a:moveTo>
                      <a:pt x="0" y="0"/>
                    </a:moveTo>
                    <a:lnTo>
                      <a:pt x="12700" y="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40" name="Freeform 40"/>
              <p:cNvSpPr/>
              <p:nvPr/>
            </p:nvSpPr>
            <p:spPr>
              <a:xfrm>
                <a:off x="876300" y="5861049"/>
                <a:ext cx="12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9525">
                    <a:moveTo>
                      <a:pt x="0" y="0"/>
                    </a:moveTo>
                    <a:lnTo>
                      <a:pt x="12700" y="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41" name="Freeform 41"/>
              <p:cNvSpPr/>
              <p:nvPr/>
            </p:nvSpPr>
            <p:spPr>
              <a:xfrm>
                <a:off x="939800" y="5759450"/>
                <a:ext cx="12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9525">
                    <a:moveTo>
                      <a:pt x="0" y="0"/>
                    </a:moveTo>
                    <a:lnTo>
                      <a:pt x="12700" y="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42" name="Freeform 42"/>
              <p:cNvSpPr/>
              <p:nvPr/>
            </p:nvSpPr>
            <p:spPr>
              <a:xfrm>
                <a:off x="939800" y="5810250"/>
                <a:ext cx="12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9525">
                    <a:moveTo>
                      <a:pt x="0" y="0"/>
                    </a:moveTo>
                    <a:lnTo>
                      <a:pt x="12700" y="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43" name="Freeform 43"/>
              <p:cNvSpPr/>
              <p:nvPr/>
            </p:nvSpPr>
            <p:spPr>
              <a:xfrm>
                <a:off x="939800" y="5861049"/>
                <a:ext cx="12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9525">
                    <a:moveTo>
                      <a:pt x="0" y="0"/>
                    </a:moveTo>
                    <a:lnTo>
                      <a:pt x="12700" y="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44" name="Freeform 44"/>
              <p:cNvSpPr/>
              <p:nvPr/>
            </p:nvSpPr>
            <p:spPr>
              <a:xfrm>
                <a:off x="825500" y="5695950"/>
                <a:ext cx="177800" cy="228599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228599">
                    <a:moveTo>
                      <a:pt x="0" y="228599"/>
                    </a:moveTo>
                    <a:lnTo>
                      <a:pt x="0" y="25400"/>
                    </a:lnTo>
                    <a:cubicBezTo>
                      <a:pt x="0" y="11372"/>
                      <a:pt x="11372" y="0"/>
                      <a:pt x="25400" y="0"/>
                    </a:cubicBezTo>
                    <a:lnTo>
                      <a:pt x="152400" y="0"/>
                    </a:lnTo>
                    <a:cubicBezTo>
                      <a:pt x="166428" y="0"/>
                      <a:pt x="177800" y="11372"/>
                      <a:pt x="177800" y="25400"/>
                    </a:cubicBezTo>
                    <a:lnTo>
                      <a:pt x="177800" y="228599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  <p:txBody>
              <a:bodyPr/>
              <a:lstStyle/>
              <a:p>
                <a:endParaRPr lang="en-ID"/>
              </a:p>
            </p:txBody>
          </p:sp>
        </p:grpSp>
        <p:sp>
          <p:nvSpPr>
            <p:cNvPr id="46" name="TextBox 46"/>
            <p:cNvSpPr txBox="1"/>
            <p:nvPr/>
          </p:nvSpPr>
          <p:spPr>
            <a:xfrm>
              <a:off x="1135380" y="5727700"/>
              <a:ext cx="11645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B2B roadmap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36904" y="5994400"/>
              <a:ext cx="21356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Whitelabel bootcamp &amp; kampus</a:t>
              </a:r>
            </a:p>
          </p:txBody>
        </p:sp>
      </p:grpSp>
      <p:grpSp>
        <p:nvGrpSpPr>
          <p:cNvPr id="55" name="p10-skala"/>
          <p:cNvGrpSpPr/>
          <p:nvPr/>
        </p:nvGrpSpPr>
        <p:grpSpPr>
          <a:xfrm>
            <a:off x="4305300" y="5429250"/>
            <a:ext cx="3581400" cy="895350"/>
            <a:chOff x="4305300" y="5429250"/>
            <a:chExt cx="3581400" cy="895350"/>
          </a:xfrm>
        </p:grpSpPr>
        <p:sp>
          <p:nvSpPr>
            <p:cNvPr id="49" name="Rectangle 49"/>
            <p:cNvSpPr/>
            <p:nvPr/>
          </p:nvSpPr>
          <p:spPr>
            <a:xfrm>
              <a:off x="4305300" y="5429250"/>
              <a:ext cx="3581400" cy="895350"/>
            </a:xfrm>
            <a:prstGeom prst="roundRect">
              <a:avLst>
                <a:gd name="adj" fmla="val 21277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grpSp>
          <p:nvGrpSpPr>
            <p:cNvPr id="52" name="Group 52"/>
            <p:cNvGrpSpPr/>
            <p:nvPr/>
          </p:nvGrpSpPr>
          <p:grpSpPr>
            <a:xfrm>
              <a:off x="4584700" y="5734050"/>
              <a:ext cx="203199" cy="174624"/>
              <a:chOff x="4584700" y="5734050"/>
              <a:chExt cx="203199" cy="174624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4584700" y="5899149"/>
                <a:ext cx="203199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9525">
                    <a:moveTo>
                      <a:pt x="0" y="0"/>
                    </a:moveTo>
                    <a:lnTo>
                      <a:pt x="203199" y="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51" name="Freeform 51"/>
              <p:cNvSpPr/>
              <p:nvPr/>
            </p:nvSpPr>
            <p:spPr>
              <a:xfrm>
                <a:off x="4584700" y="5734050"/>
                <a:ext cx="203199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114300">
                    <a:moveTo>
                      <a:pt x="0" y="114300"/>
                    </a:moveTo>
                    <a:lnTo>
                      <a:pt x="50800" y="38100"/>
                    </a:lnTo>
                    <a:lnTo>
                      <a:pt x="101600" y="63500"/>
                    </a:lnTo>
                    <a:lnTo>
                      <a:pt x="152400" y="0"/>
                    </a:lnTo>
                    <a:lnTo>
                      <a:pt x="203199" y="5080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  <p:txBody>
              <a:bodyPr/>
              <a:lstStyle/>
              <a:p>
                <a:endParaRPr lang="en-ID"/>
              </a:p>
            </p:txBody>
          </p:sp>
        </p:grpSp>
        <p:sp>
          <p:nvSpPr>
            <p:cNvPr id="53" name="TextBox 53"/>
            <p:cNvSpPr txBox="1"/>
            <p:nvPr/>
          </p:nvSpPr>
          <p:spPr>
            <a:xfrm>
              <a:off x="4907280" y="5727700"/>
              <a:ext cx="101445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Skala teknis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4908804" y="5994400"/>
              <a:ext cx="18928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Langflow Cloud multi-tenant</a:t>
              </a:r>
            </a:p>
          </p:txBody>
        </p:sp>
      </p:grpSp>
      <p:grpSp>
        <p:nvGrpSpPr>
          <p:cNvPr id="60" name="p10-moat"/>
          <p:cNvGrpSpPr/>
          <p:nvPr/>
        </p:nvGrpSpPr>
        <p:grpSpPr>
          <a:xfrm>
            <a:off x="8077200" y="5429250"/>
            <a:ext cx="3581400" cy="895350"/>
            <a:chOff x="8077200" y="5429250"/>
            <a:chExt cx="3581400" cy="895350"/>
          </a:xfrm>
        </p:grpSpPr>
        <p:sp>
          <p:nvSpPr>
            <p:cNvPr id="56" name="Rectangle 56"/>
            <p:cNvSpPr/>
            <p:nvPr/>
          </p:nvSpPr>
          <p:spPr>
            <a:xfrm>
              <a:off x="8077200" y="5429250"/>
              <a:ext cx="3581400" cy="895350"/>
            </a:xfrm>
            <a:prstGeom prst="roundRect">
              <a:avLst>
                <a:gd name="adj" fmla="val 21277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57" name="Freeform 57"/>
            <p:cNvSpPr/>
            <p:nvPr/>
          </p:nvSpPr>
          <p:spPr>
            <a:xfrm>
              <a:off x="8338611" y="5695950"/>
              <a:ext cx="239177" cy="228599"/>
            </a:xfrm>
            <a:custGeom>
              <a:avLst/>
              <a:gdLst/>
              <a:ahLst/>
              <a:cxnLst/>
              <a:rect l="l" t="t" r="r" b="b"/>
              <a:pathLst>
                <a:path w="239177" h="228599">
                  <a:moveTo>
                    <a:pt x="119589" y="0"/>
                  </a:moveTo>
                  <a:cubicBezTo>
                    <a:pt x="149254" y="26245"/>
                    <a:pt x="187971" y="39910"/>
                    <a:pt x="227538" y="38100"/>
                  </a:cubicBezTo>
                  <a:cubicBezTo>
                    <a:pt x="239177" y="77692"/>
                    <a:pt x="234262" y="120312"/>
                    <a:pt x="213916" y="156216"/>
                  </a:cubicBezTo>
                  <a:cubicBezTo>
                    <a:pt x="193571" y="192120"/>
                    <a:pt x="159534" y="218238"/>
                    <a:pt x="119589" y="228599"/>
                  </a:cubicBezTo>
                  <a:cubicBezTo>
                    <a:pt x="79643" y="218238"/>
                    <a:pt x="45606" y="192120"/>
                    <a:pt x="25261" y="156216"/>
                  </a:cubicBezTo>
                  <a:cubicBezTo>
                    <a:pt x="4915" y="120312"/>
                    <a:pt x="0" y="77692"/>
                    <a:pt x="11639" y="38100"/>
                  </a:cubicBezTo>
                  <a:cubicBezTo>
                    <a:pt x="51206" y="39910"/>
                    <a:pt x="89924" y="26245"/>
                    <a:pt x="119589" y="0"/>
                  </a:cubicBezTo>
                </a:path>
              </a:pathLst>
            </a:custGeom>
            <a:noFill/>
            <a:ln w="25400">
              <a:solidFill>
                <a:schemeClr val="accent3"/>
              </a:solidFill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679180" y="5727700"/>
              <a:ext cx="47642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Moat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680704" y="5994400"/>
              <a:ext cx="18874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Forgetting curve per domain</a:t>
              </a:r>
            </a:p>
          </p:txBody>
        </p:sp>
      </p:grpSp>
      <p:grpSp>
        <p:nvGrpSpPr>
          <p:cNvPr id="68" name="p10-footer"/>
          <p:cNvGrpSpPr/>
          <p:nvPr/>
        </p:nvGrpSpPr>
        <p:grpSpPr>
          <a:xfrm>
            <a:off x="533400" y="6477000"/>
            <a:ext cx="11125200" cy="279908"/>
            <a:chOff x="533400" y="6477000"/>
            <a:chExt cx="11125200" cy="279908"/>
          </a:xfrm>
        </p:grpSpPr>
        <p:sp>
          <p:nvSpPr>
            <p:cNvPr id="61" name="Rectangle 61"/>
            <p:cNvSpPr/>
            <p:nvPr/>
          </p:nvSpPr>
          <p:spPr>
            <a:xfrm>
              <a:off x="533400" y="6629400"/>
              <a:ext cx="190500" cy="762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62" name="Rectangle 62"/>
            <p:cNvSpPr/>
            <p:nvPr/>
          </p:nvSpPr>
          <p:spPr>
            <a:xfrm>
              <a:off x="762000" y="6591300"/>
              <a:ext cx="190500" cy="114300"/>
            </a:xfrm>
            <a:prstGeom prst="roundRect">
              <a:avLst>
                <a:gd name="adj" fmla="val 33333"/>
              </a:avLst>
            </a:prstGeom>
            <a:solidFill>
              <a:schemeClr val="accent6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63" name="Rectangle 63"/>
            <p:cNvSpPr/>
            <p:nvPr/>
          </p:nvSpPr>
          <p:spPr>
            <a:xfrm>
              <a:off x="990600" y="6553200"/>
              <a:ext cx="190500" cy="152400"/>
            </a:xfrm>
            <a:prstGeom prst="roundRect">
              <a:avLst>
                <a:gd name="adj" fmla="val 25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64" name="Rectangle 64"/>
            <p:cNvSpPr/>
            <p:nvPr/>
          </p:nvSpPr>
          <p:spPr>
            <a:xfrm>
              <a:off x="1219200" y="6515100"/>
              <a:ext cx="190500" cy="190500"/>
            </a:xfrm>
            <a:prstGeom prst="roundRect">
              <a:avLst>
                <a:gd name="adj" fmla="val 2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65" name="Rectangle 65"/>
            <p:cNvSpPr/>
            <p:nvPr/>
          </p:nvSpPr>
          <p:spPr>
            <a:xfrm>
              <a:off x="1447800" y="6477000"/>
              <a:ext cx="190500" cy="228600"/>
            </a:xfrm>
            <a:prstGeom prst="roundRect">
              <a:avLst>
                <a:gd name="adj" fmla="val 2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66" name="Rectangle 66"/>
            <p:cNvSpPr/>
            <p:nvPr/>
          </p:nvSpPr>
          <p:spPr>
            <a:xfrm>
              <a:off x="11049000" y="6477000"/>
              <a:ext cx="609600" cy="2667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254838" y="6492875"/>
              <a:ext cx="1979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11-header"/>
          <p:cNvGrpSpPr/>
          <p:nvPr/>
        </p:nvGrpSpPr>
        <p:grpSpPr>
          <a:xfrm>
            <a:off x="517398" y="511175"/>
            <a:ext cx="11141202" cy="616077"/>
            <a:chOff x="517398" y="511175"/>
            <a:chExt cx="11141202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517398" y="511175"/>
              <a:ext cx="682740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Dibangun berdasarkan riset ilmiah</a:t>
              </a:r>
            </a:p>
          </p:txBody>
        </p:sp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391900" y="533400"/>
              <a:ext cx="266700" cy="266700"/>
            </a:xfrm>
            <a:prstGeom prst="rect">
              <a:avLst/>
            </a:prstGeom>
          </p:spPr>
        </p:pic>
      </p:grpSp>
      <p:grpSp>
        <p:nvGrpSpPr>
          <p:cNvPr id="13" name="p11-bukti-1"/>
          <p:cNvGrpSpPr/>
          <p:nvPr/>
        </p:nvGrpSpPr>
        <p:grpSpPr>
          <a:xfrm>
            <a:off x="533400" y="1600200"/>
            <a:ext cx="5334000" cy="1238250"/>
            <a:chOff x="533400" y="1600200"/>
            <a:chExt cx="5334000" cy="1238250"/>
          </a:xfrm>
        </p:grpSpPr>
        <p:sp>
          <p:nvSpPr>
            <p:cNvPr id="5" name="Rectangle 5"/>
            <p:cNvSpPr/>
            <p:nvPr/>
          </p:nvSpPr>
          <p:spPr>
            <a:xfrm>
              <a:off x="533400" y="1600200"/>
              <a:ext cx="5334000" cy="1238250"/>
            </a:xfrm>
            <a:prstGeom prst="roundRect">
              <a:avLst>
                <a:gd name="adj" fmla="val 15385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grpSp>
          <p:nvGrpSpPr>
            <p:cNvPr id="9" name="Group 9"/>
            <p:cNvGrpSpPr/>
            <p:nvPr/>
          </p:nvGrpSpPr>
          <p:grpSpPr>
            <a:xfrm>
              <a:off x="795338" y="1862138"/>
              <a:ext cx="200026" cy="200025"/>
              <a:chOff x="795338" y="1862138"/>
              <a:chExt cx="200026" cy="200025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795338" y="186213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chemeClr val="accent3"/>
                </a:solidFill>
              </a:ln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7" name="Freeform 7"/>
              <p:cNvSpPr/>
              <p:nvPr/>
            </p:nvSpPr>
            <p:spPr>
              <a:xfrm>
                <a:off x="835076" y="190658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chemeClr val="accent3"/>
                </a:solidFill>
              </a:ln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8" name="Freeform 8"/>
              <p:cNvSpPr/>
              <p:nvPr/>
            </p:nvSpPr>
            <p:spPr>
              <a:xfrm>
                <a:off x="869792" y="201771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chemeClr val="accent3"/>
                </a:solidFill>
              </a:ln>
            </p:spPr>
            <p:txBody>
              <a:bodyPr/>
              <a:lstStyle/>
              <a:p>
                <a:endParaRPr lang="en-ID"/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1097280" y="1860550"/>
              <a:ext cx="137817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Riset mendalam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5904" y="2165350"/>
              <a:ext cx="18095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30+ paper (abstract + DOI);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5904" y="2374900"/>
              <a:ext cx="17980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topik S2: LLM hallucination</a:t>
              </a:r>
            </a:p>
          </p:txBody>
        </p:sp>
      </p:grpSp>
      <p:grpSp>
        <p:nvGrpSpPr>
          <p:cNvPr id="19" name="p11-bukti-2"/>
          <p:cNvGrpSpPr/>
          <p:nvPr/>
        </p:nvGrpSpPr>
        <p:grpSpPr>
          <a:xfrm>
            <a:off x="6248400" y="1600200"/>
            <a:ext cx="5410200" cy="1238250"/>
            <a:chOff x="6248400" y="1600200"/>
            <a:chExt cx="5410200" cy="1238250"/>
          </a:xfrm>
        </p:grpSpPr>
        <p:sp>
          <p:nvSpPr>
            <p:cNvPr id="14" name="Rectangle 14"/>
            <p:cNvSpPr/>
            <p:nvPr/>
          </p:nvSpPr>
          <p:spPr>
            <a:xfrm>
              <a:off x="6248400" y="1600200"/>
              <a:ext cx="5410200" cy="1238250"/>
            </a:xfrm>
            <a:prstGeom prst="roundRect">
              <a:avLst>
                <a:gd name="adj" fmla="val 15385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6532563" y="1906588"/>
              <a:ext cx="166688" cy="111125"/>
            </a:xfrm>
            <a:custGeom>
              <a:avLst/>
              <a:gdLst/>
              <a:ahLst/>
              <a:cxnLst/>
              <a:rect l="l" t="t" r="r" b="b"/>
              <a:pathLst>
                <a:path w="166688" h="111125">
                  <a:moveTo>
                    <a:pt x="0" y="55563"/>
                  </a:moveTo>
                  <a:lnTo>
                    <a:pt x="55563" y="111125"/>
                  </a:lnTo>
                  <a:lnTo>
                    <a:pt x="166688" y="0"/>
                  </a:lnTo>
                </a:path>
              </a:pathLst>
            </a:custGeom>
            <a:noFill/>
            <a:ln w="22225">
              <a:solidFill>
                <a:schemeClr val="accent3"/>
              </a:solidFill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812280" y="1860550"/>
              <a:ext cx="16916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Implementasi nyata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470904" y="2165350"/>
              <a:ext cx="16029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Goal Agent e2e verified,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470904" y="2374900"/>
              <a:ext cx="9798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bukan mockup</a:t>
              </a:r>
            </a:p>
          </p:txBody>
        </p:sp>
      </p:grpSp>
      <p:grpSp>
        <p:nvGrpSpPr>
          <p:cNvPr id="31" name="p11-bukti-3"/>
          <p:cNvGrpSpPr/>
          <p:nvPr/>
        </p:nvGrpSpPr>
        <p:grpSpPr>
          <a:xfrm>
            <a:off x="533400" y="2933700"/>
            <a:ext cx="5334000" cy="1238250"/>
            <a:chOff x="533400" y="2933700"/>
            <a:chExt cx="5334000" cy="1238250"/>
          </a:xfrm>
        </p:grpSpPr>
        <p:sp>
          <p:nvSpPr>
            <p:cNvPr id="20" name="Rectangle 20"/>
            <p:cNvSpPr/>
            <p:nvPr/>
          </p:nvSpPr>
          <p:spPr>
            <a:xfrm>
              <a:off x="533400" y="2933700"/>
              <a:ext cx="5334000" cy="1238250"/>
            </a:xfrm>
            <a:prstGeom prst="roundRect">
              <a:avLst>
                <a:gd name="adj" fmla="val 15385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grpSp>
          <p:nvGrpSpPr>
            <p:cNvPr id="27" name="Group 27"/>
            <p:cNvGrpSpPr/>
            <p:nvPr/>
          </p:nvGrpSpPr>
          <p:grpSpPr>
            <a:xfrm>
              <a:off x="795338" y="3195638"/>
              <a:ext cx="200025" cy="200025"/>
              <a:chOff x="795338" y="3195638"/>
              <a:chExt cx="200025" cy="200025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895350" y="3306763"/>
                <a:ext cx="77788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77788" h="88900">
                    <a:moveTo>
                      <a:pt x="38894" y="0"/>
                    </a:moveTo>
                    <a:cubicBezTo>
                      <a:pt x="17413" y="0"/>
                      <a:pt x="0" y="17413"/>
                      <a:pt x="0" y="38894"/>
                    </a:cubicBezTo>
                    <a:lnTo>
                      <a:pt x="0" y="50006"/>
                    </a:lnTo>
                    <a:cubicBezTo>
                      <a:pt x="0" y="71487"/>
                      <a:pt x="17413" y="88900"/>
                      <a:pt x="38894" y="88900"/>
                    </a:cubicBezTo>
                    <a:cubicBezTo>
                      <a:pt x="60374" y="88900"/>
                      <a:pt x="77788" y="71487"/>
                      <a:pt x="77788" y="50006"/>
                    </a:cubicBezTo>
                    <a:lnTo>
                      <a:pt x="77788" y="30004"/>
                    </a:lnTo>
                  </a:path>
                </a:pathLst>
              </a:custGeom>
              <a:noFill/>
              <a:ln w="22225">
                <a:solidFill>
                  <a:schemeClr val="accent3"/>
                </a:solidFill>
              </a:ln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22" name="Freeform 22"/>
              <p:cNvSpPr/>
              <p:nvPr/>
            </p:nvSpPr>
            <p:spPr>
              <a:xfrm>
                <a:off x="817563" y="3306763"/>
                <a:ext cx="77788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77788" h="88900">
                    <a:moveTo>
                      <a:pt x="38894" y="0"/>
                    </a:moveTo>
                    <a:cubicBezTo>
                      <a:pt x="60374" y="0"/>
                      <a:pt x="77788" y="17413"/>
                      <a:pt x="77788" y="38894"/>
                    </a:cubicBezTo>
                    <a:lnTo>
                      <a:pt x="77788" y="50006"/>
                    </a:lnTo>
                    <a:cubicBezTo>
                      <a:pt x="77788" y="71487"/>
                      <a:pt x="60374" y="88900"/>
                      <a:pt x="38894" y="88900"/>
                    </a:cubicBezTo>
                    <a:cubicBezTo>
                      <a:pt x="17413" y="88900"/>
                      <a:pt x="0" y="71487"/>
                      <a:pt x="0" y="50006"/>
                    </a:cubicBezTo>
                    <a:lnTo>
                      <a:pt x="0" y="30004"/>
                    </a:lnTo>
                  </a:path>
                </a:pathLst>
              </a:custGeom>
              <a:noFill/>
              <a:ln w="22225">
                <a:solidFill>
                  <a:schemeClr val="accent3"/>
                </a:solidFill>
              </a:ln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23" name="Freeform 23"/>
              <p:cNvSpPr/>
              <p:nvPr/>
            </p:nvSpPr>
            <p:spPr>
              <a:xfrm>
                <a:off x="950913" y="3262313"/>
                <a:ext cx="44450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77788">
                    <a:moveTo>
                      <a:pt x="5556" y="77788"/>
                    </a:moveTo>
                    <a:cubicBezTo>
                      <a:pt x="27037" y="77788"/>
                      <a:pt x="44450" y="60374"/>
                      <a:pt x="44450" y="38894"/>
                    </a:cubicBezTo>
                    <a:cubicBezTo>
                      <a:pt x="44450" y="17413"/>
                      <a:pt x="27037" y="0"/>
                      <a:pt x="5556" y="0"/>
                    </a:cubicBezTo>
                    <a:lnTo>
                      <a:pt x="0" y="0"/>
                    </a:lnTo>
                  </a:path>
                </a:pathLst>
              </a:custGeom>
              <a:noFill/>
              <a:ln w="22225">
                <a:solidFill>
                  <a:schemeClr val="accent3"/>
                </a:solidFill>
              </a:ln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24" name="Freeform 24"/>
              <p:cNvSpPr/>
              <p:nvPr/>
            </p:nvSpPr>
            <p:spPr>
              <a:xfrm>
                <a:off x="895350" y="3195638"/>
                <a:ext cx="77788" cy="70009"/>
              </a:xfrm>
              <a:custGeom>
                <a:avLst/>
                <a:gdLst/>
                <a:ahLst/>
                <a:cxnLst/>
                <a:rect l="l" t="t" r="r" b="b"/>
                <a:pathLst>
                  <a:path w="77788" h="70009">
                    <a:moveTo>
                      <a:pt x="77788" y="70009"/>
                    </a:moveTo>
                    <a:lnTo>
                      <a:pt x="77788" y="38894"/>
                    </a:lnTo>
                    <a:cubicBezTo>
                      <a:pt x="77788" y="17413"/>
                      <a:pt x="60374" y="0"/>
                      <a:pt x="38894" y="0"/>
                    </a:cubicBezTo>
                    <a:cubicBezTo>
                      <a:pt x="17413" y="0"/>
                      <a:pt x="0" y="17413"/>
                      <a:pt x="0" y="38894"/>
                    </a:cubicBezTo>
                  </a:path>
                </a:pathLst>
              </a:custGeom>
              <a:noFill/>
              <a:ln w="22225">
                <a:solidFill>
                  <a:schemeClr val="accent3"/>
                </a:solidFill>
              </a:ln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25" name="Freeform 25"/>
              <p:cNvSpPr/>
              <p:nvPr/>
            </p:nvSpPr>
            <p:spPr>
              <a:xfrm>
                <a:off x="795338" y="3262313"/>
                <a:ext cx="44450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77788">
                    <a:moveTo>
                      <a:pt x="38894" y="77788"/>
                    </a:moveTo>
                    <a:cubicBezTo>
                      <a:pt x="17413" y="77788"/>
                      <a:pt x="0" y="60374"/>
                      <a:pt x="0" y="38894"/>
                    </a:cubicBezTo>
                    <a:cubicBezTo>
                      <a:pt x="0" y="17413"/>
                      <a:pt x="17413" y="0"/>
                      <a:pt x="38894" y="0"/>
                    </a:cubicBezTo>
                    <a:lnTo>
                      <a:pt x="44450" y="0"/>
                    </a:lnTo>
                  </a:path>
                </a:pathLst>
              </a:custGeom>
              <a:noFill/>
              <a:ln w="22225">
                <a:solidFill>
                  <a:schemeClr val="accent3"/>
                </a:solidFill>
              </a:ln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26" name="Freeform 26"/>
              <p:cNvSpPr/>
              <p:nvPr/>
            </p:nvSpPr>
            <p:spPr>
              <a:xfrm>
                <a:off x="817563" y="3195638"/>
                <a:ext cx="77788" cy="150019"/>
              </a:xfrm>
              <a:custGeom>
                <a:avLst/>
                <a:gdLst/>
                <a:ahLst/>
                <a:cxnLst/>
                <a:rect l="l" t="t" r="r" b="b"/>
                <a:pathLst>
                  <a:path w="77788" h="150019">
                    <a:moveTo>
                      <a:pt x="0" y="70009"/>
                    </a:moveTo>
                    <a:lnTo>
                      <a:pt x="0" y="38894"/>
                    </a:lnTo>
                    <a:cubicBezTo>
                      <a:pt x="0" y="17413"/>
                      <a:pt x="17413" y="0"/>
                      <a:pt x="38894" y="0"/>
                    </a:cubicBezTo>
                    <a:cubicBezTo>
                      <a:pt x="60374" y="0"/>
                      <a:pt x="77788" y="17413"/>
                      <a:pt x="77788" y="38894"/>
                    </a:cubicBezTo>
                    <a:lnTo>
                      <a:pt x="77788" y="150019"/>
                    </a:lnTo>
                  </a:path>
                </a:pathLst>
              </a:custGeom>
              <a:noFill/>
              <a:ln w="22225">
                <a:solidFill>
                  <a:schemeClr val="accent3"/>
                </a:solidFill>
              </a:ln>
            </p:spPr>
            <p:txBody>
              <a:bodyPr/>
              <a:lstStyle/>
              <a:p>
                <a:endParaRPr lang="en-ID"/>
              </a:p>
            </p:txBody>
          </p:sp>
        </p:grpSp>
        <p:sp>
          <p:nvSpPr>
            <p:cNvPr id="28" name="TextBox 28"/>
            <p:cNvSpPr txBox="1"/>
            <p:nvPr/>
          </p:nvSpPr>
          <p:spPr>
            <a:xfrm>
              <a:off x="1097280" y="3194050"/>
              <a:ext cx="16579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Full-stack &amp; agentic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55904" y="3498850"/>
              <a:ext cx="14481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Paham stack produksi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55904" y="3708400"/>
              <a:ext cx="12319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sampai infra agent</a:t>
              </a:r>
            </a:p>
          </p:txBody>
        </p:sp>
      </p:grpSp>
      <p:grpSp>
        <p:nvGrpSpPr>
          <p:cNvPr id="37" name="p11-bukti-4"/>
          <p:cNvGrpSpPr/>
          <p:nvPr/>
        </p:nvGrpSpPr>
        <p:grpSpPr>
          <a:xfrm>
            <a:off x="6248400" y="2933700"/>
            <a:ext cx="5410200" cy="1238250"/>
            <a:chOff x="6248400" y="2933700"/>
            <a:chExt cx="5410200" cy="1238250"/>
          </a:xfrm>
        </p:grpSpPr>
        <p:sp>
          <p:nvSpPr>
            <p:cNvPr id="32" name="Rectangle 32"/>
            <p:cNvSpPr/>
            <p:nvPr/>
          </p:nvSpPr>
          <p:spPr>
            <a:xfrm>
              <a:off x="6248400" y="2933700"/>
              <a:ext cx="5410200" cy="1238250"/>
            </a:xfrm>
            <a:prstGeom prst="roundRect">
              <a:avLst>
                <a:gd name="adj" fmla="val 15385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33" name="Freeform 33"/>
            <p:cNvSpPr/>
            <p:nvPr/>
          </p:nvSpPr>
          <p:spPr>
            <a:xfrm>
              <a:off x="6505710" y="3195638"/>
              <a:ext cx="209281" cy="200026"/>
            </a:xfrm>
            <a:custGeom>
              <a:avLst/>
              <a:gdLst/>
              <a:ahLst/>
              <a:cxnLst/>
              <a:rect l="l" t="t" r="r" b="b"/>
              <a:pathLst>
                <a:path w="209281" h="200026">
                  <a:moveTo>
                    <a:pt x="104641" y="0"/>
                  </a:moveTo>
                  <a:cubicBezTo>
                    <a:pt x="130598" y="22965"/>
                    <a:pt x="164476" y="34922"/>
                    <a:pt x="199097" y="33338"/>
                  </a:cubicBezTo>
                  <a:cubicBezTo>
                    <a:pt x="209281" y="67981"/>
                    <a:pt x="204980" y="105274"/>
                    <a:pt x="187178" y="136690"/>
                  </a:cubicBezTo>
                  <a:cubicBezTo>
                    <a:pt x="169375" y="168106"/>
                    <a:pt x="139593" y="190959"/>
                    <a:pt x="104641" y="200026"/>
                  </a:cubicBezTo>
                  <a:cubicBezTo>
                    <a:pt x="69688" y="190959"/>
                    <a:pt x="39906" y="168106"/>
                    <a:pt x="22103" y="136690"/>
                  </a:cubicBezTo>
                  <a:cubicBezTo>
                    <a:pt x="4301" y="105274"/>
                    <a:pt x="0" y="67981"/>
                    <a:pt x="10184" y="33338"/>
                  </a:cubicBezTo>
                  <a:cubicBezTo>
                    <a:pt x="44805" y="34922"/>
                    <a:pt x="78684" y="22965"/>
                    <a:pt x="104641" y="0"/>
                  </a:cubicBezTo>
                </a:path>
              </a:pathLst>
            </a:custGeom>
            <a:noFill/>
            <a:ln w="22225">
              <a:solidFill>
                <a:schemeClr val="accent3"/>
              </a:solidFill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812280" y="3194050"/>
              <a:ext cx="201248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Pedagogi berbasis bukti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70904" y="3498850"/>
              <a:ext cx="15307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Tiap fitur tertaut paper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470904" y="3708400"/>
              <a:ext cx="10474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ber-FWCI tinggi</a:t>
              </a:r>
            </a:p>
          </p:txBody>
        </p:sp>
      </p:grpSp>
      <p:grpSp>
        <p:nvGrpSpPr>
          <p:cNvPr id="42" name="p11-closing"/>
          <p:cNvGrpSpPr/>
          <p:nvPr/>
        </p:nvGrpSpPr>
        <p:grpSpPr>
          <a:xfrm>
            <a:off x="533400" y="4476750"/>
            <a:ext cx="11125200" cy="1847850"/>
            <a:chOff x="533400" y="4476750"/>
            <a:chExt cx="11125200" cy="1847850"/>
          </a:xfrm>
        </p:grpSpPr>
        <p:sp>
          <p:nvSpPr>
            <p:cNvPr id="38" name="Rectangle 38"/>
            <p:cNvSpPr/>
            <p:nvPr/>
          </p:nvSpPr>
          <p:spPr>
            <a:xfrm>
              <a:off x="533400" y="4476750"/>
              <a:ext cx="11125200" cy="1847850"/>
            </a:xfrm>
            <a:prstGeom prst="roundRect">
              <a:avLst>
                <a:gd name="adj" fmla="val 10309"/>
              </a:avLst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pic>
          <p:nvPicPr>
            <p:cNvPr id="39" name="Image 3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52500" y="5000625"/>
              <a:ext cx="800100" cy="800100"/>
            </a:xfrm>
            <a:prstGeom prst="rect">
              <a:avLst/>
            </a:prstGeom>
          </p:spPr>
        </p:pic>
        <p:sp>
          <p:nvSpPr>
            <p:cNvPr id="40" name="TextBox 40"/>
            <p:cNvSpPr txBox="1"/>
            <p:nvPr/>
          </p:nvSpPr>
          <p:spPr>
            <a:xfrm>
              <a:off x="2083308" y="5041900"/>
              <a:ext cx="573982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240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Belajar mandiri, tapi nggak sendirian.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084832" y="5461000"/>
              <a:ext cx="644180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Silakan cek langsung: github.com/mmuchsin/serambi-ai</a:t>
              </a:r>
            </a:p>
          </p:txBody>
        </p:sp>
      </p:grpSp>
      <p:grpSp>
        <p:nvGrpSpPr>
          <p:cNvPr id="50" name="p11-footer"/>
          <p:cNvGrpSpPr/>
          <p:nvPr/>
        </p:nvGrpSpPr>
        <p:grpSpPr>
          <a:xfrm>
            <a:off x="533400" y="6477000"/>
            <a:ext cx="11125200" cy="279908"/>
            <a:chOff x="533400" y="6477000"/>
            <a:chExt cx="11125200" cy="279908"/>
          </a:xfrm>
        </p:grpSpPr>
        <p:sp>
          <p:nvSpPr>
            <p:cNvPr id="43" name="Rectangle 43"/>
            <p:cNvSpPr/>
            <p:nvPr/>
          </p:nvSpPr>
          <p:spPr>
            <a:xfrm>
              <a:off x="533400" y="6629400"/>
              <a:ext cx="190500" cy="762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44" name="Rectangle 44"/>
            <p:cNvSpPr/>
            <p:nvPr/>
          </p:nvSpPr>
          <p:spPr>
            <a:xfrm>
              <a:off x="762000" y="6591300"/>
              <a:ext cx="190500" cy="114300"/>
            </a:xfrm>
            <a:prstGeom prst="roundRect">
              <a:avLst>
                <a:gd name="adj" fmla="val 33333"/>
              </a:avLst>
            </a:prstGeom>
            <a:solidFill>
              <a:schemeClr val="accent6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45" name="Rectangle 45"/>
            <p:cNvSpPr/>
            <p:nvPr/>
          </p:nvSpPr>
          <p:spPr>
            <a:xfrm>
              <a:off x="990600" y="6553200"/>
              <a:ext cx="190500" cy="152400"/>
            </a:xfrm>
            <a:prstGeom prst="roundRect">
              <a:avLst>
                <a:gd name="adj" fmla="val 25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46" name="Rectangle 46"/>
            <p:cNvSpPr/>
            <p:nvPr/>
          </p:nvSpPr>
          <p:spPr>
            <a:xfrm>
              <a:off x="1219200" y="6515100"/>
              <a:ext cx="190500" cy="190500"/>
            </a:xfrm>
            <a:prstGeom prst="roundRect">
              <a:avLst>
                <a:gd name="adj" fmla="val 2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47" name="Rectangle 47"/>
            <p:cNvSpPr/>
            <p:nvPr/>
          </p:nvSpPr>
          <p:spPr>
            <a:xfrm>
              <a:off x="1447800" y="6477000"/>
              <a:ext cx="190500" cy="228600"/>
            </a:xfrm>
            <a:prstGeom prst="roundRect">
              <a:avLst>
                <a:gd name="adj" fmla="val 2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48" name="Rectangle 48"/>
            <p:cNvSpPr/>
            <p:nvPr/>
          </p:nvSpPr>
          <p:spPr>
            <a:xfrm>
              <a:off x="11049000" y="6477000"/>
              <a:ext cx="609600" cy="2667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254838" y="6492875"/>
              <a:ext cx="1979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serambi-pitch-deck-v2">
  <a:themeElements>
    <a:clrScheme name="serambi-pitch-deck-v2">
      <a:dk1>
        <a:srgbClr val="23283D"/>
      </a:dk1>
      <a:lt1>
        <a:srgbClr val="FFFFFF"/>
      </a:lt1>
      <a:dk2>
        <a:srgbClr val="1F497D"/>
      </a:dk2>
      <a:lt2>
        <a:srgbClr val="EEF1F9"/>
      </a:lt2>
      <a:accent1>
        <a:srgbClr val="1E2761"/>
      </a:accent1>
      <a:accent2>
        <a:srgbClr val="F2A93B"/>
      </a:accent2>
      <a:accent3>
        <a:srgbClr val="4A5FC1"/>
      </a:accent3>
      <a:accent4>
        <a:srgbClr val="1E2761"/>
      </a:accent4>
      <a:accent5>
        <a:srgbClr val="5A6178"/>
      </a:accent5>
      <a:accent6>
        <a:srgbClr val="D8DDEB"/>
      </a:accent6>
      <a:hlink>
        <a:srgbClr val="F2A93B"/>
      </a:hlink>
      <a:folHlink>
        <a:srgbClr val="4A5FC1"/>
      </a:folHlink>
    </a:clrScheme>
    <a:fontScheme name="serambi-pitch-deck-v2">
      <a:majorFont>
        <a:latin typeface="Trebuchet MS"/>
        <a:ea typeface="Microsoft YaHei"/>
        <a:cs typeface="Trebuchet MS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Microsoft YaHei"/>
        <a:cs typeface="Calibr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erambi-pitch-deck-v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serambi-pitch-deck-v2">
  <a:themeElements>
    <a:clrScheme name="serambi-pitch-deck-v2">
      <a:dk1>
        <a:srgbClr val="23283D"/>
      </a:dk1>
      <a:lt1>
        <a:srgbClr val="FFFFFF"/>
      </a:lt1>
      <a:dk2>
        <a:srgbClr val="1F497D"/>
      </a:dk2>
      <a:lt2>
        <a:srgbClr val="EEF1F9"/>
      </a:lt2>
      <a:accent1>
        <a:srgbClr val="1E2761"/>
      </a:accent1>
      <a:accent2>
        <a:srgbClr val="F2A93B"/>
      </a:accent2>
      <a:accent3>
        <a:srgbClr val="4A5FC1"/>
      </a:accent3>
      <a:accent4>
        <a:srgbClr val="1E2761"/>
      </a:accent4>
      <a:accent5>
        <a:srgbClr val="5A6178"/>
      </a:accent5>
      <a:accent6>
        <a:srgbClr val="D8DDEB"/>
      </a:accent6>
      <a:hlink>
        <a:srgbClr val="F2A93B"/>
      </a:hlink>
      <a:folHlink>
        <a:srgbClr val="4A5FC1"/>
      </a:folHlink>
    </a:clrScheme>
    <a:fontScheme name="serambi-pitch-deck-v2">
      <a:majorFont>
        <a:latin typeface="Trebuchet MS"/>
        <a:ea typeface="Microsoft YaHei"/>
        <a:cs typeface="Trebuchet MS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Microsoft YaHei"/>
        <a:cs typeface="Calibr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erambi-pitch-deck-v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1356</Words>
  <Application>Microsoft Office PowerPoint</Application>
  <PresentationFormat>Widescreen</PresentationFormat>
  <Paragraphs>196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Trebuchet MS</vt:lpstr>
      <vt:lpstr>serambi-pitch-deck-v2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M Muchsin</cp:lastModifiedBy>
  <cp:revision>2</cp:revision>
  <dcterms:created xsi:type="dcterms:W3CDTF">2026-10-04T14:26:32Z</dcterms:created>
  <dcterms:modified xsi:type="dcterms:W3CDTF">2026-10-04T14:40:29Z</dcterms:modified>
  <cp:category/>
  <cp:contentStatus/>
  <dc:language>id</dc:language>
</cp:coreProperties>
</file>