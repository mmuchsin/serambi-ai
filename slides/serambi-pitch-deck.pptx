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b8266380447414c" /><Relationship Type="http://schemas.openxmlformats.org/package/2006/relationships/metadata/core-properties" Target="/docProps/core.xml" Id="Ra0c12f637d1e4ad0" /><Relationship Type="http://schemas.openxmlformats.org/officeDocument/2006/relationships/extended-properties" Target="/docProps/app.xml" Id="Rd84f08dabc134139" /><Relationship Type="http://schemas.openxmlformats.org/officeDocument/2006/relationships/custom-properties" Target="/docProps/custom.xml" Id="R41c3fe6457994b8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b3aa25246d984ccd"/>
  </p:notesMasterIdLst>
  <p:sldIdLst>
    <p:sldId id="256" r:id="R7667d52b70a646f0"/>
    <p:sldId id="257" r:id="R2a9b6738cde54849"/>
    <p:sldId id="258" r:id="Rae0b7a571383433e"/>
    <p:sldId id="259" r:id="R356b928e662641dc"/>
    <p:sldId id="260" r:id="R440390e160eb483a"/>
    <p:sldId id="261" r:id="Rbe57f24420e64c67"/>
    <p:sldId id="262" r:id="R52556ed1d6654a99"/>
    <p:sldId id="263" r:id="R207c3b1cc6a245d5"/>
    <p:sldId id="264" r:id="R53351984f5fa4e33"/>
    <p:sldId id="265" r:id="Rbb8007878c5f4092"/>
    <p:sldId id="266" r:id="R20784dbbc0fe4f6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7667d52b70a646f0" /><Relationship Type="http://schemas.openxmlformats.org/officeDocument/2006/relationships/notesMaster" Target="/ppt/notesMasters/notesMaster1.xml" Id="Rb3aa25246d984ccd" /><Relationship Type="http://schemas.openxmlformats.org/officeDocument/2006/relationships/slide" Target="/ppt/slides/slide2.xml" Id="R2a9b6738cde54849" /><Relationship Type="http://schemas.openxmlformats.org/officeDocument/2006/relationships/slide" Target="/ppt/slides/slide3.xml" Id="Rae0b7a571383433e" /><Relationship Type="http://schemas.openxmlformats.org/officeDocument/2006/relationships/slide" Target="/ppt/slides/slide4.xml" Id="R356b928e662641dc" /><Relationship Type="http://schemas.openxmlformats.org/officeDocument/2006/relationships/slide" Target="/ppt/slides/slide5.xml" Id="R440390e160eb483a" /><Relationship Type="http://schemas.openxmlformats.org/officeDocument/2006/relationships/slide" Target="/ppt/slides/slide6.xml" Id="Rbe57f24420e64c67" /><Relationship Type="http://schemas.openxmlformats.org/officeDocument/2006/relationships/slide" Target="/ppt/slides/slide7.xml" Id="R52556ed1d6654a99" /><Relationship Type="http://schemas.openxmlformats.org/officeDocument/2006/relationships/slide" Target="/ppt/slides/slide8.xml" Id="R207c3b1cc6a245d5" /><Relationship Type="http://schemas.openxmlformats.org/officeDocument/2006/relationships/slide" Target="/ppt/slides/slide9.xml" Id="R53351984f5fa4e33" /><Relationship Type="http://schemas.openxmlformats.org/officeDocument/2006/relationships/slide" Target="/ppt/slides/slide10.xml" Id="Rbb8007878c5f4092" /><Relationship Type="http://schemas.openxmlformats.org/officeDocument/2006/relationships/slide" Target="/ppt/slides/slide11.xml" Id="R20784dbbc0fe4f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0e9daae16e4f6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f630e9be54b4495" /><Relationship Type="http://schemas.openxmlformats.org/officeDocument/2006/relationships/slide" Target="/ppt/slides/slide1.xml" Id="R49768a47c7154c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ea4d0c46094d51" /><Relationship Type="http://schemas.openxmlformats.org/officeDocument/2006/relationships/slide" Target="/ppt/slides/slide2.xml" Id="R6b914f482f4e47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bb3722a9a4f4676" /><Relationship Type="http://schemas.openxmlformats.org/officeDocument/2006/relationships/slide" Target="/ppt/slides/slide3.xml" Id="R54d023a7931e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55dfe7e94ee4ce2" /><Relationship Type="http://schemas.openxmlformats.org/officeDocument/2006/relationships/slide" Target="/ppt/slides/slide4.xml" Id="R15fe9680357a4a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be771109d964cfd" /><Relationship Type="http://schemas.openxmlformats.org/officeDocument/2006/relationships/slide" Target="/ppt/slides/slide5.xml" Id="Ra2761b18f09746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d040c1f8bce4c95" /><Relationship Type="http://schemas.openxmlformats.org/officeDocument/2006/relationships/slide" Target="/ppt/slides/slide6.xml" Id="R61b964a3658a42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80914ec6f334c2a" /><Relationship Type="http://schemas.openxmlformats.org/officeDocument/2006/relationships/slide" Target="/ppt/slides/slide7.xml" Id="R5c73452ef8ed4cf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415f68728af4d84" /><Relationship Type="http://schemas.openxmlformats.org/officeDocument/2006/relationships/slide" Target="/ppt/slides/slide8.xml" Id="Rf5c5fb94b8f241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146b37abae4df6" /><Relationship Type="http://schemas.openxmlformats.org/officeDocument/2006/relationships/slide" Target="/ppt/slides/slide9.xml" Id="R3edbc318fdeb43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36166d205d74aa4" /><Relationship Type="http://schemas.openxmlformats.org/officeDocument/2006/relationships/slide" Target="/ppt/slides/slide10.xml" Id="R0616a1da08f74a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b7bf9308b94d90" /><Relationship Type="http://schemas.openxmlformats.org/officeDocument/2006/relationships/slide" Target="/ppt/slides/slide11.xml" Id="R77d75662a5284e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 — Cover. Serambi.ai: asisten belajar multi-agent adaptif untuk career switcher Indonesia. Tagline: belajar mandiri, tapi nggak sendirian. Stack: IBM Bob × Langflow ×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2 -- Problem. Empat hambatan: (1) tidak ada roadmap personal, (2) progres tidak terlacak, (3) cognitive offloading (BJET 694 sitasi), (4) alternatif mahal. Market gap: upskilling growth B2B bukan individu.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3 -- Solution. Core insight: AI harus menjadi scaffold, bukan oracle. Desain pedagogis berbasis riset: GenMentor, IntelliCode, Feynman Bot, spaced repetition.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4 -- Target User. Primer: career switcher 22-35, non-tech background, JTBD jelas. Sekunder: tech worker upskilling. B2B: bootcamp dan institusi pendidikan.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5 -- How It Works. Tiga layer: Web App (UI), MCP bridge (named tools), Langflow (flow execution). Kontrak MCP identik antara dev harness (Bob) dan backend web app produksi. Goal Agent sudah e2e verified.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6 -- AI &amp; Technology. Stack: Bob (harness), Langflow (flow engine), MCP (bridge), NaraRouter/longcat-2.5 (LLM). Setiap keputusan desain dilandasi paper dengan FWCI tinggi.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7 -- Key Features. 6 agent: Goal (live), Tutor (Feynman), Assessment (hinting), Progress (spaced rep), Motivator, Wellbeing. Setiap agent = 1 Langflow flow = 1 MCP tool.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8 -- Demo. Tunjukkan 4 screenshot: Bob TUI (harness dev), Langflow canvas, Langflow endpoint config, JSON output roadmap. Tekankan: ini bukan demo dari LLM Bob, ini agent Langflow yang benar-benar dipanggil lewat MCP.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9 -- Impact. North star metric: Career Goal Progress Rate. Angka kunci: &lt;1 menit roadmap, +15-20% retensi, g=1.613 meta-analisis AI, 80%+ Feynman Bot. Diferensiasi vs kursus online, ChatGPT, bootcamp.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10 -- Future Development. Now: Goal Agent done, infra solid. Next 3-6 bulan: 5 agent lain + web app. B2B: bootcamp/kampus whitelabel. Scale: Langflow Cloud + forgetting curve data moat.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Slide 11 -- Team. Isi nama anggota tim. Highlight: riset mendalam (30+ paper), implementasi nyata (e2e verified), arsitektur modular (MCP contract). Closing: repo public, invite juri untuk cek langsung.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05ce9b2cf44b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ea703624d4f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30f53591a4b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b7040d6d546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5d0e1c8d2499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7ee5d7dd95044a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b156b23e94529" /><Relationship Type="http://schemas.openxmlformats.org/officeDocument/2006/relationships/notesSlide" Target="/ppt/notesSlides/notesSlide1.xml" Id="Rcb211727755347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02ad456e5440c2" /><Relationship Type="http://schemas.openxmlformats.org/officeDocument/2006/relationships/notesSlide" Target="/ppt/notesSlides/notesSlide2.xml" Id="R4c8d7664123b42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9fffd49104489" /><Relationship Type="http://schemas.openxmlformats.org/officeDocument/2006/relationships/notesSlide" Target="/ppt/notesSlides/notesSlide3.xml" Id="R05ef907f9b0747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c06eb34194120" /><Relationship Type="http://schemas.openxmlformats.org/officeDocument/2006/relationships/notesSlide" Target="/ppt/notesSlides/notesSlide4.xml" Id="R8795c33b264441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ea217660644c74" /><Relationship Type="http://schemas.openxmlformats.org/officeDocument/2006/relationships/notesSlide" Target="/ppt/notesSlides/notesSlide5.xml" Id="R61040ef51fd941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65ca179c4cfe" /><Relationship Type="http://schemas.openxmlformats.org/officeDocument/2006/relationships/notesSlide" Target="/ppt/notesSlides/notesSlide6.xml" Id="R80bde9cfb79141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070c2bd3f4d4f" /><Relationship Type="http://schemas.openxmlformats.org/officeDocument/2006/relationships/notesSlide" Target="/ppt/notesSlides/notesSlide7.xml" Id="Rddbb91f74ea947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3d9db8f34b53" /><Relationship Type="http://schemas.openxmlformats.org/officeDocument/2006/relationships/notesSlide" Target="/ppt/notesSlides/notesSlide8.xml" Id="Rc8f14cd452dc48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2bd143cfb4c6f" /><Relationship Type="http://schemas.openxmlformats.org/officeDocument/2006/relationships/notesSlide" Target="/ppt/notesSlides/notesSlide9.xml" Id="R3415710512084a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5ba2ff0ff42a4" /><Relationship Type="http://schemas.openxmlformats.org/officeDocument/2006/relationships/notesSlide" Target="/ppt/notesSlides/notesSlide10.xml" Id="R01b82cab50cc4e9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073600fec64e61" /><Relationship Type="http://schemas.openxmlformats.org/officeDocument/2006/relationships/notesSlide" Target="/ppt/notesSlides/notesSlide11.xml" Id="R50d9d8dca1ee4f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ProductName"/>
          <p:cNvSpPr txBox="1"/>
          <p:nvPr/>
        </p:nvSpPr>
        <p:spPr>
          <a:xfrm xmlns:a="http://schemas.openxmlformats.org/drawingml/2006/main">
            <a:off x="540000" y="90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5400" b="1">
                <a:solidFill>
                  <a:srgbClr val="FFFFFF"/>
                </a:solidFill>
                <a:latin typeface="Calibri"/>
                <a:ea typeface="Calibri"/>
              </a:rPr>
              <a:t>Serambi.ai</a:t>
            </a:r>
          </a:p>
        </p:txBody>
      </p:sp>
      <p:sp>
        <p:nvSpPr>
          <p:cNvPr id="100001" name="Tagline"/>
          <p:cNvSpPr txBox="1"/>
          <p:nvPr/>
        </p:nvSpPr>
        <p:spPr>
          <a:xfrm xmlns:a="http://schemas.openxmlformats.org/drawingml/2006/main">
            <a:off x="540000" y="234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A8C8FF"/>
                </a:solidFill>
                <a:latin typeface="Calibri"/>
                <a:ea typeface="Calibri"/>
              </a:rPr>
              <a:t>Belajar mandiri, tapi nggak sendirian.</a:t>
            </a:r>
          </a:p>
        </p:txBody>
      </p:sp>
      <p:sp>
        <p:nvSpPr>
          <p:cNvPr id="100002" name="SubTagline"/>
          <p:cNvSpPr txBox="1"/>
          <p:nvPr/>
        </p:nvSpPr>
        <p:spPr>
          <a:xfrm xmlns:a="http://schemas.openxmlformats.org/drawingml/2006/main">
            <a:off x="540000" y="306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Adaptive Multi-Agent Learning Assistant untuk Career Switcher Indonesia</a:t>
            </a:r>
          </a:p>
        </p:txBody>
      </p:sp>
      <p:sp>
        <p:nvSpPr>
          <p:cNvPr id="100003" name="Event"/>
          <p:cNvSpPr txBox="1"/>
          <p:nvPr/>
        </p:nvSpPr>
        <p:spPr>
          <a:xfrm xmlns:a="http://schemas.openxmlformats.org/drawingml/2006/main">
            <a:off x="540000" y="3960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AAADD"/>
                </a:solidFill>
                <a:latin typeface="Calibri"/>
                <a:ea typeface="Calibri"/>
              </a:rPr>
              <a:t>IBM SkillsBuild University Education National Hackathon · Hacktiv8 × IBM × Komdigi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02</a:t>
            </a:r>
          </a:p>
        </p:txBody>
      </p:sp>
      <p:sp>
        <p:nvSpPr>
          <p:cNvPr id="10000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Masalah yang Ingin Kami Selesaikan</a:t>
            </a:r>
          </a:p>
        </p:txBody>
      </p:sp>
      <p:sp>
        <p:nvSpPr>
          <p:cNvPr id="100006" name="Stat"/>
          <p:cNvSpPr txBox="1"/>
          <p:nvPr/>
        </p:nvSpPr>
        <p:spPr>
          <a:xfrm xmlns:a="http://schemas.openxmlformats.org/drawingml/2006/main">
            <a:off x="540000" y="11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C0392B"/>
                </a:solidFill>
                <a:latin typeface="Calibri"/>
                <a:ea typeface="Calibri"/>
              </a:rPr>
              <a:t>Career switcher Indonesia belajar mandiri -- dan banyak yang gagal di tengah jalan.</a:t>
            </a:r>
          </a:p>
        </p:txBody>
      </p:sp>
      <p:sp>
        <p:nvSpPr>
          <p:cNvPr id="100007" name="Body"/>
          <p:cNvSpPr txBox="1"/>
          <p:nvPr/>
        </p:nvSpPr>
        <p:spPr>
          <a:xfrm xmlns:a="http://schemas.openxmlformats.org/drawingml/2006/main">
            <a:off x="540000" y="1692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Tidak ada roadmap personal -- materi acak dari YouTube, Udemy, blog tanpa dipetakan ke skill gap target role.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Progres tidak terlacak -- tidak ada jawaban untuk sudah sejauh mana, harus lanjut ke apa?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AI generik memicu cognitive offloading -- langsung dijawab, tanpa belajar aktif. (BJET, dikutip 694x)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X  Alternatif mahal -- bootcamp &amp; mentor privat tidak terjangkau; kursus online one-size-fits-all.</a:t>
            </a:r>
          </a:p>
        </p:txBody>
      </p:sp>
      <p:sp>
        <p:nvSpPr>
          <p:cNvPr id="100008" name="Footer"/>
          <p:cNvSpPr txBox="1"/>
          <p:nvPr/>
        </p:nvSpPr>
        <p:spPr>
          <a:xfrm xmlns:a="http://schemas.openxmlformats.org/drawingml/2006/main">
            <a:off x="540000" y="4752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777777"/>
                </a:solidFill>
                <a:latin typeface="Calibri"/>
                <a:ea typeface="Calibri"/>
              </a:rPr>
              <a:t>Market upskilling global tumbuh 11-14% CAGR -- tapi sebagian besar B2B/korporasi. Career switcher individu terlewat.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03</a:t>
            </a:r>
          </a:p>
        </p:txBody>
      </p:sp>
      <p:sp>
        <p:nvSpPr>
          <p:cNvPr id="10001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Solusi: Scaffold, Bukan Oracle</a:t>
            </a:r>
          </a:p>
        </p:txBody>
      </p:sp>
      <p:sp>
        <p:nvSpPr>
          <p:cNvPr id="100011" name="ValueProp"/>
          <p:cNvSpPr txBox="1"/>
          <p:nvPr/>
        </p:nvSpPr>
        <p:spPr>
          <a:xfrm xmlns:a="http://schemas.openxmlformats.org/drawingml/2006/main">
            <a:off x="540000" y="115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A8C8FF"/>
                </a:solidFill>
                <a:latin typeface="Calibri"/>
                <a:ea typeface="Calibri"/>
              </a:rPr>
              <a:t>Serambi.ai adalah asisten belajar adaptif berbasis multi-agent AI yang memandu career switcher Indonesia -- bukan menjawab untuk mereka.</a:t>
            </a:r>
          </a:p>
        </p:txBody>
      </p:sp>
      <p:sp>
        <p:nvSpPr>
          <p:cNvPr id="100012" name="Body"/>
          <p:cNvSpPr txBox="1"/>
          <p:nvPr/>
        </p:nvSpPr>
        <p:spPr>
          <a:xfrm xmlns:a="http://schemas.openxmlformats.org/drawingml/2006/main">
            <a:off x="540000" y="1980000"/>
            <a:ext cx="1080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Pengguna ketik goal karier: 'jadi data analyst dalam 3 bulan'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Serambi.ai memecah goal -&gt; roadmap mingguan terstruktur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Tutor menjelaskan konsep dengan teknik Feynman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Assessment memberi kuis adaptif + graduated hints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Progress menjadwalkan review berbasis forgetting curve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Agent Wellbeing memantau motivasi dan cegah burnout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3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04</a:t>
            </a:r>
          </a:p>
        </p:txBody>
      </p:sp>
      <p:sp>
        <p:nvSpPr>
          <p:cNvPr id="100014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Target Pengguna</a:t>
            </a:r>
          </a:p>
        </p:txBody>
      </p:sp>
      <p:sp>
        <p:nvSpPr>
          <p:cNvPr id="100015" name="Persona"/>
          <p:cNvSpPr txBox="1"/>
          <p:nvPr/>
        </p:nvSpPr>
        <p:spPr>
          <a:xfrm xmlns:a="http://schemas.openxmlformats.org/drawingml/2006/main">
            <a:off x="540000" y="1152000"/>
            <a:ext cx="108000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Pengguna Primer -- Career Switcher Indonesia</a:t>
            </a:r>
          </a:p>
        </p:txBody>
      </p:sp>
      <p:sp>
        <p:nvSpPr>
          <p:cNvPr id="100016" name="PersonaDetail"/>
          <p:cNvSpPr txBox="1"/>
          <p:nvPr/>
        </p:nvSpPr>
        <p:spPr>
          <a:xfrm xmlns:a="http://schemas.openxmlformats.org/drawingml/2006/main">
            <a:off x="540000" y="1548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Profesional usia 22-35, bekerja di non-tech (admin, marketing, guru, operasional)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Ingin pindah ke tech role: data analyst, backend dev, ML engineer dalam 1-6 bulan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Belajar mandiri, waktu terbatas, bahasa Indonesia, tidak mau/mampu bayar bootcamp mahal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Job-to-be-done: 'Saya mau jadi data analyst 3 bulan -- sudah mulai tapi tidak tahu harus ngapain selanjutnya'</a:t>
            </a:r>
          </a:p>
        </p:txBody>
      </p:sp>
      <p:sp>
        <p:nvSpPr>
          <p:cNvPr id="100017" name="Secondary"/>
          <p:cNvSpPr txBox="1"/>
          <p:nvPr/>
        </p:nvSpPr>
        <p:spPr>
          <a:xfrm xmlns:a="http://schemas.openxmlformats.org/drawingml/2006/main">
            <a:off x="540000" y="3312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Sekunder: Tech worker yang ingin naik level / pivot domain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Pengguna B2B (roadmap): bootcamp, kampus, program reskilling Komdigi</a:t>
            </a:r>
          </a:p>
        </p:txBody>
      </p:sp>
      <p:sp>
        <p:nvSpPr>
          <p:cNvPr id="100018" name="MarketNote"/>
          <p:cNvSpPr txBox="1"/>
          <p:nvPr/>
        </p:nvSpPr>
        <p:spPr>
          <a:xfrm xmlns:a="http://schemas.openxmlformats.org/drawingml/2006/main">
            <a:off x="540000" y="4248000"/>
            <a:ext cx="1080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888888"/>
                </a:solidFill>
                <a:latin typeface="Calibri"/>
                <a:ea typeface="Calibri"/>
              </a:rPr>
              <a:t>OECD (2024): kesenjangan tech skills vs output pendidikan tradisional terus melebar -- reskilling mandiri adalah solusi utama, tapi minim dukungan adaptif.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19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05</a:t>
            </a:r>
          </a:p>
        </p:txBody>
      </p:sp>
      <p:sp>
        <p:nvSpPr>
          <p:cNvPr id="100020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Cara Kerja Serambi.ai</a:t>
            </a:r>
          </a:p>
        </p:txBody>
      </p:sp>
      <p:sp>
        <p:nvSpPr>
          <p:cNvPr id="100021" name="FlowLabel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Alur MVP (terverifikasi end-to-end):</a:t>
            </a:r>
          </a:p>
        </p:txBody>
      </p:sp>
      <p:sp>
        <p:nvSpPr>
          <p:cNvPr id="100022" name="Flow"/>
          <p:cNvSpPr txBox="1"/>
          <p:nvPr/>
        </p:nvSpPr>
        <p:spPr>
          <a:xfrm xmlns:a="http://schemas.openxmlformats.org/drawingml/2006/main">
            <a:off x="540000" y="151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1. Pengguna ketik goal karier di Web App  --&gt;  2. Web App memanggil MCP tool  --&gt;  3. Langflow menjalankan agent flow  --&gt;  4. LLM menyusun roadmap JSON  --&gt;  5. Web App tampilkan roadmap mingguan</a:t>
            </a:r>
          </a:p>
        </p:txBody>
      </p:sp>
      <p:sp>
        <p:nvSpPr>
          <p:cNvPr id="100023" name="Arch"/>
          <p:cNvSpPr txBox="1"/>
          <p:nvPr/>
        </p:nvSpPr>
        <p:spPr>
          <a:xfrm xmlns:a="http://schemas.openxmlformats.org/drawingml/2006/main">
            <a:off x="540000" y="2520000"/>
            <a:ext cx="10800000" cy="16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Stack integrasi: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IBM Bob (harness pengembangan)  --&gt;  MCP (streamable HTTP)  --&gt;  Langflow flow engine  --&gt;  NaraRouter / longcat-2.5 (LLM)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Kontrak MCP yang sama dipakai saat pengembangan (Bob) dan produksi (Web App backend) -- tanpa mengubah flow Langflow.</a:t>
            </a:r>
          </a:p>
        </p:txBody>
      </p:sp>
      <p:sp>
        <p:nvSpPr>
          <p:cNvPr id="100024" name="Verified"/>
          <p:cNvSpPr txBox="1"/>
          <p:nvPr/>
        </p:nvSpPr>
        <p:spPr>
          <a:xfrm xmlns:a="http://schemas.openxmlformats.org/drawingml/2006/main">
            <a:off x="540000" y="4320000"/>
            <a:ext cx="1080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7DFFB0"/>
                </a:solidFill>
                <a:latin typeface="Calibri"/>
                <a:ea typeface="Calibri"/>
              </a:rPr>
              <a:t>[VERIFIED] Goal Agent e2e: Bob --&gt; goal_decomposer MCP tool --&gt; JSON roadmap 12 minggu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06</a:t>
            </a:r>
          </a:p>
        </p:txBody>
      </p:sp>
      <p:sp>
        <p:nvSpPr>
          <p:cNvPr id="10002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AI &amp; Teknologi</a:t>
            </a:r>
          </a:p>
        </p:txBody>
      </p:sp>
      <p:sp>
        <p:nvSpPr>
          <p:cNvPr id="100027" name="Stack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E2761"/>
                </a:solidFill>
                <a:latin typeface="Calibri"/>
                <a:ea typeface="Calibri"/>
              </a:rPr>
              <a:t>Stack Utama:</a:t>
            </a:r>
          </a:p>
        </p:txBody>
      </p:sp>
      <p:sp>
        <p:nvSpPr>
          <p:cNvPr id="100028" name="StackDetail"/>
          <p:cNvSpPr txBox="1"/>
          <p:nvPr/>
        </p:nvSpPr>
        <p:spPr>
          <a:xfrm xmlns:a="http://schemas.openxmlformats.org/drawingml/2006/main">
            <a:off x="540000" y="1512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Bob  --  AI agent harness pengembangan: build, test, verifikasi agent e2e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IBM Langflow  --  Flow execution engine: setiap agent = 1 flow = 1 MCP tool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MCP (Model Context Protocol)  --  Bridge antara pemanggil dan agent Langflow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NaraRouter / longcat-2.5  --  LLM backbone: reasoning + generation (temperature 0.3)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Arsitektur: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Web App Backend  --[MCP streamable HTTP]--&gt;  Langflow  --&gt;  LLM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Setiap agent diekspos sebagai named MCP tool; pemanggil bisa diganti tanpa ubah flow.</a:t>
            </a:r>
          </a:p>
        </p:txBody>
      </p:sp>
      <p:sp>
        <p:nvSpPr>
          <p:cNvPr id="100029" name="ResearchGround"/>
          <p:cNvSpPr txBox="1"/>
          <p:nvPr/>
        </p:nvSpPr>
        <p:spPr>
          <a:xfrm xmlns:a="http://schemas.openxmlformats.org/drawingml/2006/main">
            <a:off x="540000" y="3960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Landasan riset desain AI: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GenMentor (FWCI 47.3) -- goal-to-skill mapping, multi-agent ITS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IntelliCode (FWCI 23.5) -- graduated hinting, centralized learner state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Feynman Bot (arXiv 2506.09055) -- 80%+ peserta lebih suka daripada membaca pasif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Zaidi et al. (arXiv 2004.11327) -- adaptive spaced repetition +15-20% retensi</a:t>
            </a:r>
          </a:p>
          <a:p xmlns:a="http://schemas.openxmlformats.org/drawingml/2006/main">
            <a:r>
              <a:rPr lang="en-US" sz="1500">
                <a:solidFill>
                  <a:srgbClr val="555555"/>
                </a:solidFill>
                <a:latin typeface="Calibri"/>
                <a:ea typeface="Calibri"/>
              </a:rPr>
              <a:t>BJET (dikutip 694x) -- guardrail anti-cognitive-offloading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30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07</a:t>
            </a:r>
          </a:p>
        </p:txBody>
      </p:sp>
      <p:sp>
        <p:nvSpPr>
          <p:cNvPr id="100031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Fitur Utama</a:t>
            </a:r>
          </a:p>
        </p:txBody>
      </p:sp>
      <p:sp>
        <p:nvSpPr>
          <p:cNvPr id="100032" name="Feature1"/>
          <p:cNvSpPr txBox="1"/>
          <p:nvPr/>
        </p:nvSpPr>
        <p:spPr>
          <a:xfrm xmlns:a="http://schemas.openxmlformats.org/drawingml/2006/main">
            <a:off x="540000" y="1152000"/>
            <a:ext cx="108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[LIVE e2e] 1. Goal Decomposer Agent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Pengguna ketik goal karier -&gt; roadmap mingguan JSON terstruktur (deadline_weeks, milestones, first_action)</a:t>
            </a:r>
          </a:p>
          <a:p xmlns:a="http://schemas.openxmlformats.org/drawingml/2006/main">
            <a:r>
              <a:rPr lang="en-US" sz="1700">
                <a:solidFill>
                  <a:srgbClr val="7DFFB0"/>
                </a:solidFill>
                <a:latin typeface="Calibri"/>
                <a:ea typeface="Calibri"/>
              </a:rPr>
              <a:t>MCP tool: goal_decomposer | Verified: Bob -&gt; Langflow -&gt; roadmap 12 minggu</a:t>
            </a:r>
          </a:p>
        </p:txBody>
      </p:sp>
      <p:sp>
        <p:nvSpPr>
          <p:cNvPr id="100033" name="Feature2"/>
          <p:cNvSpPr txBox="1"/>
          <p:nvPr/>
        </p:nvSpPr>
        <p:spPr>
          <a:xfrm xmlns:a="http://schemas.openxmlformats.org/drawingml/2006/main">
            <a:off x="540000" y="223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2. Tutor Agent (Feynman)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Menjelaskan konsep dengan probing questions -- AI tidak menjawab langsung, memancing refleksi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3. Assessment Agent (Graduated Hinting)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Kuis adaptif; bila salah, petunjuk terkecil lebih dulu -- bukan jawaban langsung (IntelliCode, FWCI 23.5)</a:t>
            </a:r>
          </a:p>
        </p:txBody>
      </p:sp>
      <p:sp>
        <p:nvSpPr>
          <p:cNvPr id="100034" name="Feature3"/>
          <p:cNvSpPr txBox="1"/>
          <p:nvPr/>
        </p:nvSpPr>
        <p:spPr>
          <a:xfrm xmlns:a="http://schemas.openxmlformats.org/drawingml/2006/main">
            <a:off x="540000" y="3672000"/>
            <a:ext cx="108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4. Progress Agent (Spaced Repetition)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Menjadwalkan review berbasis forgetting curve individual -- +15-20% retensi (Zaidi et al.)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[Dev] 5. Motivator &amp; Wellbeing Agent</a:t>
            </a:r>
          </a:p>
          <a:p xmlns:a="http://schemas.openxmlformats.org/drawingml/2006/main">
            <a:r>
              <a:rPr lang="en-US" sz="1700">
                <a:solidFill>
                  <a:srgbClr val="C8DCFF"/>
                </a:solidFill>
                <a:latin typeface="Calibri"/>
                <a:ea typeface="Calibri"/>
              </a:rPr>
              <a:t>Nudge kontekstual + cek burnout berkala -- mencegah putus belajar di tengah jalan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35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08</a:t>
            </a:r>
          </a:p>
        </p:txBody>
      </p:sp>
      <p:sp>
        <p:nvSpPr>
          <p:cNvPr id="100036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Prototype &amp; Demo</a:t>
            </a:r>
          </a:p>
        </p:txBody>
      </p:sp>
      <p:sp>
        <p:nvSpPr>
          <p:cNvPr id="100037" name="DemoFlow"/>
          <p:cNvSpPr txBox="1"/>
          <p:nvPr/>
        </p:nvSpPr>
        <p:spPr>
          <a:xfrm xmlns:a="http://schemas.openxmlformats.org/drawingml/2006/main">
            <a:off x="540000" y="1152000"/>
            <a:ext cx="10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Alur Demo (Goal Agent -- e2e verified):</a:t>
            </a:r>
          </a:p>
        </p:txBody>
      </p:sp>
      <p:sp>
        <p:nvSpPr>
          <p:cNvPr id="100038" name="DemoSteps"/>
          <p:cNvSpPr txBox="1"/>
          <p:nvPr/>
        </p:nvSpPr>
        <p:spPr>
          <a:xfrm xmlns:a="http://schemas.openxmlformats.org/drawingml/2006/main">
            <a:off x="540000" y="1512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01] Bob TUI -- harness pengembangan memanggil tool goal_decomposer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02] Canvas Langflow: flow goal_decomposer (Chat Input -&gt; Prompt -&gt; LLM -&gt; Chat Output)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03] Endpoint Langflow: nama flow + deskripsi agent dikonfigurasi</a:t>
            </a:r>
          </a:p>
          <a:p xmlns:a="http://schemas.openxmlformats.org/drawingml/2006/main">
            <a:r>
              <a:rPr lang="en-US" sz="1800">
                <a:solidFill>
                  <a:srgbClr val="333333"/>
                </a:solidFill>
                <a:latin typeface="Calibri"/>
                <a:ea typeface="Calibri"/>
              </a:rPr>
              <a:t>[Screenshot 04] Output nyata: JSON roadmap 12 minggu (goal: data analytics)</a:t>
            </a:r>
          </a:p>
        </p:txBody>
      </p:sp>
      <p:sp>
        <p:nvSpPr>
          <p:cNvPr id="100039" name="ScreenshotNote"/>
          <p:cNvSpPr txBox="1"/>
          <p:nvPr/>
        </p:nvSpPr>
        <p:spPr>
          <a:xfrm xmlns:a="http://schemas.openxmlformats.org/drawingml/2006/main">
            <a:off x="540000" y="342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[ Sisipkan 4 screenshot di sini: 01-user-interface.png, 02-langflow-workflow.png, 03-langflow-endpoint.png, 04-output.png ]</a:t>
            </a:r>
          </a:p>
          <a:p xmlns:a="http://schemas.openxmlformats.org/drawingml/2006/main">
            <a:r>
              <a:rPr lang="en-US" sz="1500">
                <a:solidFill>
                  <a:srgbClr val="999999"/>
                </a:solidFill>
                <a:latin typeface="Calibri"/>
                <a:ea typeface="Calibri"/>
              </a:rPr>
              <a:t>File ada di: submission/screenshots/</a:t>
            </a:r>
          </a:p>
        </p:txBody>
      </p:sp>
      <p:sp>
        <p:nvSpPr>
          <p:cNvPr id="100040" name="Claim"/>
          <p:cNvSpPr txBox="1"/>
          <p:nvPr/>
        </p:nvSpPr>
        <p:spPr>
          <a:xfrm xmlns:a="http://schemas.openxmlformats.org/drawingml/2006/main">
            <a:off x="540000" y="4320000"/>
            <a:ext cx="1080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Bukti integrasi: Bob memanggil MCP tool --&gt; Langflow menjalankan flow --&gt; JSON roadmap dikembalikan.</a:t>
            </a:r>
          </a:p>
          <a:p xmlns:a="http://schemas.openxmlformats.org/drawingml/2006/main">
            <a:r>
              <a:rPr lang="en-US" sz="1600" b="1">
                <a:solidFill>
                  <a:srgbClr val="1E2761"/>
                </a:solidFill>
                <a:latin typeface="Calibri"/>
                <a:ea typeface="Calibri"/>
              </a:rPr>
              <a:t>Bukan dijawab dari LLM Bob sendiri -- agent Langflow benar-benar dieksekusi.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41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09</a:t>
            </a:r>
          </a:p>
        </p:txBody>
      </p:sp>
      <p:sp>
        <p:nvSpPr>
          <p:cNvPr id="100042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Dampak &amp; Nilai</a:t>
            </a:r>
          </a:p>
        </p:txBody>
      </p:sp>
      <p:sp>
        <p:nvSpPr>
          <p:cNvPr id="100043" name="NorthStar"/>
          <p:cNvSpPr txBox="1"/>
          <p:nvPr/>
        </p:nvSpPr>
        <p:spPr>
          <a:xfrm xmlns:a="http://schemas.openxmlformats.org/drawingml/2006/main">
            <a:off x="540000" y="1152000"/>
            <a:ext cx="108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DFFB0"/>
                </a:solidFill>
                <a:latin typeface="Calibri"/>
                <a:ea typeface="Calibri"/>
              </a:rPr>
              <a:t>North Star: Career Goal Progress Rate &gt;= 15%/minggu per pengguna aktif</a:t>
            </a:r>
          </a:p>
        </p:txBody>
      </p:sp>
      <p:sp>
        <p:nvSpPr>
          <p:cNvPr id="100044" name="Metrics"/>
          <p:cNvSpPr txBox="1"/>
          <p:nvPr/>
        </p:nvSpPr>
        <p:spPr>
          <a:xfrm xmlns:a="http://schemas.openxmlformats.org/drawingml/2006/main">
            <a:off x="540000" y="1620000"/>
            <a:ext cx="10800000" cy="23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Roadmap personal: dari 2-4 jam riset mandiri menjadi kurang dari 1 menit -- terbukti pada demo e2e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Retensi belajar: +15-20% vs jadwal spaced repetition tetap (Zaidi et al., arXiv 2004.11327)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Target jangkauan: 1.000 pengguna/bulan pada 6 bulan pertama setelah rilis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Meta-analisis intervensi AI pada self-regulated learning: g = 1.613 (32 studi, Frontiers in Education 2025)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Calibri"/>
                <a:ea typeface="Calibri"/>
              </a:rPr>
              <a:t>Feynman Bot: 80%+ peserta lebih pilih daripada membaca pasif (arXiv 2506.09055)</a:t>
            </a:r>
          </a:p>
        </p:txBody>
      </p:sp>
      <p:sp>
        <p:nvSpPr>
          <p:cNvPr id="100045" name="Competitive"/>
          <p:cNvSpPr txBox="1"/>
          <p:nvPr/>
        </p:nvSpPr>
        <p:spPr>
          <a:xfrm xmlns:a="http://schemas.openxmlformats.org/drawingml/2006/main">
            <a:off x="540000" y="4140000"/>
            <a:ext cx="108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Mengapa bukan yang lain?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ChatGPT: oracle langsung jawab vs scaffold + guardrail anti-cognitive-offloading (BJET 694x)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Dicoding: jalur kursus tetap vs roadmap personal goal-anchored (Dicoding 1,3 juta+ pengguna, tapi tidak adaptif)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DataCamp: track data tetap, English-first, mahal vs adaptif + Bahasa Indonesia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Boot.dev: backend-only + English-only; Boots AI sudah Socratic (closest philosopher) tapi tidak ada Bahasa Indonesia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vs Bootcamp: jadwal mahal vs 24/7 AI adaptif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/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Strategic framing: Serambi.ai = 'Learning OS' di atas Dicoding/DataCamp/Boot.dev</a:t>
            </a:r>
          </a:p>
          <a:p>
            <a:r>
              <a:rPr lang="en-US" sz="1400">
                <a:solidFill>
                  <a:srgbClr val="A8C8FF"/>
                </a:solidFill>
                <a:latin typeface="Calibri"/>
                <a:ea typeface="Calibri"/>
              </a:rPr>
              <a:t>Kuadran unclaimed: High Adaptivity x Bahasa Indonesia</a:t>
            </a:r>
          </a:p>
        </p:txBody>
      </p:sp>
    </p:spTree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1E2761"/>
                </a:solidFill>
                <a:latin typeface="Calibri"/>
                <a:ea typeface="Calibri"/>
              </a:rPr>
              <a:t>10</a:t>
            </a:r>
          </a:p>
        </p:txBody>
      </p:sp>
      <p:sp>
        <p:nvSpPr>
          <p:cNvPr id="100047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E2761"/>
                </a:solidFill>
                <a:latin typeface="Calibri"/>
                <a:ea typeface="Calibri"/>
              </a:rPr>
              <a:t>Pengembangan ke Depan</a:t>
            </a:r>
          </a:p>
        </p:txBody>
      </p:sp>
      <p:sp>
        <p:nvSpPr>
          <p:cNvPr id="100048" name="Phase1"/>
          <p:cNvSpPr txBox="1"/>
          <p:nvPr/>
        </p:nvSpPr>
        <p:spPr>
          <a:xfrm xmlns:a="http://schemas.openxmlformats.org/drawingml/2006/main">
            <a:off x="54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Fase sekarang (MVP live):</a:t>
            </a:r>
          </a:p>
        </p:txBody>
      </p:sp>
      <p:sp>
        <p:nvSpPr>
          <p:cNvPr id="100049" name="Phase1Detail"/>
          <p:cNvSpPr txBox="1"/>
          <p:nvPr/>
        </p:nvSpPr>
        <p:spPr>
          <a:xfrm xmlns:a="http://schemas.openxmlformats.org/drawingml/2006/main">
            <a:off x="540000" y="1512000"/>
            <a:ext cx="5400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Goal Agent -- e2e verified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Infra MCP + Langflow + Bob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Dokumentasi + submission draft</a:t>
            </a:r>
          </a:p>
          <a:p xmlns:a="http://schemas.openxmlformats.org/drawingml/2006/main">
            <a:r>
              <a:rPr lang="en-US" sz="1600">
                <a:solidFill>
                  <a:srgbClr val="227722"/>
                </a:solidFill>
                <a:latin typeface="Calibri"/>
                <a:ea typeface="Calibri"/>
              </a:rPr>
              <a:t>[DONE] Verification scripts (flow + e2e)</a:t>
            </a:r>
          </a:p>
        </p:txBody>
      </p:sp>
      <p:sp>
        <p:nvSpPr>
          <p:cNvPr id="100050" name="Phase2"/>
          <p:cNvSpPr txBox="1"/>
          <p:nvPr/>
        </p:nvSpPr>
        <p:spPr>
          <a:xfrm xmlns:a="http://schemas.openxmlformats.org/drawingml/2006/main">
            <a:off x="6120000" y="1152000"/>
            <a:ext cx="54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E2761"/>
                </a:solidFill>
                <a:latin typeface="Calibri"/>
                <a:ea typeface="Calibri"/>
              </a:rPr>
              <a:t>3-6 bulan ke depan:</a:t>
            </a:r>
          </a:p>
        </p:txBody>
      </p:sp>
      <p:sp>
        <p:nvSpPr>
          <p:cNvPr id="100051" name="Phase2Detail"/>
          <p:cNvSpPr txBox="1"/>
          <p:nvPr/>
        </p:nvSpPr>
        <p:spPr>
          <a:xfrm xmlns:a="http://schemas.openxmlformats.org/drawingml/2006/main">
            <a:off x="6120000" y="1512000"/>
            <a:ext cx="5400000" cy="126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Tutor Agent (Feynman)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Assessment Agent (hinting)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Progress Agent (spaced rep)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Motivator + Wellbeing Agent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Web App (antarmuka pengguna)</a:t>
            </a:r>
          </a:p>
          <a:p xmlns:a="http://schemas.openxmlformats.org/drawingml/2006/main">
            <a:r>
              <a:rPr lang="en-US" sz="1600">
                <a:solidFill>
                  <a:srgbClr val="555555"/>
                </a:solidFill>
                <a:latin typeface="Calibri"/>
                <a:ea typeface="Calibri"/>
              </a:rPr>
              <a:t>[ ] WhatsApp bot surface</a:t>
            </a:r>
          </a:p>
        </p:txBody>
      </p:sp>
      <p:sp>
        <p:nvSpPr>
          <p:cNvPr id="100052" name="B2B"/>
          <p:cNvSpPr txBox="1"/>
          <p:nvPr/>
        </p:nvSpPr>
        <p:spPr>
          <a:xfrm xmlns:a="http://schemas.openxmlformats.org/drawingml/2006/main">
            <a:off x="540000" y="30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Roadmap B2B: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Whitelabel untuk bootcamp, kampus, program reskilling Komdigi</a:t>
            </a:r>
          </a:p>
          <a:p xmlns:a="http://schemas.openxmlformats.org/drawingml/2006/main">
            <a:r>
              <a:rPr lang="en-US" sz="1600">
                <a:solidFill>
                  <a:srgbClr val="333333"/>
                </a:solidFill>
                <a:latin typeface="Calibri"/>
                <a:ea typeface="Calibri"/>
              </a:rPr>
              <a:t>Satu instansi - ribuan peserta - biaya per pengguna rendah</a:t>
            </a:r>
          </a:p>
        </p:txBody>
      </p:sp>
      <p:sp>
        <p:nvSpPr>
          <p:cNvPr id="100053" name="Scale"/>
          <p:cNvSpPr txBox="1"/>
          <p:nvPr/>
        </p:nvSpPr>
        <p:spPr>
          <a:xfrm xmlns:a="http://schemas.openxmlformats.org/drawingml/2006/main">
            <a:off x="540000" y="39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Skala teknis: Langflow Cloud multi-tenant + analytics dashboard progres</a:t>
            </a:r>
          </a:p>
          <a:p xmlns:a="http://schemas.openxmlformats.org/drawingml/2006/main">
            <a:r>
              <a:rPr lang="en-US" sz="1500">
                <a:solidFill>
                  <a:srgbClr val="777777"/>
                </a:solidFill>
                <a:latin typeface="Calibri"/>
                <a:ea typeface="Calibri"/>
              </a:rPr>
              <a:t>Moat jangka panjang: model forgetting curve anonim per domain</a:t>
            </a:r>
          </a:p>
        </p:txBody>
      </p:sp>
    </p:spTree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54" name="SlideNum"/>
          <p:cNvSpPr txBox="1"/>
          <p:nvPr/>
        </p:nvSpPr>
        <p:spPr>
          <a:xfrm xmlns:a="http://schemas.openxmlformats.org/drawingml/2006/main">
            <a:off x="540000" y="180000"/>
            <a:ext cx="72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A8C8FF"/>
                </a:solidFill>
                <a:latin typeface="Calibri"/>
                <a:ea typeface="Calibri"/>
              </a:rPr>
              <a:t>11</a:t>
            </a:r>
          </a:p>
        </p:txBody>
      </p:sp>
      <p:sp>
        <p:nvSpPr>
          <p:cNvPr id="100055" name="Title"/>
          <p:cNvSpPr txBox="1"/>
          <p:nvPr/>
        </p:nvSpPr>
        <p:spPr>
          <a:xfrm xmlns:a="http://schemas.openxmlformats.org/drawingml/2006/main">
            <a:off x="540000" y="432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Tim</a:t>
            </a:r>
          </a:p>
        </p:txBody>
      </p:sp>
      <p:sp>
        <p:nvSpPr>
          <p:cNvPr id="100056" name="TeamPlaceholder"/>
          <p:cNvSpPr txBox="1"/>
          <p:nvPr/>
        </p:nvSpPr>
        <p:spPr>
          <a:xfrm xmlns:a="http://schemas.openxmlformats.org/drawingml/2006/main">
            <a:off x="540000" y="1260000"/>
            <a:ext cx="1080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200">
                <a:solidFill>
                  <a:srgbClr val="A8C8FF"/>
                </a:solidFill>
                <a:latin typeface="Calibri"/>
                <a:ea typeface="Calibri"/>
              </a:rPr>
              <a:t>[ Isi nama dan peran anggota tim di sini ]</a:t>
            </a:r>
          </a:p>
        </p:txBody>
      </p:sp>
      <p:sp>
        <p:nvSpPr>
          <p:cNvPr id="100057" name="WhyWin"/>
          <p:cNvSpPr txBox="1"/>
          <p:nvPr/>
        </p:nvSpPr>
        <p:spPr>
          <a:xfrm xmlns:a="http://schemas.openxmlformats.org/drawingml/2006/main">
            <a:off x="540000" y="2160000"/>
            <a:ext cx="10800000" cy="180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Mengapa tim ini: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Riset mendalam -- 30+ paper dengan abstract dan DOI, bukan sekadar klaim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Implementasi nyata -- Goal Agent e2e verified, bukan hanya mockup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Arsitektur modular -- tiap agent bisa dikembangkan dan diganti secara independen</a:t>
            </a:r>
          </a:p>
          <a:p xmlns:a="http://schemas.openxmlformats.org/drawingml/2006/main">
            <a:r>
              <a:rPr lang="en-US" sz="1800">
                <a:solidFill>
                  <a:srgbClr val="C8DCFF"/>
                </a:solidFill>
                <a:latin typeface="Calibri"/>
                <a:ea typeface="Calibri"/>
              </a:rPr>
              <a:t>Pedagogi berbasis bukti -- setiap fitur terhubung ke paper dengan FWCI tinggi</a:t>
            </a:r>
          </a:p>
        </p:txBody>
      </p:sp>
      <p:sp>
        <p:nvSpPr>
          <p:cNvPr id="100058" name="Repo"/>
          <p:cNvSpPr txBox="1"/>
          <p:nvPr/>
        </p:nvSpPr>
        <p:spPr>
          <a:xfrm xmlns:a="http://schemas.openxmlformats.org/drawingml/2006/main">
            <a:off x="540000" y="4320000"/>
            <a:ext cx="108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Repo: https://github.com/mmuchsin/serambi-ai</a:t>
            </a:r>
          </a:p>
          <a:p xmlns:a="http://schemas.openxmlformats.org/drawingml/2006/main">
            <a:r>
              <a:rPr lang="en-US" sz="1600">
                <a:solidFill>
                  <a:srgbClr val="A8C8FF"/>
                </a:solidFill>
                <a:latin typeface="Calibri"/>
                <a:ea typeface="Calibri"/>
              </a:rPr>
              <a:t>Stack: IBM Bob x IBM Langflow x MCP x NaraRouter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OfficeCLI/1.0.144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2026-10-04T05:09:44Z</dcterms:created>
  <cp:lastModifiedBy>OfficeCLI</cp:lastModifiedBy>
  <dcterms:modified xsi:type="dcterms:W3CDTF">2026-10-04T05:09:44Z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1.0.153</vt:lpwstr>
  </op:property>
  <op:property fmtid="{D5CDD505-2E9C-101B-9397-08002B2CF9AE}" pid="3" name="OfficeCLI.LastModified">
    <vt:lpwstr xmlns:vt="http://schemas.openxmlformats.org/officeDocument/2006/docPropsVTypes">2026-10-04T05:47:21Z</vt:lpwstr>
  </op:property>
</op:Properties>
</file>