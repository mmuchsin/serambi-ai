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cb8266380447414c" /><Relationship Type="http://schemas.openxmlformats.org/package/2006/relationships/metadata/core-properties" Target="/docProps/core.xml" Id="Ra0c12f637d1e4ad0" /><Relationship Type="http://schemas.openxmlformats.org/officeDocument/2006/relationships/extended-properties" Target="/docProps/app.xml" Id="Rd84f08dabc134139" /><Relationship Type="http://schemas.openxmlformats.org/officeDocument/2006/relationships/custom-properties" Target="/docProps/custom.xml" Id="R41c3fe6457994b83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b3aa25246d984ccd"/>
  </p:notesMasterIdLst>
  <p:sldIdLst>
    <p:sldId id="256" r:id="R7667d52b70a646f0"/>
    <p:sldId id="257" r:id="R2a9b6738cde54849"/>
    <p:sldId id="258" r:id="Rae0b7a571383433e"/>
    <p:sldId id="259" r:id="R356b928e662641dc"/>
    <p:sldId id="260" r:id="R440390e160eb483a"/>
    <p:sldId id="261" r:id="Rbe57f24420e64c67"/>
    <p:sldId id="262" r:id="R52556ed1d6654a99"/>
    <p:sldId id="263" r:id="R207c3b1cc6a245d5"/>
    <p:sldId id="264" r:id="R53351984f5fa4e33"/>
    <p:sldId id="265" r:id="Rbb8007878c5f4092"/>
    <p:sldId id="266" r:id="R20784dbbc0fe4f6c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7667d52b70a646f0" /><Relationship Type="http://schemas.openxmlformats.org/officeDocument/2006/relationships/notesMaster" Target="/ppt/notesMasters/notesMaster1.xml" Id="Rb3aa25246d984ccd" /><Relationship Type="http://schemas.openxmlformats.org/officeDocument/2006/relationships/slide" Target="/ppt/slides/slide2.xml" Id="R2a9b6738cde54849" /><Relationship Type="http://schemas.openxmlformats.org/officeDocument/2006/relationships/slide" Target="/ppt/slides/slide3.xml" Id="Rae0b7a571383433e" /><Relationship Type="http://schemas.openxmlformats.org/officeDocument/2006/relationships/slide" Target="/ppt/slides/slide4.xml" Id="R356b928e662641dc" /><Relationship Type="http://schemas.openxmlformats.org/officeDocument/2006/relationships/slide" Target="/ppt/slides/slide5.xml" Id="R440390e160eb483a" /><Relationship Type="http://schemas.openxmlformats.org/officeDocument/2006/relationships/slide" Target="/ppt/slides/slide6.xml" Id="Rbe57f24420e64c67" /><Relationship Type="http://schemas.openxmlformats.org/officeDocument/2006/relationships/slide" Target="/ppt/slides/slide7.xml" Id="R52556ed1d6654a99" /><Relationship Type="http://schemas.openxmlformats.org/officeDocument/2006/relationships/slide" Target="/ppt/slides/slide8.xml" Id="R207c3b1cc6a245d5" /><Relationship Type="http://schemas.openxmlformats.org/officeDocument/2006/relationships/slide" Target="/ppt/slides/slide9.xml" Id="R53351984f5fa4e33" /><Relationship Type="http://schemas.openxmlformats.org/officeDocument/2006/relationships/slide" Target="/ppt/slides/slide10.xml" Id="Rbb8007878c5f4092" /><Relationship Type="http://schemas.openxmlformats.org/officeDocument/2006/relationships/slide" Target="/ppt/slides/slide11.xml" Id="R20784dbbc0fe4f6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be0e9daae16e4f68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f630e9be54b4495" /><Relationship Type="http://schemas.openxmlformats.org/officeDocument/2006/relationships/slide" Target="/ppt/slides/slide1.xml" Id="R49768a47c7154c0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5ea4d0c46094d51" /><Relationship Type="http://schemas.openxmlformats.org/officeDocument/2006/relationships/slide" Target="/ppt/slides/slide2.xml" Id="R6b914f482f4e47f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bb3722a9a4f4676" /><Relationship Type="http://schemas.openxmlformats.org/officeDocument/2006/relationships/slide" Target="/ppt/slides/slide3.xml" Id="R54d023a7931e412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55dfe7e94ee4ce2" /><Relationship Type="http://schemas.openxmlformats.org/officeDocument/2006/relationships/slide" Target="/ppt/slides/slide4.xml" Id="R15fe9680357a4a3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be771109d964cfd" /><Relationship Type="http://schemas.openxmlformats.org/officeDocument/2006/relationships/slide" Target="/ppt/slides/slide5.xml" Id="Ra2761b18f097469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d040c1f8bce4c95" /><Relationship Type="http://schemas.openxmlformats.org/officeDocument/2006/relationships/slide" Target="/ppt/slides/slide6.xml" Id="R61b964a3658a423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80914ec6f334c2a" /><Relationship Type="http://schemas.openxmlformats.org/officeDocument/2006/relationships/slide" Target="/ppt/slides/slide7.xml" Id="R5c73452ef8ed4cf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415f68728af4d84" /><Relationship Type="http://schemas.openxmlformats.org/officeDocument/2006/relationships/slide" Target="/ppt/slides/slide8.xml" Id="Rf5c5fb94b8f2419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0146b37abae4df6" /><Relationship Type="http://schemas.openxmlformats.org/officeDocument/2006/relationships/slide" Target="/ppt/slides/slide9.xml" Id="R3edbc318fdeb439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c36166d205d74aa4" /><Relationship Type="http://schemas.openxmlformats.org/officeDocument/2006/relationships/slide" Target="/ppt/slides/slide10.xml" Id="R0616a1da08f74ab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2b7bf9308b94d90" /><Relationship Type="http://schemas.openxmlformats.org/officeDocument/2006/relationships/slide" Target="/ppt/slides/slide11.xml" Id="R77d75662a5284e7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1 — Cover. Serambi.ai: asisten belajar multi-agent adaptif untuk career switcher Indonesia. Tagline: belajar mandiri, tapi nggak sendirian. Stack: IBM Bob × Langflow × MCP.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2 -- Problem. Empat hambatan: (1) tidak ada roadmap personal, (2) progres tidak terlacak, (3) cognitive offloading (BJET 694 sitasi), (4) alternatif mahal. Market gap: upskilling growth B2B bukan individu.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3 -- Solution. Core insight: AI harus menjadi scaffold, bukan oracle. Desain pedagogis berbasis riset: GenMentor, IntelliCode, Feynman Bot, spaced repetition. Goal Agent sudah e2e verified.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4 -- Target User. Primer: career switcher 22-35, non-tech background, JTBD jelas. Sekunder: tech worker upskilling. B2B: bootcamp dan institusi pendidikan.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5 -- How It Works. Tiga layer: Web App (UI), MCP bridge (named tools), Langflow (flow execution). Kontrak MCP identik antara dev harness (Bob) dan backend web app produksi. Goal Agent sudah e2e verified.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6 -- AI &amp; Technology. Stack: Bob (harness), Langflow (flow engine), MCP (bridge), NaraRouter/longcat-2.5 (LLM). Setiap keputusan desain dilandasi paper dengan FWCI tinggi.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7 -- Key Features. 6 agent: Goal (live), Tutor (Feynman), Assessment (hinting), Progress (spaced rep), Motivator, Wellbeing. Setiap agent = 1 Langflow flow = 1 MCP tool.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8 -- Demo. Tunjukkan 4 screenshot: Bob TUI (harness dev), Langflow canvas, Langflow endpoint config, JSON output roadmap. Tekankan: ini bukan demo dari LLM Bob, ini agent Langflow yang benar-benar dipanggil lewat MCP.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9 -- Impact. North star metric: Career Goal Progress Rate. Angka kunci: &lt;1 menit roadmap, +15-20% retensi, g=1.613 meta-analisis AI, 80%+ Feynman Bot. Diferensiasi vs kursus online, ChatGPT, bootcamp.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10 -- Future Development. Now: Goal Agent done, infra solid. Next 3-6 bulan: 5 agent lain + web app. B2B: bootcamp/kampus whitelabel. Scale: Langflow Cloud + forgetting curve data moat.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11 -- Team. Isi nama anggota tim. Highlight: riset mendalam (30+ paper), implementasi nyata (e2e verified), arsitektur modular (MCP contract). Closing: repo public, invite juri untuk cek langsung.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05ce9b2cf44b8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bea703624d4f8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230f53591a4be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0b7040d6d546d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05d0e1c8d24994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a7ee5d7dd95044ae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eb156b23e94529" /><Relationship Type="http://schemas.openxmlformats.org/officeDocument/2006/relationships/notesSlide" Target="/ppt/notesSlides/notesSlide1.xml" Id="Rcb2117277553474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02ad456e5440c2" /><Relationship Type="http://schemas.openxmlformats.org/officeDocument/2006/relationships/notesSlide" Target="/ppt/notesSlides/notesSlide2.xml" Id="R4c8d7664123b429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09fffd49104489" /><Relationship Type="http://schemas.openxmlformats.org/officeDocument/2006/relationships/notesSlide" Target="/ppt/notesSlides/notesSlide3.xml" Id="R05ef907f9b0747e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fc06eb34194120" /><Relationship Type="http://schemas.openxmlformats.org/officeDocument/2006/relationships/notesSlide" Target="/ppt/notesSlides/notesSlide4.xml" Id="R8795c33b2644412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ea217660644c74" /><Relationship Type="http://schemas.openxmlformats.org/officeDocument/2006/relationships/notesSlide" Target="/ppt/notesSlides/notesSlide5.xml" Id="R61040ef51fd9412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7f65ca179c4cfe" /><Relationship Type="http://schemas.openxmlformats.org/officeDocument/2006/relationships/notesSlide" Target="/ppt/notesSlides/notesSlide6.xml" Id="R80bde9cfb791417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a070c2bd3f4d4f" /><Relationship Type="http://schemas.openxmlformats.org/officeDocument/2006/relationships/notesSlide" Target="/ppt/notesSlides/notesSlide7.xml" Id="Rddbb91f74ea947c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0a3d9db8f34b53" /><Relationship Type="http://schemas.openxmlformats.org/officeDocument/2006/relationships/notesSlide" Target="/ppt/notesSlides/notesSlide8.xml" Id="Rc8f14cd452dc48f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12bd143cfb4c6f" /><Relationship Type="http://schemas.openxmlformats.org/officeDocument/2006/relationships/notesSlide" Target="/ppt/notesSlides/notesSlide9.xml" Id="R3415710512084a0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85ba2ff0ff42a4" /><Relationship Type="http://schemas.openxmlformats.org/officeDocument/2006/relationships/notesSlide" Target="/ppt/notesSlides/notesSlide10.xml" Id="R01b82cab50cc4e9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073600fec64e61" /><Relationship Type="http://schemas.openxmlformats.org/officeDocument/2006/relationships/notesSlide" Target="/ppt/notesSlides/notesSlide11.xml" Id="R50d9d8dca1ee4fa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ProductName"/>
          <p:cNvSpPr txBox="1"/>
          <p:nvPr/>
        </p:nvSpPr>
        <p:spPr>
          <a:xfrm xmlns:a="http://schemas.openxmlformats.org/drawingml/2006/main">
            <a:off x="540000" y="900000"/>
            <a:ext cx="10800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5400" b="1">
                <a:solidFill>
                  <a:srgbClr val="FFFFFF"/>
                </a:solidFill>
                <a:latin typeface="Calibri"/>
                <a:ea typeface="Calibri"/>
              </a:rPr>
              <a:t>Serambi.ai</a:t>
            </a:r>
          </a:p>
        </p:txBody>
      </p:sp>
      <p:sp>
        <p:nvSpPr>
          <p:cNvPr id="100001" name="Tagline"/>
          <p:cNvSpPr txBox="1"/>
          <p:nvPr/>
        </p:nvSpPr>
        <p:spPr>
          <a:xfrm xmlns:a="http://schemas.openxmlformats.org/drawingml/2006/main">
            <a:off x="540000" y="2340000"/>
            <a:ext cx="1080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400">
                <a:solidFill>
                  <a:srgbClr val="A8C8FF"/>
                </a:solidFill>
                <a:latin typeface="Calibri"/>
                <a:ea typeface="Calibri"/>
              </a:rPr>
              <a:t>Belajar mandiri, tapi nggak sendirian.</a:t>
            </a:r>
          </a:p>
        </p:txBody>
      </p:sp>
      <p:sp>
        <p:nvSpPr>
          <p:cNvPr id="100002" name="SubTagline"/>
          <p:cNvSpPr txBox="1"/>
          <p:nvPr/>
        </p:nvSpPr>
        <p:spPr>
          <a:xfrm xmlns:a="http://schemas.openxmlformats.org/drawingml/2006/main">
            <a:off x="540000" y="3060000"/>
            <a:ext cx="1080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C8DCFF"/>
                </a:solidFill>
                <a:latin typeface="Calibri"/>
                <a:ea typeface="Calibri"/>
              </a:rPr>
              <a:t>Adaptive Multi-Agent Learning Assistant untuk Career Switcher Indonesia</a:t>
            </a:r>
          </a:p>
        </p:txBody>
      </p:sp>
      <p:sp>
        <p:nvSpPr>
          <p:cNvPr id="100003" name="Event"/>
          <p:cNvSpPr txBox="1"/>
          <p:nvPr/>
        </p:nvSpPr>
        <p:spPr>
          <a:xfrm xmlns:a="http://schemas.openxmlformats.org/drawingml/2006/main">
            <a:off x="540000" y="3960000"/>
            <a:ext cx="1080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8AAADD"/>
                </a:solidFill>
                <a:latin typeface="Calibri"/>
                <a:ea typeface="Calibri"/>
              </a:rPr>
              <a:t>IBM SkillsBuild University Education National Hackathon · Hacktiv8 × IBM × Komdigi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04" name="SlideNum"/>
          <p:cNvSpPr txBox="1"/>
          <p:nvPr/>
        </p:nvSpPr>
        <p:spPr>
          <a:xfrm xmlns:a="http://schemas.openxmlformats.org/drawingml/2006/main">
            <a:off x="540000" y="180000"/>
            <a:ext cx="7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1E2761"/>
                </a:solidFill>
                <a:latin typeface="Calibri"/>
                <a:ea typeface="Calibri"/>
              </a:rPr>
              <a:t>02</a:t>
            </a:r>
          </a:p>
        </p:txBody>
      </p:sp>
      <p:sp>
        <p:nvSpPr>
          <p:cNvPr id="100005" name="Title"/>
          <p:cNvSpPr txBox="1"/>
          <p:nvPr/>
        </p:nvSpPr>
        <p:spPr>
          <a:xfrm xmlns:a="http://schemas.openxmlformats.org/drawingml/2006/main">
            <a:off x="540000" y="43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E2761"/>
                </a:solidFill>
                <a:latin typeface="Calibri"/>
                <a:ea typeface="Calibri"/>
              </a:rPr>
              <a:t>Masalah yang Ingin Kami Selesaikan</a:t>
            </a:r>
          </a:p>
        </p:txBody>
      </p:sp>
      <p:sp>
        <p:nvSpPr>
          <p:cNvPr id="100006" name="Stat"/>
          <p:cNvSpPr txBox="1"/>
          <p:nvPr/>
        </p:nvSpPr>
        <p:spPr>
          <a:xfrm xmlns:a="http://schemas.openxmlformats.org/drawingml/2006/main">
            <a:off x="540000" y="1152000"/>
            <a:ext cx="1080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C0392B"/>
                </a:solidFill>
                <a:latin typeface="Calibri"/>
                <a:ea typeface="Calibri"/>
              </a:rPr>
              <a:t>Career switcher Indonesia belajar mandiri -- dan banyak yang gagal di tengah jalan.</a:t>
            </a:r>
          </a:p>
        </p:txBody>
      </p:sp>
      <p:sp>
        <p:nvSpPr>
          <p:cNvPr id="100007" name="Body"/>
          <p:cNvSpPr txBox="1"/>
          <p:nvPr/>
        </p:nvSpPr>
        <p:spPr>
          <a:xfrm xmlns:a="http://schemas.openxmlformats.org/drawingml/2006/main">
            <a:off x="540000" y="1692000"/>
            <a:ext cx="10800000" cy="28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X  Tidak ada roadmap personal -- materi acak dari YouTube, Udemy, blog tanpa dipetakan ke skill gap target role.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X  Progres tidak terlacak -- tidak ada jawaban untuk sudah sejauh mana, harus lanjut ke apa?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X  AI generik memicu cognitive offloading -- langsung dijawab, tanpa belajar aktif. (BJET, dikutip 694x)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X  Alternatif mahal -- bootcamp &amp; mentor privat tidak terjangkau; kursus online one-size-fits-all.</a:t>
            </a:r>
          </a:p>
        </p:txBody>
      </p:sp>
      <p:sp>
        <p:nvSpPr>
          <p:cNvPr id="100008" name="Footer"/>
          <p:cNvSpPr txBox="1"/>
          <p:nvPr/>
        </p:nvSpPr>
        <p:spPr>
          <a:xfrm xmlns:a="http://schemas.openxmlformats.org/drawingml/2006/main">
            <a:off x="540000" y="4752000"/>
            <a:ext cx="1080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777777"/>
                </a:solidFill>
                <a:latin typeface="Calibri"/>
                <a:ea typeface="Calibri"/>
              </a:rPr>
              <a:t>Market upskilling global tumbuh 11-14% CAGR -- tapi sebagian besar B2B/korporasi. Career switcher individu terlewat.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9" name="SlideNum"/>
          <p:cNvSpPr txBox="1"/>
          <p:nvPr/>
        </p:nvSpPr>
        <p:spPr>
          <a:xfrm xmlns:a="http://schemas.openxmlformats.org/drawingml/2006/main">
            <a:off x="540000" y="180000"/>
            <a:ext cx="7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A8C8FF"/>
                </a:solidFill>
                <a:latin typeface="Calibri"/>
                <a:ea typeface="Calibri"/>
              </a:rPr>
              <a:t>03</a:t>
            </a:r>
          </a:p>
        </p:txBody>
      </p:sp>
      <p:sp>
        <p:nvSpPr>
          <p:cNvPr id="100010" name="Title"/>
          <p:cNvSpPr txBox="1"/>
          <p:nvPr/>
        </p:nvSpPr>
        <p:spPr>
          <a:xfrm xmlns:a="http://schemas.openxmlformats.org/drawingml/2006/main">
            <a:off x="540000" y="43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  <a:latin typeface="Calibri"/>
                <a:ea typeface="Calibri"/>
              </a:rPr>
              <a:t>Solusi: Scaffold, Bukan Oracle</a:t>
            </a:r>
          </a:p>
        </p:txBody>
      </p:sp>
      <p:sp>
        <p:nvSpPr>
          <p:cNvPr id="100011" name="ValueProp"/>
          <p:cNvSpPr txBox="1"/>
          <p:nvPr/>
        </p:nvSpPr>
        <p:spPr>
          <a:xfrm xmlns:a="http://schemas.openxmlformats.org/drawingml/2006/main">
            <a:off x="540000" y="115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000">
                <a:solidFill>
                  <a:srgbClr val="A8C8FF"/>
                </a:solidFill>
                <a:latin typeface="Calibri"/>
                <a:ea typeface="Calibri"/>
              </a:rPr>
              <a:t>Serambi.ai adalah asisten belajar adaptif berbasis multi-agent AI yang memandu career switcher Indonesia -- bukan menjawab untuk mereka.</a:t>
            </a:r>
          </a:p>
        </p:txBody>
      </p:sp>
      <p:sp>
        <p:nvSpPr>
          <p:cNvPr id="100012" name="Body"/>
          <p:cNvSpPr txBox="1"/>
          <p:nvPr/>
        </p:nvSpPr>
        <p:spPr>
          <a:xfrm xmlns:a="http://schemas.openxmlformats.org/drawingml/2006/main">
            <a:off x="540000" y="1980000"/>
            <a:ext cx="10800000" cy="28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Pengguna ketik goal karier: 'jadi data analyst dalam 3 bulan'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Serambi.ai memecah goal -&gt; roadmap mingguan terstruktur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Agent Tutor menjelaskan konsep dengan teknik Feynman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Agent Assessment memberi kuis adaptif + graduated hints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Agent Progress menjadwalkan review berbasis forgetting curve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Agent Wellbeing memantau motivasi dan cegah burnout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13" name="SlideNum"/>
          <p:cNvSpPr txBox="1"/>
          <p:nvPr/>
        </p:nvSpPr>
        <p:spPr>
          <a:xfrm xmlns:a="http://schemas.openxmlformats.org/drawingml/2006/main">
            <a:off x="540000" y="180000"/>
            <a:ext cx="7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1E2761"/>
                </a:solidFill>
                <a:latin typeface="Calibri"/>
                <a:ea typeface="Calibri"/>
              </a:rPr>
              <a:t>04</a:t>
            </a:r>
          </a:p>
        </p:txBody>
      </p:sp>
      <p:sp>
        <p:nvSpPr>
          <p:cNvPr id="100014" name="Title"/>
          <p:cNvSpPr txBox="1"/>
          <p:nvPr/>
        </p:nvSpPr>
        <p:spPr>
          <a:xfrm xmlns:a="http://schemas.openxmlformats.org/drawingml/2006/main">
            <a:off x="540000" y="43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E2761"/>
                </a:solidFill>
                <a:latin typeface="Calibri"/>
                <a:ea typeface="Calibri"/>
              </a:rPr>
              <a:t>Target Pengguna</a:t>
            </a:r>
          </a:p>
        </p:txBody>
      </p:sp>
      <p:sp>
        <p:nvSpPr>
          <p:cNvPr id="100015" name="Persona"/>
          <p:cNvSpPr txBox="1"/>
          <p:nvPr/>
        </p:nvSpPr>
        <p:spPr>
          <a:xfrm xmlns:a="http://schemas.openxmlformats.org/drawingml/2006/main">
            <a:off x="540000" y="1152000"/>
            <a:ext cx="1080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1E2761"/>
                </a:solidFill>
                <a:latin typeface="Calibri"/>
                <a:ea typeface="Calibri"/>
              </a:rPr>
              <a:t>Pengguna Primer -- Career Switcher Indonesia</a:t>
            </a:r>
          </a:p>
        </p:txBody>
      </p:sp>
      <p:sp>
        <p:nvSpPr>
          <p:cNvPr id="100016" name="PersonaDetail"/>
          <p:cNvSpPr txBox="1"/>
          <p:nvPr/>
        </p:nvSpPr>
        <p:spPr>
          <a:xfrm xmlns:a="http://schemas.openxmlformats.org/drawingml/2006/main">
            <a:off x="540000" y="1548000"/>
            <a:ext cx="10800000" cy="16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Profesional usia 22-35, bekerja di non-tech (admin, marketing, guru, operasional)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Ingin pindah ke tech role: data analyst, backend dev, ML engineer dalam 1-6 bulan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Belajar mandiri, waktu terbatas, bahasa Indonesia, tidak mau/mampu bayar bootcamp mahal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Job-to-be-done: 'Saya mau jadi data analyst 3 bulan -- sudah mulai tapi tidak tahu harus ngapain selanjutnya'</a:t>
            </a:r>
          </a:p>
        </p:txBody>
      </p:sp>
      <p:sp>
        <p:nvSpPr>
          <p:cNvPr id="100017" name="Secondary"/>
          <p:cNvSpPr txBox="1"/>
          <p:nvPr/>
        </p:nvSpPr>
        <p:spPr>
          <a:xfrm xmlns:a="http://schemas.openxmlformats.org/drawingml/2006/main">
            <a:off x="540000" y="3312000"/>
            <a:ext cx="10800000" cy="7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555555"/>
                </a:solidFill>
                <a:latin typeface="Calibri"/>
                <a:ea typeface="Calibri"/>
              </a:rPr>
              <a:t>Pengguna Sekunder: Tech worker yang ingin naik level / pivot domain</a:t>
            </a:r>
          </a:p>
          <a:p xmlns:a="http://schemas.openxmlformats.org/drawingml/2006/main">
            <a:r>
              <a:rPr lang="en-US" sz="1600">
                <a:solidFill>
                  <a:srgbClr val="555555"/>
                </a:solidFill>
                <a:latin typeface="Calibri"/>
                <a:ea typeface="Calibri"/>
              </a:rPr>
              <a:t>Pengguna B2B (roadmap): bootcamp, kampus, program reskilling Komdigi</a:t>
            </a:r>
          </a:p>
        </p:txBody>
      </p:sp>
      <p:sp>
        <p:nvSpPr>
          <p:cNvPr id="100018" name="MarketNote"/>
          <p:cNvSpPr txBox="1"/>
          <p:nvPr/>
        </p:nvSpPr>
        <p:spPr>
          <a:xfrm xmlns:a="http://schemas.openxmlformats.org/drawingml/2006/main">
            <a:off x="540000" y="4248000"/>
            <a:ext cx="10800000" cy="57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888888"/>
                </a:solidFill>
                <a:latin typeface="Calibri"/>
                <a:ea typeface="Calibri"/>
              </a:rPr>
              <a:t>OECD (2024): kesenjangan tech skills vs output pendidikan tradisional terus melebar -- reskilling mandiri adalah solusi utama, tapi minim dukungan adaptif.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19" name="SlideNum"/>
          <p:cNvSpPr txBox="1"/>
          <p:nvPr/>
        </p:nvSpPr>
        <p:spPr>
          <a:xfrm xmlns:a="http://schemas.openxmlformats.org/drawingml/2006/main">
            <a:off x="540000" y="180000"/>
            <a:ext cx="7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A8C8FF"/>
                </a:solidFill>
                <a:latin typeface="Calibri"/>
                <a:ea typeface="Calibri"/>
              </a:rPr>
              <a:t>05</a:t>
            </a:r>
          </a:p>
        </p:txBody>
      </p:sp>
      <p:sp>
        <p:nvSpPr>
          <p:cNvPr id="100020" name="Title"/>
          <p:cNvSpPr txBox="1"/>
          <p:nvPr/>
        </p:nvSpPr>
        <p:spPr>
          <a:xfrm xmlns:a="http://schemas.openxmlformats.org/drawingml/2006/main">
            <a:off x="540000" y="43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  <a:latin typeface="Calibri"/>
                <a:ea typeface="Calibri"/>
              </a:rPr>
              <a:t>Cara Kerja Serambi.ai</a:t>
            </a:r>
          </a:p>
        </p:txBody>
      </p:sp>
      <p:sp>
        <p:nvSpPr>
          <p:cNvPr id="100021" name="FlowLabel"/>
          <p:cNvSpPr txBox="1"/>
          <p:nvPr/>
        </p:nvSpPr>
        <p:spPr>
          <a:xfrm xmlns:a="http://schemas.openxmlformats.org/drawingml/2006/main">
            <a:off x="540000" y="1152000"/>
            <a:ext cx="1080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A8C8FF"/>
                </a:solidFill>
                <a:latin typeface="Calibri"/>
                <a:ea typeface="Calibri"/>
              </a:rPr>
              <a:t>Alur MVP (terverifikasi end-to-end):</a:t>
            </a:r>
          </a:p>
        </p:txBody>
      </p:sp>
      <p:sp>
        <p:nvSpPr>
          <p:cNvPr id="100022" name="Flow"/>
          <p:cNvSpPr txBox="1"/>
          <p:nvPr/>
        </p:nvSpPr>
        <p:spPr>
          <a:xfrm xmlns:a="http://schemas.openxmlformats.org/drawingml/2006/main">
            <a:off x="540000" y="1512000"/>
            <a:ext cx="1080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FFFFFF"/>
                </a:solidFill>
                <a:latin typeface="Calibri"/>
                <a:ea typeface="Calibri"/>
              </a:rPr>
              <a:t>1. Pengguna ketik goal karier di Web App  --&gt;  2. Web App memanggil MCP tool  --&gt;  3. Langflow menjalankan agent flow  --&gt;  4. LLM menyusun roadmap JSON  --&gt;  5. Web App tampilkan roadmap mingguan</a:t>
            </a:r>
          </a:p>
        </p:txBody>
      </p:sp>
      <p:sp>
        <p:nvSpPr>
          <p:cNvPr id="100023" name="Arch"/>
          <p:cNvSpPr txBox="1"/>
          <p:nvPr/>
        </p:nvSpPr>
        <p:spPr>
          <a:xfrm xmlns:a="http://schemas.openxmlformats.org/drawingml/2006/main">
            <a:off x="540000" y="2520000"/>
            <a:ext cx="10800000" cy="16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C8DCFF"/>
                </a:solidFill>
                <a:latin typeface="Calibri"/>
                <a:ea typeface="Calibri"/>
              </a:rPr>
              <a:t>Stack integrasi:</a:t>
            </a:r>
          </a:p>
          <a:p xmlns:a="http://schemas.openxmlformats.org/drawingml/2006/main">
            <a:r>
              <a:rPr lang="en-US" sz="1800">
                <a:solidFill>
                  <a:srgbClr val="C8DC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C8DCFF"/>
                </a:solidFill>
                <a:latin typeface="Calibri"/>
                <a:ea typeface="Calibri"/>
              </a:rPr>
              <a:t>IBM Bob (harness pengembangan)  --&gt;  MCP (streamable HTTP)  --&gt;  Langflow flow engine  --&gt;  NaraRouter / longcat-2.5 (LLM)</a:t>
            </a:r>
          </a:p>
          <a:p xmlns:a="http://schemas.openxmlformats.org/drawingml/2006/main">
            <a:r>
              <a:rPr lang="en-US" sz="1800">
                <a:solidFill>
                  <a:srgbClr val="C8DC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C8DCFF"/>
                </a:solidFill>
                <a:latin typeface="Calibri"/>
                <a:ea typeface="Calibri"/>
              </a:rPr>
              <a:t>Kontrak MCP yang sama dipakai saat pengembangan (Bob) dan produksi (Web App backend) -- tanpa mengubah flow Langflow.</a:t>
            </a:r>
          </a:p>
        </p:txBody>
      </p:sp>
      <p:sp>
        <p:nvSpPr>
          <p:cNvPr id="100024" name="Verified"/>
          <p:cNvSpPr txBox="1"/>
          <p:nvPr/>
        </p:nvSpPr>
        <p:spPr>
          <a:xfrm xmlns:a="http://schemas.openxmlformats.org/drawingml/2006/main">
            <a:off x="540000" y="4320000"/>
            <a:ext cx="1080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1">
                <a:solidFill>
                  <a:srgbClr val="7DFFB0"/>
                </a:solidFill>
                <a:latin typeface="Calibri"/>
                <a:ea typeface="Calibri"/>
              </a:rPr>
              <a:t>[VERIFIED] Goal Agent e2e: Bob --&gt; goal_decomposer MCP tool --&gt; JSON roadmap 12 minggu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25" name="SlideNum"/>
          <p:cNvSpPr txBox="1"/>
          <p:nvPr/>
        </p:nvSpPr>
        <p:spPr>
          <a:xfrm xmlns:a="http://schemas.openxmlformats.org/drawingml/2006/main">
            <a:off x="540000" y="180000"/>
            <a:ext cx="7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1E2761"/>
                </a:solidFill>
                <a:latin typeface="Calibri"/>
                <a:ea typeface="Calibri"/>
              </a:rPr>
              <a:t>06</a:t>
            </a:r>
          </a:p>
        </p:txBody>
      </p:sp>
      <p:sp>
        <p:nvSpPr>
          <p:cNvPr id="100026" name="Title"/>
          <p:cNvSpPr txBox="1"/>
          <p:nvPr/>
        </p:nvSpPr>
        <p:spPr>
          <a:xfrm xmlns:a="http://schemas.openxmlformats.org/drawingml/2006/main">
            <a:off x="540000" y="43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E2761"/>
                </a:solidFill>
                <a:latin typeface="Calibri"/>
                <a:ea typeface="Calibri"/>
              </a:rPr>
              <a:t>AI &amp; Teknologi</a:t>
            </a:r>
          </a:p>
        </p:txBody>
      </p:sp>
      <p:sp>
        <p:nvSpPr>
          <p:cNvPr id="100027" name="Stack"/>
          <p:cNvSpPr txBox="1"/>
          <p:nvPr/>
        </p:nvSpPr>
        <p:spPr>
          <a:xfrm xmlns:a="http://schemas.openxmlformats.org/drawingml/2006/main">
            <a:off x="540000" y="1152000"/>
            <a:ext cx="1080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1E2761"/>
                </a:solidFill>
                <a:latin typeface="Calibri"/>
                <a:ea typeface="Calibri"/>
              </a:rPr>
              <a:t>Stack Utama:</a:t>
            </a:r>
          </a:p>
        </p:txBody>
      </p:sp>
      <p:sp>
        <p:nvSpPr>
          <p:cNvPr id="100028" name="StackDetail"/>
          <p:cNvSpPr txBox="1"/>
          <p:nvPr/>
        </p:nvSpPr>
        <p:spPr>
          <a:xfrm xmlns:a="http://schemas.openxmlformats.org/drawingml/2006/main">
            <a:off x="540000" y="1512000"/>
            <a:ext cx="10800000" cy="23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IBM Bob  --  AI agent harness pengembangan: build, test, verifikasi agent e2e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IBM Langflow  --  Flow execution engine: setiap agent = 1 flow = 1 MCP tool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MCP (Model Context Protocol)  --  Bridge antara pemanggil dan agent Langflow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NaraRouter / longcat-2.5  --  LLM backbone: reasoning + generation (temperature 0.3)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Arsitektur: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Web App Backend  --[MCP streamable HTTP]--&gt;  Langflow  --&gt;  LLM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Setiap agent diekspos sebagai named MCP tool; pemanggil bisa diganti tanpa ubah flow.</a:t>
            </a:r>
          </a:p>
        </p:txBody>
      </p:sp>
      <p:sp>
        <p:nvSpPr>
          <p:cNvPr id="100029" name="ResearchGround"/>
          <p:cNvSpPr txBox="1"/>
          <p:nvPr/>
        </p:nvSpPr>
        <p:spPr>
          <a:xfrm xmlns:a="http://schemas.openxmlformats.org/drawingml/2006/main">
            <a:off x="540000" y="3960000"/>
            <a:ext cx="10800000" cy="12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>
                <a:solidFill>
                  <a:srgbClr val="555555"/>
                </a:solidFill>
                <a:latin typeface="Calibri"/>
                <a:ea typeface="Calibri"/>
              </a:rPr>
              <a:t>Landasan riset desain AI:</a:t>
            </a:r>
          </a:p>
          <a:p xmlns:a="http://schemas.openxmlformats.org/drawingml/2006/main">
            <a:r>
              <a:rPr lang="en-US" sz="1500">
                <a:solidFill>
                  <a:srgbClr val="555555"/>
                </a:solidFill>
                <a:latin typeface="Calibri"/>
                <a:ea typeface="Calibri"/>
              </a:rPr>
              <a:t>GenMentor (FWCI 47.3) -- goal-to-skill mapping, multi-agent ITS</a:t>
            </a:r>
          </a:p>
          <a:p xmlns:a="http://schemas.openxmlformats.org/drawingml/2006/main">
            <a:r>
              <a:rPr lang="en-US" sz="1500">
                <a:solidFill>
                  <a:srgbClr val="555555"/>
                </a:solidFill>
                <a:latin typeface="Calibri"/>
                <a:ea typeface="Calibri"/>
              </a:rPr>
              <a:t>IntelliCode (FWCI 23.5) -- graduated hinting, centralized learner state</a:t>
            </a:r>
          </a:p>
          <a:p xmlns:a="http://schemas.openxmlformats.org/drawingml/2006/main">
            <a:r>
              <a:rPr lang="en-US" sz="1500">
                <a:solidFill>
                  <a:srgbClr val="555555"/>
                </a:solidFill>
                <a:latin typeface="Calibri"/>
                <a:ea typeface="Calibri"/>
              </a:rPr>
              <a:t>Feynman Bot (arXiv 2506.09055) -- 80%+ peserta lebih suka daripada membaca pasif</a:t>
            </a:r>
          </a:p>
          <a:p xmlns:a="http://schemas.openxmlformats.org/drawingml/2006/main">
            <a:r>
              <a:rPr lang="en-US" sz="1500">
                <a:solidFill>
                  <a:srgbClr val="555555"/>
                </a:solidFill>
                <a:latin typeface="Calibri"/>
                <a:ea typeface="Calibri"/>
              </a:rPr>
              <a:t>Zaidi et al. (arXiv 2004.11327) -- adaptive spaced repetition +15-20% retensi</a:t>
            </a:r>
          </a:p>
          <a:p xmlns:a="http://schemas.openxmlformats.org/drawingml/2006/main">
            <a:r>
              <a:rPr lang="en-US" sz="1500">
                <a:solidFill>
                  <a:srgbClr val="555555"/>
                </a:solidFill>
                <a:latin typeface="Calibri"/>
                <a:ea typeface="Calibri"/>
              </a:rPr>
              <a:t>BJET (dikutip 694x) -- guardrail anti-cognitive-offloading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30" name="SlideNum"/>
          <p:cNvSpPr txBox="1"/>
          <p:nvPr/>
        </p:nvSpPr>
        <p:spPr>
          <a:xfrm xmlns:a="http://schemas.openxmlformats.org/drawingml/2006/main">
            <a:off x="540000" y="180000"/>
            <a:ext cx="7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A8C8FF"/>
                </a:solidFill>
                <a:latin typeface="Calibri"/>
                <a:ea typeface="Calibri"/>
              </a:rPr>
              <a:t>07</a:t>
            </a:r>
          </a:p>
        </p:txBody>
      </p:sp>
      <p:sp>
        <p:nvSpPr>
          <p:cNvPr id="100031" name="Title"/>
          <p:cNvSpPr txBox="1"/>
          <p:nvPr/>
        </p:nvSpPr>
        <p:spPr>
          <a:xfrm xmlns:a="http://schemas.openxmlformats.org/drawingml/2006/main">
            <a:off x="540000" y="43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  <a:latin typeface="Calibri"/>
                <a:ea typeface="Calibri"/>
              </a:rPr>
              <a:t>Fitur Utama</a:t>
            </a:r>
          </a:p>
        </p:txBody>
      </p:sp>
      <p:sp>
        <p:nvSpPr>
          <p:cNvPr id="100032" name="Feature1"/>
          <p:cNvSpPr txBox="1"/>
          <p:nvPr/>
        </p:nvSpPr>
        <p:spPr>
          <a:xfrm xmlns:a="http://schemas.openxmlformats.org/drawingml/2006/main">
            <a:off x="540000" y="1152000"/>
            <a:ext cx="1080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>
                <a:solidFill>
                  <a:srgbClr val="7DFFB0"/>
                </a:solidFill>
                <a:latin typeface="Calibri"/>
                <a:ea typeface="Calibri"/>
              </a:rPr>
              <a:t>[LIVE e2e] 1. Goal Decomposer Agent</a:t>
            </a:r>
          </a:p>
          <a:p xmlns:a="http://schemas.openxmlformats.org/drawingml/2006/main">
            <a:r>
              <a:rPr lang="en-US" sz="1700">
                <a:solidFill>
                  <a:srgbClr val="7DFFB0"/>
                </a:solidFill>
                <a:latin typeface="Calibri"/>
                <a:ea typeface="Calibri"/>
              </a:rPr>
              <a:t>Pengguna ketik goal karier -&gt; roadmap mingguan JSON terstruktur (deadline_weeks, milestones, first_action)</a:t>
            </a:r>
          </a:p>
          <a:p xmlns:a="http://schemas.openxmlformats.org/drawingml/2006/main">
            <a:r>
              <a:rPr lang="en-US" sz="1700">
                <a:solidFill>
                  <a:srgbClr val="7DFFB0"/>
                </a:solidFill>
                <a:latin typeface="Calibri"/>
                <a:ea typeface="Calibri"/>
              </a:rPr>
              <a:t>MCP tool: goal_decomposer | Verified: Bob -&gt; Langflow -&gt; roadmap 12 minggu</a:t>
            </a:r>
          </a:p>
        </p:txBody>
      </p:sp>
      <p:sp>
        <p:nvSpPr>
          <p:cNvPr id="100033" name="Feature2"/>
          <p:cNvSpPr txBox="1"/>
          <p:nvPr/>
        </p:nvSpPr>
        <p:spPr>
          <a:xfrm xmlns:a="http://schemas.openxmlformats.org/drawingml/2006/main">
            <a:off x="540000" y="2232000"/>
            <a:ext cx="10800000" cy="12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>
                <a:solidFill>
                  <a:srgbClr val="C8DCFF"/>
                </a:solidFill>
                <a:latin typeface="Calibri"/>
                <a:ea typeface="Calibri"/>
              </a:rPr>
              <a:t>[Dev] 2. Tutor Agent (Feynman)</a:t>
            </a:r>
          </a:p>
          <a:p xmlns:a="http://schemas.openxmlformats.org/drawingml/2006/main">
            <a:r>
              <a:rPr lang="en-US" sz="1700">
                <a:solidFill>
                  <a:srgbClr val="C8DCFF"/>
                </a:solidFill>
                <a:latin typeface="Calibri"/>
                <a:ea typeface="Calibri"/>
              </a:rPr>
              <a:t>Menjelaskan konsep dengan probing questions -- AI tidak menjawab langsung, memancing refleksi</a:t>
            </a:r>
          </a:p>
          <a:p xmlns:a="http://schemas.openxmlformats.org/drawingml/2006/main">
            <a:r>
              <a:rPr lang="en-US" sz="1700">
                <a:solidFill>
                  <a:srgbClr val="C8DC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700">
                <a:solidFill>
                  <a:srgbClr val="C8DCFF"/>
                </a:solidFill>
                <a:latin typeface="Calibri"/>
                <a:ea typeface="Calibri"/>
              </a:rPr>
              <a:t>[Dev] 3. Assessment Agent (Graduated Hinting)</a:t>
            </a:r>
          </a:p>
          <a:p xmlns:a="http://schemas.openxmlformats.org/drawingml/2006/main">
            <a:r>
              <a:rPr lang="en-US" sz="1700">
                <a:solidFill>
                  <a:srgbClr val="C8DCFF"/>
                </a:solidFill>
                <a:latin typeface="Calibri"/>
                <a:ea typeface="Calibri"/>
              </a:rPr>
              <a:t>Kuis adaptif; bila salah, petunjuk terkecil lebih dulu -- bukan jawaban langsung (IntelliCode, FWCI 23.5)</a:t>
            </a:r>
          </a:p>
        </p:txBody>
      </p:sp>
      <p:sp>
        <p:nvSpPr>
          <p:cNvPr id="100034" name="Feature3"/>
          <p:cNvSpPr txBox="1"/>
          <p:nvPr/>
        </p:nvSpPr>
        <p:spPr>
          <a:xfrm xmlns:a="http://schemas.openxmlformats.org/drawingml/2006/main">
            <a:off x="540000" y="3672000"/>
            <a:ext cx="10800000" cy="12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>
                <a:solidFill>
                  <a:srgbClr val="C8DCFF"/>
                </a:solidFill>
                <a:latin typeface="Calibri"/>
                <a:ea typeface="Calibri"/>
              </a:rPr>
              <a:t>[Dev] 4. Progress Agent (Spaced Repetition)</a:t>
            </a:r>
          </a:p>
          <a:p xmlns:a="http://schemas.openxmlformats.org/drawingml/2006/main">
            <a:r>
              <a:rPr lang="en-US" sz="1700">
                <a:solidFill>
                  <a:srgbClr val="C8DCFF"/>
                </a:solidFill>
                <a:latin typeface="Calibri"/>
                <a:ea typeface="Calibri"/>
              </a:rPr>
              <a:t>Menjadwalkan review berbasis forgetting curve individual -- +15-20% retensi (Zaidi et al.)</a:t>
            </a:r>
          </a:p>
          <a:p xmlns:a="http://schemas.openxmlformats.org/drawingml/2006/main">
            <a:r>
              <a:rPr lang="en-US" sz="1700">
                <a:solidFill>
                  <a:srgbClr val="C8DC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700">
                <a:solidFill>
                  <a:srgbClr val="C8DCFF"/>
                </a:solidFill>
                <a:latin typeface="Calibri"/>
                <a:ea typeface="Calibri"/>
              </a:rPr>
              <a:t>[Dev] 5. Motivator &amp; Wellbeing Agent</a:t>
            </a:r>
          </a:p>
          <a:p xmlns:a="http://schemas.openxmlformats.org/drawingml/2006/main">
            <a:r>
              <a:rPr lang="en-US" sz="1700">
                <a:solidFill>
                  <a:srgbClr val="C8DCFF"/>
                </a:solidFill>
                <a:latin typeface="Calibri"/>
                <a:ea typeface="Calibri"/>
              </a:rPr>
              <a:t>Nudge kontekstual + cek burnout berkala -- mencegah putus belajar di tengah jalan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35" name="SlideNum"/>
          <p:cNvSpPr txBox="1"/>
          <p:nvPr/>
        </p:nvSpPr>
        <p:spPr>
          <a:xfrm xmlns:a="http://schemas.openxmlformats.org/drawingml/2006/main">
            <a:off x="540000" y="180000"/>
            <a:ext cx="7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1E2761"/>
                </a:solidFill>
                <a:latin typeface="Calibri"/>
                <a:ea typeface="Calibri"/>
              </a:rPr>
              <a:t>08</a:t>
            </a:r>
          </a:p>
        </p:txBody>
      </p:sp>
      <p:sp>
        <p:nvSpPr>
          <p:cNvPr id="100036" name="Title"/>
          <p:cNvSpPr txBox="1"/>
          <p:nvPr/>
        </p:nvSpPr>
        <p:spPr>
          <a:xfrm xmlns:a="http://schemas.openxmlformats.org/drawingml/2006/main">
            <a:off x="540000" y="43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E2761"/>
                </a:solidFill>
                <a:latin typeface="Calibri"/>
                <a:ea typeface="Calibri"/>
              </a:rPr>
              <a:t>Prototype &amp; Demo</a:t>
            </a:r>
          </a:p>
        </p:txBody>
      </p:sp>
      <p:sp>
        <p:nvSpPr>
          <p:cNvPr id="100037" name="DemoFlow"/>
          <p:cNvSpPr txBox="1"/>
          <p:nvPr/>
        </p:nvSpPr>
        <p:spPr>
          <a:xfrm xmlns:a="http://schemas.openxmlformats.org/drawingml/2006/main">
            <a:off x="540000" y="1152000"/>
            <a:ext cx="1080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E2761"/>
                </a:solidFill>
                <a:latin typeface="Calibri"/>
                <a:ea typeface="Calibri"/>
              </a:rPr>
              <a:t>Alur Demo (Goal Agent -- e2e verified):</a:t>
            </a:r>
          </a:p>
        </p:txBody>
      </p:sp>
      <p:sp>
        <p:nvSpPr>
          <p:cNvPr id="100038" name="DemoSteps"/>
          <p:cNvSpPr txBox="1"/>
          <p:nvPr/>
        </p:nvSpPr>
        <p:spPr>
          <a:xfrm xmlns:a="http://schemas.openxmlformats.org/drawingml/2006/main">
            <a:off x="540000" y="1512000"/>
            <a:ext cx="10800000" cy="18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[Screenshot 01] Bob TUI -- harness pengembangan memanggil tool goal_decomposer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[Screenshot 02] Canvas Langflow: flow goal_decomposer (Chat Input -&gt; Prompt -&gt; LLM -&gt; Chat Output)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[Screenshot 03] Endpoint Langflow: nama flow + deskripsi agent dikonfigurasi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[Screenshot 04] Output nyata: JSON roadmap 12 minggu (goal: data analytics)</a:t>
            </a:r>
          </a:p>
        </p:txBody>
      </p:sp>
      <p:sp>
        <p:nvSpPr>
          <p:cNvPr id="100039" name="ScreenshotNote"/>
          <p:cNvSpPr txBox="1"/>
          <p:nvPr/>
        </p:nvSpPr>
        <p:spPr>
          <a:xfrm xmlns:a="http://schemas.openxmlformats.org/drawingml/2006/main">
            <a:off x="540000" y="3420000"/>
            <a:ext cx="10800000" cy="7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>
                <a:solidFill>
                  <a:srgbClr val="999999"/>
                </a:solidFill>
                <a:latin typeface="Calibri"/>
                <a:ea typeface="Calibri"/>
              </a:rPr>
              <a:t>[ Sisipkan 4 screenshot di sini: 01-user-interface.png, 02-langflow-workflow.png, 03-langflow-endpoint.png, 04-output.png ]</a:t>
            </a:r>
          </a:p>
          <a:p xmlns:a="http://schemas.openxmlformats.org/drawingml/2006/main">
            <a:r>
              <a:rPr lang="en-US" sz="1500">
                <a:solidFill>
                  <a:srgbClr val="999999"/>
                </a:solidFill>
                <a:latin typeface="Calibri"/>
                <a:ea typeface="Calibri"/>
              </a:rPr>
              <a:t>File ada di: submission/screenshots/</a:t>
            </a:r>
          </a:p>
        </p:txBody>
      </p:sp>
      <p:sp>
        <p:nvSpPr>
          <p:cNvPr id="100040" name="Claim"/>
          <p:cNvSpPr txBox="1"/>
          <p:nvPr/>
        </p:nvSpPr>
        <p:spPr>
          <a:xfrm xmlns:a="http://schemas.openxmlformats.org/drawingml/2006/main">
            <a:off x="540000" y="4320000"/>
            <a:ext cx="1080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1">
                <a:solidFill>
                  <a:srgbClr val="1E2761"/>
                </a:solidFill>
                <a:latin typeface="Calibri"/>
                <a:ea typeface="Calibri"/>
              </a:rPr>
              <a:t>Bukti integrasi: Bob memanggil MCP tool --&gt; Langflow menjalankan flow --&gt; JSON roadmap dikembalikan.</a:t>
            </a:r>
          </a:p>
          <a:p xmlns:a="http://schemas.openxmlformats.org/drawingml/2006/main">
            <a:r>
              <a:rPr lang="en-US" sz="1600" b="1">
                <a:solidFill>
                  <a:srgbClr val="1E2761"/>
                </a:solidFill>
                <a:latin typeface="Calibri"/>
                <a:ea typeface="Calibri"/>
              </a:rPr>
              <a:t>Bukan dijawab dari LLM Bob sendiri -- agent Langflow benar-benar dieksekusi.</a:t>
            </a:r>
          </a:p>
        </p:txBody>
      </p:sp>
    </p:spTree>
  </p:cSld>
</p:sld>
</file>

<file path=ppt/slides/slide9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41" name="SlideNum"/>
          <p:cNvSpPr txBox="1"/>
          <p:nvPr/>
        </p:nvSpPr>
        <p:spPr>
          <a:xfrm xmlns:a="http://schemas.openxmlformats.org/drawingml/2006/main">
            <a:off x="540000" y="180000"/>
            <a:ext cx="7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A8C8FF"/>
                </a:solidFill>
                <a:latin typeface="Calibri"/>
                <a:ea typeface="Calibri"/>
              </a:rPr>
              <a:t>09</a:t>
            </a:r>
          </a:p>
        </p:txBody>
      </p:sp>
      <p:sp>
        <p:nvSpPr>
          <p:cNvPr id="100042" name="Title"/>
          <p:cNvSpPr txBox="1"/>
          <p:nvPr/>
        </p:nvSpPr>
        <p:spPr>
          <a:xfrm xmlns:a="http://schemas.openxmlformats.org/drawingml/2006/main">
            <a:off x="540000" y="43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  <a:latin typeface="Calibri"/>
                <a:ea typeface="Calibri"/>
              </a:rPr>
              <a:t>Dampak &amp; Nilai</a:t>
            </a:r>
          </a:p>
        </p:txBody>
      </p:sp>
      <p:sp>
        <p:nvSpPr>
          <p:cNvPr id="100043" name="NorthStar"/>
          <p:cNvSpPr txBox="1"/>
          <p:nvPr/>
        </p:nvSpPr>
        <p:spPr>
          <a:xfrm xmlns:a="http://schemas.openxmlformats.org/drawingml/2006/main">
            <a:off x="540000" y="1152000"/>
            <a:ext cx="1080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7DFFB0"/>
                </a:solidFill>
                <a:latin typeface="Calibri"/>
                <a:ea typeface="Calibri"/>
              </a:rPr>
              <a:t>North Star: Career Goal Progress Rate &gt;= 15%/minggu per pengguna aktif</a:t>
            </a:r>
          </a:p>
        </p:txBody>
      </p:sp>
      <p:sp>
        <p:nvSpPr>
          <p:cNvPr id="100044" name="Metrics"/>
          <p:cNvSpPr txBox="1"/>
          <p:nvPr/>
        </p:nvSpPr>
        <p:spPr>
          <a:xfrm xmlns:a="http://schemas.openxmlformats.org/drawingml/2006/main">
            <a:off x="540000" y="1620000"/>
            <a:ext cx="10800000" cy="23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Roadmap personal: dari 2-4 jam riset mandiri menjadi kurang dari 1 menit -- terbukti pada demo e2e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Retensi belajar: +15-20% vs jadwal spaced repetition tetap (Zaidi et al., arXiv 2004.11327)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Target jangkauan: 1.000 pengguna/bulan pada 6 bulan pertama setelah rilis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Meta-analisis intervensi AI pada self-regulated learning: g = 1.613 (32 studi, Frontiers in Education 2025)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Feynman Bot: 80%+ peserta lebih pilih daripada membaca pasif (arXiv 2506.09055)</a:t>
            </a:r>
          </a:p>
        </p:txBody>
      </p:sp>
      <p:sp>
        <p:nvSpPr>
          <p:cNvPr id="100045" name="Competitive"/>
          <p:cNvSpPr txBox="1"/>
          <p:nvPr/>
        </p:nvSpPr>
        <p:spPr>
          <a:xfrm xmlns:a="http://schemas.openxmlformats.org/drawingml/2006/main">
            <a:off x="540000" y="4140000"/>
            <a:ext cx="10800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>
            <a:r>
              <a:rPr lang="en-US" sz="1500">
                <a:solidFill>
                  <a:srgbClr val="A8C8FF"/>
                </a:solidFill>
                <a:latin typeface="Calibri"/>
                <a:ea typeface="Calibri"/>
              </a:rPr>
              <a:t>Mengapa bukan yang lain?</a:t>
            </a:r>
          </a:p>
          <a:p>
            <a:r>
              <a:rPr lang="en-US" sz="1500">
                <a:solidFill>
                  <a:srgbClr val="A8C8FF"/>
                </a:solidFill>
                <a:latin typeface="Calibri"/>
                <a:ea typeface="Calibri"/>
              </a:rPr>
              <a:t>vs ChatGPT: oracle langsung jawab vs scaffold + guardrail anti-cognitive-offloading (BJET 694x)</a:t>
            </a:r>
          </a:p>
          <a:p>
            <a:r>
              <a:rPr lang="en-US" sz="1500">
                <a:solidFill>
                  <a:srgbClr val="A8C8FF"/>
                </a:solidFill>
                <a:latin typeface="Calibri"/>
                <a:ea typeface="Calibri"/>
              </a:rPr>
              <a:t>vs Ruangguru/Zenius: kurikulum tetap vs roadmap personal goal-anchored</a:t>
            </a:r>
          </a:p>
          <a:p>
            <a:r>
              <a:rPr lang="en-US" sz="1500">
                <a:solidFill>
                  <a:srgbClr val="A8C8FF"/>
                </a:solidFill>
                <a:latin typeface="Calibri"/>
                <a:ea typeface="Calibri"/>
              </a:rPr>
              <a:t>vs Coursera/Udemy: dropout 90%, one-size-fits-all vs adaptif per forgetting curve</a:t>
            </a:r>
          </a:p>
          <a:p>
            <a:r>
              <a:rPr lang="en-US" sz="1500">
                <a:solidFill>
                  <a:srgbClr val="A8C8FF"/>
                </a:solidFill>
                <a:latin typeface="Calibri"/>
                <a:ea typeface="Calibri"/>
              </a:rPr>
              <a:t>vs Bootcamp: jadwal mahal vs 24/7 AI adaptif Bahasa Indonesia</a:t>
            </a:r>
          </a:p>
          <a:p>
            <a:r>
              <a:rPr lang="en-US" sz="1500">
                <a:solidFill>
                  <a:srgbClr val="A8C8FF"/>
                </a:solidFill>
                <a:latin typeface="Calibri"/>
                <a:ea typeface="Calibri"/>
              </a:rPr>
              <a:t/>
            </a:r>
          </a:p>
          <a:p>
            <a:r>
              <a:rPr lang="en-US" sz="1500">
                <a:solidFill>
                  <a:srgbClr val="A8C8FF"/>
                </a:solidFill>
                <a:latin typeface="Calibri"/>
                <a:ea typeface="Calibri"/>
              </a:rPr>
              <a:t>Kuadran yang tidak ada pesaingnya: High Adaptivity x Bahasa Indonesia</a:t>
            </a:r>
          </a:p>
        </p:txBody>
      </p:sp>
    </p:spTree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46" name="SlideNum"/>
          <p:cNvSpPr txBox="1"/>
          <p:nvPr/>
        </p:nvSpPr>
        <p:spPr>
          <a:xfrm xmlns:a="http://schemas.openxmlformats.org/drawingml/2006/main">
            <a:off x="540000" y="180000"/>
            <a:ext cx="7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1E2761"/>
                </a:solidFill>
                <a:latin typeface="Calibri"/>
                <a:ea typeface="Calibri"/>
              </a:rPr>
              <a:t>10</a:t>
            </a:r>
          </a:p>
        </p:txBody>
      </p:sp>
      <p:sp>
        <p:nvSpPr>
          <p:cNvPr id="100047" name="Title"/>
          <p:cNvSpPr txBox="1"/>
          <p:nvPr/>
        </p:nvSpPr>
        <p:spPr>
          <a:xfrm xmlns:a="http://schemas.openxmlformats.org/drawingml/2006/main">
            <a:off x="540000" y="43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E2761"/>
                </a:solidFill>
                <a:latin typeface="Calibri"/>
                <a:ea typeface="Calibri"/>
              </a:rPr>
              <a:t>Pengembangan ke Depan</a:t>
            </a:r>
          </a:p>
        </p:txBody>
      </p:sp>
      <p:sp>
        <p:nvSpPr>
          <p:cNvPr id="100048" name="Phase1"/>
          <p:cNvSpPr txBox="1"/>
          <p:nvPr/>
        </p:nvSpPr>
        <p:spPr>
          <a:xfrm xmlns:a="http://schemas.openxmlformats.org/drawingml/2006/main">
            <a:off x="540000" y="1152000"/>
            <a:ext cx="540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E2761"/>
                </a:solidFill>
                <a:latin typeface="Calibri"/>
                <a:ea typeface="Calibri"/>
              </a:rPr>
              <a:t>Fase sekarang (MVP live):</a:t>
            </a:r>
          </a:p>
        </p:txBody>
      </p:sp>
      <p:sp>
        <p:nvSpPr>
          <p:cNvPr id="100049" name="Phase1Detail"/>
          <p:cNvSpPr txBox="1"/>
          <p:nvPr/>
        </p:nvSpPr>
        <p:spPr>
          <a:xfrm xmlns:a="http://schemas.openxmlformats.org/drawingml/2006/main">
            <a:off x="540000" y="1512000"/>
            <a:ext cx="5400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227722"/>
                </a:solidFill>
                <a:latin typeface="Calibri"/>
                <a:ea typeface="Calibri"/>
              </a:rPr>
              <a:t>[DONE] Goal Agent -- e2e verified</a:t>
            </a:r>
          </a:p>
          <a:p xmlns:a="http://schemas.openxmlformats.org/drawingml/2006/main">
            <a:r>
              <a:rPr lang="en-US" sz="1600">
                <a:solidFill>
                  <a:srgbClr val="227722"/>
                </a:solidFill>
                <a:latin typeface="Calibri"/>
                <a:ea typeface="Calibri"/>
              </a:rPr>
              <a:t>[DONE] Infra MCP + Langflow + Bob</a:t>
            </a:r>
          </a:p>
          <a:p xmlns:a="http://schemas.openxmlformats.org/drawingml/2006/main">
            <a:r>
              <a:rPr lang="en-US" sz="1600">
                <a:solidFill>
                  <a:srgbClr val="227722"/>
                </a:solidFill>
                <a:latin typeface="Calibri"/>
                <a:ea typeface="Calibri"/>
              </a:rPr>
              <a:t>[DONE] Dokumentasi + submission draft</a:t>
            </a:r>
          </a:p>
          <a:p xmlns:a="http://schemas.openxmlformats.org/drawingml/2006/main">
            <a:r>
              <a:rPr lang="en-US" sz="1600">
                <a:solidFill>
                  <a:srgbClr val="227722"/>
                </a:solidFill>
                <a:latin typeface="Calibri"/>
                <a:ea typeface="Calibri"/>
              </a:rPr>
              <a:t>[DONE] Verification scripts (flow + e2e)</a:t>
            </a:r>
          </a:p>
        </p:txBody>
      </p:sp>
      <p:sp>
        <p:nvSpPr>
          <p:cNvPr id="100050" name="Phase2"/>
          <p:cNvSpPr txBox="1"/>
          <p:nvPr/>
        </p:nvSpPr>
        <p:spPr>
          <a:xfrm xmlns:a="http://schemas.openxmlformats.org/drawingml/2006/main">
            <a:off x="6120000" y="1152000"/>
            <a:ext cx="540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E2761"/>
                </a:solidFill>
                <a:latin typeface="Calibri"/>
                <a:ea typeface="Calibri"/>
              </a:rPr>
              <a:t>3-6 bulan ke depan:</a:t>
            </a:r>
          </a:p>
        </p:txBody>
      </p:sp>
      <p:sp>
        <p:nvSpPr>
          <p:cNvPr id="100051" name="Phase2Detail"/>
          <p:cNvSpPr txBox="1"/>
          <p:nvPr/>
        </p:nvSpPr>
        <p:spPr>
          <a:xfrm xmlns:a="http://schemas.openxmlformats.org/drawingml/2006/main">
            <a:off x="6120000" y="1512000"/>
            <a:ext cx="5400000" cy="12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555555"/>
                </a:solidFill>
                <a:latin typeface="Calibri"/>
                <a:ea typeface="Calibri"/>
              </a:rPr>
              <a:t>[ ] Tutor Agent (Feynman)</a:t>
            </a:r>
          </a:p>
          <a:p xmlns:a="http://schemas.openxmlformats.org/drawingml/2006/main">
            <a:r>
              <a:rPr lang="en-US" sz="1600">
                <a:solidFill>
                  <a:srgbClr val="555555"/>
                </a:solidFill>
                <a:latin typeface="Calibri"/>
                <a:ea typeface="Calibri"/>
              </a:rPr>
              <a:t>[ ] Assessment Agent (hinting)</a:t>
            </a:r>
          </a:p>
          <a:p xmlns:a="http://schemas.openxmlformats.org/drawingml/2006/main">
            <a:r>
              <a:rPr lang="en-US" sz="1600">
                <a:solidFill>
                  <a:srgbClr val="555555"/>
                </a:solidFill>
                <a:latin typeface="Calibri"/>
                <a:ea typeface="Calibri"/>
              </a:rPr>
              <a:t>[ ] Progress Agent (spaced rep)</a:t>
            </a:r>
          </a:p>
          <a:p xmlns:a="http://schemas.openxmlformats.org/drawingml/2006/main">
            <a:r>
              <a:rPr lang="en-US" sz="1600">
                <a:solidFill>
                  <a:srgbClr val="555555"/>
                </a:solidFill>
                <a:latin typeface="Calibri"/>
                <a:ea typeface="Calibri"/>
              </a:rPr>
              <a:t>[ ] Motivator + Wellbeing Agent</a:t>
            </a:r>
          </a:p>
          <a:p xmlns:a="http://schemas.openxmlformats.org/drawingml/2006/main">
            <a:r>
              <a:rPr lang="en-US" sz="1600">
                <a:solidFill>
                  <a:srgbClr val="555555"/>
                </a:solidFill>
                <a:latin typeface="Calibri"/>
                <a:ea typeface="Calibri"/>
              </a:rPr>
              <a:t>[ ] Web App (antarmuka pengguna)</a:t>
            </a:r>
          </a:p>
          <a:p xmlns:a="http://schemas.openxmlformats.org/drawingml/2006/main">
            <a:r>
              <a:rPr lang="en-US" sz="1600">
                <a:solidFill>
                  <a:srgbClr val="555555"/>
                </a:solidFill>
                <a:latin typeface="Calibri"/>
                <a:ea typeface="Calibri"/>
              </a:rPr>
              <a:t>[ ] WhatsApp bot surface</a:t>
            </a:r>
          </a:p>
        </p:txBody>
      </p:sp>
      <p:sp>
        <p:nvSpPr>
          <p:cNvPr id="100052" name="B2B"/>
          <p:cNvSpPr txBox="1"/>
          <p:nvPr/>
        </p:nvSpPr>
        <p:spPr>
          <a:xfrm xmlns:a="http://schemas.openxmlformats.org/drawingml/2006/main">
            <a:off x="540000" y="3060000"/>
            <a:ext cx="10800000" cy="7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333333"/>
                </a:solidFill>
                <a:latin typeface="Calibri"/>
                <a:ea typeface="Calibri"/>
              </a:rPr>
              <a:t>Roadmap B2B:</a:t>
            </a:r>
          </a:p>
          <a:p xmlns:a="http://schemas.openxmlformats.org/drawingml/2006/main">
            <a:r>
              <a:rPr lang="en-US" sz="1600">
                <a:solidFill>
                  <a:srgbClr val="333333"/>
                </a:solidFill>
                <a:latin typeface="Calibri"/>
                <a:ea typeface="Calibri"/>
              </a:rPr>
              <a:t>Whitelabel untuk bootcamp, kampus, program reskilling Komdigi</a:t>
            </a:r>
          </a:p>
          <a:p xmlns:a="http://schemas.openxmlformats.org/drawingml/2006/main">
            <a:r>
              <a:rPr lang="en-US" sz="1600">
                <a:solidFill>
                  <a:srgbClr val="333333"/>
                </a:solidFill>
                <a:latin typeface="Calibri"/>
                <a:ea typeface="Calibri"/>
              </a:rPr>
              <a:t>Satu instansi - ribuan peserta - biaya per pengguna rendah</a:t>
            </a:r>
          </a:p>
        </p:txBody>
      </p:sp>
      <p:sp>
        <p:nvSpPr>
          <p:cNvPr id="100053" name="Scale"/>
          <p:cNvSpPr txBox="1"/>
          <p:nvPr/>
        </p:nvSpPr>
        <p:spPr>
          <a:xfrm xmlns:a="http://schemas.openxmlformats.org/drawingml/2006/main">
            <a:off x="540000" y="39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>
                <a:solidFill>
                  <a:srgbClr val="777777"/>
                </a:solidFill>
                <a:latin typeface="Calibri"/>
                <a:ea typeface="Calibri"/>
              </a:rPr>
              <a:t>Skala teknis: Langflow Cloud multi-tenant + analytics dashboard progres</a:t>
            </a:r>
          </a:p>
          <a:p xmlns:a="http://schemas.openxmlformats.org/drawingml/2006/main">
            <a:r>
              <a:rPr lang="en-US" sz="1500">
                <a:solidFill>
                  <a:srgbClr val="777777"/>
                </a:solidFill>
                <a:latin typeface="Calibri"/>
                <a:ea typeface="Calibri"/>
              </a:rPr>
              <a:t>Moat jangka panjang: model forgetting curve anonim per domain</a:t>
            </a:r>
          </a:p>
        </p:txBody>
      </p:sp>
    </p:spTree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54" name="SlideNum"/>
          <p:cNvSpPr txBox="1"/>
          <p:nvPr/>
        </p:nvSpPr>
        <p:spPr>
          <a:xfrm xmlns:a="http://schemas.openxmlformats.org/drawingml/2006/main">
            <a:off x="540000" y="180000"/>
            <a:ext cx="7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A8C8FF"/>
                </a:solidFill>
                <a:latin typeface="Calibri"/>
                <a:ea typeface="Calibri"/>
              </a:rPr>
              <a:t>11</a:t>
            </a:r>
          </a:p>
        </p:txBody>
      </p:sp>
      <p:sp>
        <p:nvSpPr>
          <p:cNvPr id="100055" name="Title"/>
          <p:cNvSpPr txBox="1"/>
          <p:nvPr/>
        </p:nvSpPr>
        <p:spPr>
          <a:xfrm xmlns:a="http://schemas.openxmlformats.org/drawingml/2006/main">
            <a:off x="540000" y="43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  <a:latin typeface="Calibri"/>
                <a:ea typeface="Calibri"/>
              </a:rPr>
              <a:t>Tim</a:t>
            </a:r>
          </a:p>
        </p:txBody>
      </p:sp>
      <p:sp>
        <p:nvSpPr>
          <p:cNvPr id="100056" name="TeamPlaceholder"/>
          <p:cNvSpPr txBox="1"/>
          <p:nvPr/>
        </p:nvSpPr>
        <p:spPr>
          <a:xfrm xmlns:a="http://schemas.openxmlformats.org/drawingml/2006/main">
            <a:off x="540000" y="1260000"/>
            <a:ext cx="10800000" cy="7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200">
                <a:solidFill>
                  <a:srgbClr val="A8C8FF"/>
                </a:solidFill>
                <a:latin typeface="Calibri"/>
                <a:ea typeface="Calibri"/>
              </a:rPr>
              <a:t>[ Isi nama dan peran anggota tim di sini ]</a:t>
            </a:r>
          </a:p>
        </p:txBody>
      </p:sp>
      <p:sp>
        <p:nvSpPr>
          <p:cNvPr id="100057" name="WhyWin"/>
          <p:cNvSpPr txBox="1"/>
          <p:nvPr/>
        </p:nvSpPr>
        <p:spPr>
          <a:xfrm xmlns:a="http://schemas.openxmlformats.org/drawingml/2006/main">
            <a:off x="540000" y="2160000"/>
            <a:ext cx="10800000" cy="18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C8DCFF"/>
                </a:solidFill>
                <a:latin typeface="Calibri"/>
                <a:ea typeface="Calibri"/>
              </a:rPr>
              <a:t>Mengapa tim ini:</a:t>
            </a:r>
          </a:p>
          <a:p xmlns:a="http://schemas.openxmlformats.org/drawingml/2006/main">
            <a:r>
              <a:rPr lang="en-US" sz="1800">
                <a:solidFill>
                  <a:srgbClr val="C8DC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C8DCFF"/>
                </a:solidFill>
                <a:latin typeface="Calibri"/>
                <a:ea typeface="Calibri"/>
              </a:rPr>
              <a:t>Riset mendalam -- 30+ paper dengan abstract dan DOI, bukan sekadar klaim</a:t>
            </a:r>
          </a:p>
          <a:p xmlns:a="http://schemas.openxmlformats.org/drawingml/2006/main">
            <a:r>
              <a:rPr lang="en-US" sz="1800">
                <a:solidFill>
                  <a:srgbClr val="C8DCFF"/>
                </a:solidFill>
                <a:latin typeface="Calibri"/>
                <a:ea typeface="Calibri"/>
              </a:rPr>
              <a:t>Implementasi nyata -- Goal Agent e2e verified, bukan hanya mockup</a:t>
            </a:r>
          </a:p>
          <a:p xmlns:a="http://schemas.openxmlformats.org/drawingml/2006/main">
            <a:r>
              <a:rPr lang="en-US" sz="1800">
                <a:solidFill>
                  <a:srgbClr val="C8DCFF"/>
                </a:solidFill>
                <a:latin typeface="Calibri"/>
                <a:ea typeface="Calibri"/>
              </a:rPr>
              <a:t>Arsitektur modular -- tiap agent bisa dikembangkan dan diganti secara independen</a:t>
            </a:r>
          </a:p>
          <a:p xmlns:a="http://schemas.openxmlformats.org/drawingml/2006/main">
            <a:r>
              <a:rPr lang="en-US" sz="1800">
                <a:solidFill>
                  <a:srgbClr val="C8DCFF"/>
                </a:solidFill>
                <a:latin typeface="Calibri"/>
                <a:ea typeface="Calibri"/>
              </a:rPr>
              <a:t>Pedagogi berbasis bukti -- setiap fitur terhubung ke paper dengan FWCI tinggi</a:t>
            </a:r>
          </a:p>
        </p:txBody>
      </p:sp>
      <p:sp>
        <p:nvSpPr>
          <p:cNvPr id="100058" name="Repo"/>
          <p:cNvSpPr txBox="1"/>
          <p:nvPr/>
        </p:nvSpPr>
        <p:spPr>
          <a:xfrm xmlns:a="http://schemas.openxmlformats.org/drawingml/2006/main">
            <a:off x="540000" y="4320000"/>
            <a:ext cx="1080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A8C8FF"/>
                </a:solidFill>
                <a:latin typeface="Calibri"/>
                <a:ea typeface="Calibri"/>
              </a:rPr>
              <a:t>Repo: https://github.com/mmuchsin/serambi-ai</a:t>
            </a:r>
          </a:p>
          <a:p xmlns:a="http://schemas.openxmlformats.org/drawingml/2006/main">
            <a:r>
              <a:rPr lang="en-US" sz="1600">
                <a:solidFill>
                  <a:srgbClr val="A8C8FF"/>
                </a:solidFill>
                <a:latin typeface="Calibri"/>
                <a:ea typeface="Calibri"/>
              </a:rPr>
              <a:t>Stack: IBM Bob x IBM Langflow x MCP x NaraRouter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OfficeCLI/1.0.144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2026-10-04T05:09:44Z</dcterms:created>
  <cp:lastModifiedBy>OfficeCLI</cp:lastModifiedBy>
  <dcterms:modified xsi:type="dcterms:W3CDTF">2026-10-04T05:09:44Z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1.0.153</vt:lpwstr>
  </op:property>
  <op:property fmtid="{D5CDD505-2E9C-101B-9397-08002B2CF9AE}" pid="3" name="OfficeCLI.LastModified">
    <vt:lpwstr xmlns:vt="http://schemas.openxmlformats.org/officeDocument/2006/docPropsVTypes">2026-10-04T05:31:35Z</vt:lpwstr>
  </op:property>
</op:Properties>
</file>