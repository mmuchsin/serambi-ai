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id"/>
    </a:defPPr>
    <a:lvl1pPr marL="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id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"Belajar mandiri, tapi nggak sendirian." AI career coach untuk career switcher Indonesia.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Kontak mata ke juri, tunjuk screen, jeda 3 detik.]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pain points: overwhelmed, no structure, no feedback, no motivation. Market gap: 1.2M career switchers, 78% gagal.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4 pain cards, tunjuk market gap strip.]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agent steps: Goal → Tutor → Assessment → Progress → Motivator → Wellbeing. Research-anchored.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6 agent steps, jeda di tiap step.]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Persona: Andi, 27, career switcher. JTBD: "Ketika saya gagal, saya ingin tahu apa yang salah." Revenue: freemium + B2B.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persona card, tunjuk JTBD quote.]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3 steps: Goal → Roadmap → Execute. E2e verified: Bob → MCP → Langflow → JSON roadmap.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3 steps, tunjuk e2e verified chip.]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layers: IBM Bob, Langflow, MCP, NaraRouter. Kontrak MCP sama di dev dan produksi.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architecture diagram, jeda di MCP.]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agent, 5 fitur. 1 LIVE e2e: Goal Decomposer. Tutor, Assessment, Progress, Motivator+Wellbeing.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LIVE chip, jeda 2 detik, tunjuk agent-flow.]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screenshots nyata: Bob TUI, Langflow canvas, endpoint, JSON output. Bukan mockup.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Transisi ke demo live, jeda 3 detik.]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KPIs: ≥15% progress, &lt;1 menit roadmap, +15–20% retensi, g=1.613, 80%+, 1.000 user. 4 guardrails.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KPI, tunjuk guardrail cards.]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Selesai: Goal Agent e2e, infra, dokumentasi, verification. 3–6 bulan: 5 agent + web app + WhatsApp. B2B.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kolom "Selesai", lalu "3–6 bulan", lalu B2B strip.]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M. Muchsin, S2 Informatika UNNES. 4 bukti: riset, implementasi, full-stack, pedagogi. Repo: github.com/mmuchsin/serambi-ai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link repo besar, jeda 3 detik, kontak mata ke juri.]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rambi-pitch-deck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" smtClean="0"/>
              <a:t>1/27/13</a:t>
            </a:fld>
            <a:endParaRPr lang="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rambi-pitch-deck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" smtClean="0"/>
              <a:t>1/27/13</a:t>
            </a:fld>
            <a:endParaRPr lang="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"/>
      </a:defPPr>
      <a:lvl1pPr marL="0" algn="l" defTabSz="457200" rtl="0" eaLnBrk="1" latinLnBrk="0" hangingPunct="1">
        <a:defRPr sz="1800" kern="1200" lang="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a8d381209ef1393a.png"/>
  <Relationship Id="rId4" Type="http://schemas.openxmlformats.org/officeDocument/2006/relationships/image" Target="../media/image_de588d5a77f225be.png"/>
  <Relationship Id="rId5" Type="http://schemas.openxmlformats.org/officeDocument/2006/relationships/image" Target="../media/image_5ab726a246124ec7.png"/>
  <Relationship Id="rId6" Type="http://schemas.openxmlformats.org/officeDocument/2006/relationships/image" Target="../media/image_c2114b3304d7aa4e.png"/>
  <Relationship Id="rId7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f9b9bc6b3d08d04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e6bf92f82afec1f7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e60d615bf79e3d0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f4463d57440202a5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f5de28b6dd07fba1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1d16d3fee148d0e.png"/>
  <Relationship Id="rId4" Type="http://schemas.openxmlformats.org/officeDocument/2006/relationships/image" Target="../media/image_4c9649f11be9e371.png"/>
  <Relationship Id="rId5" Type="http://schemas.openxmlformats.org/officeDocument/2006/relationships/image" Target="../media/image_1215154a97f4ebb9.png"/>
  <Relationship Id="rId6" Type="http://schemas.openxmlformats.org/officeDocument/2006/relationships/image" Target="../media/image_98432f4a1e4f333f.png"/>
  <Relationship Id="rId7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01f9ea3ec6d6c232.png"/>
  <Relationship Id="rId4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1-wordmark"/>
          <p:cNvGrpSpPr/>
          <p:nvPr/>
        </p:nvGrpSpPr>
        <p:grpSpPr>
          <a:xfrm>
            <a:off x="533400" y="571500"/>
            <a:ext cx="2904476" cy="698627"/>
            <a:chOff x="533400" y="571500"/>
            <a:chExt cx="2904476" cy="698627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571500"/>
              <a:ext cx="609600" cy="609600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1279398" y="654050"/>
              <a:ext cx="2158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Serambi.ai</a:t>
              </a:r>
            </a:p>
          </p:txBody>
        </p:sp>
      </p:grpSp>
      <p:grpSp>
        <p:nvGrpSpPr>
          <p:cNvPr id="7" name="p01-hero"/>
          <p:cNvGrpSpPr/>
          <p:nvPr/>
        </p:nvGrpSpPr>
        <p:grpSpPr>
          <a:xfrm>
            <a:off x="533400" y="1333500"/>
            <a:ext cx="11125200" cy="3143250"/>
            <a:chOff x="533400" y="1333500"/>
            <a:chExt cx="111252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1333500"/>
              <a:ext cx="11125200" cy="3143250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rcRect l="0" t="24886" r="0" b="24886"/>
            <a:stretch>
              <a:fillRect/>
            </a:stretch>
          </p:blipFill>
          <p:spPr>
            <a:xfrm>
              <a:off x="533400" y="1333500"/>
              <a:ext cx="11125200" cy="3143250"/>
            </a:xfrm>
            <a:prstGeom prst="roundRect">
              <a:avLst>
                <a:gd name="adj" fmla="val 7272"/>
              </a:avLst>
            </a:prstGeom>
          </p:spPr>
        </p:pic>
      </p:grpSp>
      <p:grpSp>
        <p:nvGrpSpPr>
          <p:cNvPr id="11" name="p01-assertion"/>
          <p:cNvGrpSpPr/>
          <p:nvPr/>
        </p:nvGrpSpPr>
        <p:grpSpPr>
          <a:xfrm>
            <a:off x="514350" y="4552950"/>
            <a:ext cx="7110855" cy="1431544"/>
            <a:chOff x="514350" y="4552950"/>
            <a:chExt cx="7110855" cy="1431544"/>
          </a:xfrm>
        </p:grpSpPr>
        <p:sp>
          <p:nvSpPr>
            <p:cNvPr id="8" name="TextBox 8"/>
            <p:cNvSpPr txBox="1"/>
            <p:nvPr/>
          </p:nvSpPr>
          <p:spPr>
            <a:xfrm>
              <a:off x="514350" y="4552950"/>
              <a:ext cx="58730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208" y="5194300"/>
              <a:ext cx="55263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5632450"/>
              <a:ext cx="7100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Adaptive multi-agent learning assistant untuk career switcher Indonesia</a:t>
              </a:r>
            </a:p>
          </p:txBody>
        </p:sp>
      </p:grpSp>
      <p:grpSp>
        <p:nvGrpSpPr>
          <p:cNvPr id="18" name="p01-partners-chip"/>
          <p:cNvGrpSpPr/>
          <p:nvPr/>
        </p:nvGrpSpPr>
        <p:grpSpPr>
          <a:xfrm>
            <a:off x="533400" y="5962650"/>
            <a:ext cx="8191500" cy="419100"/>
            <a:chOff x="533400" y="5962650"/>
            <a:chExt cx="8191500" cy="419100"/>
          </a:xfrm>
        </p:grpSpPr>
        <p:sp>
          <p:nvSpPr>
            <p:cNvPr id="12" name="Rectangle 12"/>
            <p:cNvSpPr/>
            <p:nvPr/>
          </p:nvSpPr>
          <p:spPr>
            <a:xfrm>
              <a:off x="533400" y="5962650"/>
              <a:ext cx="8191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6064250"/>
              <a:ext cx="4201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IBM SkillsBuild University Education National Hackathon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91100" y="60579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700" y="6038850"/>
              <a:ext cx="714375" cy="266700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2675" y="6038850"/>
              <a:ext cx="876300" cy="266700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7575" y="6038850"/>
              <a:ext cx="314325" cy="2667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5581938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Belajar mandiri — dan banyak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yang gagal di tengah jalan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7" name="p02-panel"/>
          <p:cNvGrpSpPr/>
          <p:nvPr/>
        </p:nvGrpSpPr>
        <p:grpSpPr>
          <a:xfrm>
            <a:off x="533400" y="1600200"/>
            <a:ext cx="6134100" cy="3733800"/>
            <a:chOff x="533400" y="1600200"/>
            <a:chExt cx="6134100" cy="37338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rcRect l="3794" t="0" r="3795" b="0"/>
            <a:stretch>
              <a:fillRect/>
            </a:stretch>
          </p:blipFill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</p:spPr>
        </p:pic>
      </p:grpSp>
      <p:grpSp>
        <p:nvGrpSpPr>
          <p:cNvPr id="14" name="p02-pain-1"/>
          <p:cNvGrpSpPr/>
          <p:nvPr/>
        </p:nvGrpSpPr>
        <p:grpSpPr>
          <a:xfrm>
            <a:off x="7086600" y="1651000"/>
            <a:ext cx="3445646" cy="791083"/>
            <a:chOff x="7086600" y="1651000"/>
            <a:chExt cx="3445646" cy="791083"/>
          </a:xfrm>
        </p:grpSpPr>
        <p:grpSp>
          <p:nvGrpSpPr>
            <p:cNvPr id="11" name="Group 11"/>
            <p:cNvGrpSpPr/>
            <p:nvPr/>
          </p:nvGrpSpPr>
          <p:grpSpPr>
            <a:xfrm>
              <a:off x="7086600" y="1657350"/>
              <a:ext cx="228599" cy="228599"/>
              <a:chOff x="7086600" y="1657350"/>
              <a:chExt cx="228599" cy="2285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086600" y="18351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264399" y="16573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12000" y="16827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572756" y="1651000"/>
              <a:ext cx="2891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Tidak ada roadmap personal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5042" y="1968500"/>
              <a:ext cx="295720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Materi acak dari YouTube, Udemy, blog —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tanpa peta ke target role.</a:t>
              </a:r>
            </a:p>
          </p:txBody>
        </p:sp>
      </p:grpSp>
      <p:grpSp>
        <p:nvGrpSpPr>
          <p:cNvPr id="20" name="p02-pain-2"/>
          <p:cNvGrpSpPr/>
          <p:nvPr/>
        </p:nvGrpSpPr>
        <p:grpSpPr>
          <a:xfrm>
            <a:off x="7099300" y="2603500"/>
            <a:ext cx="3255804" cy="791083"/>
            <a:chOff x="7099300" y="2603500"/>
            <a:chExt cx="3255804" cy="791083"/>
          </a:xfrm>
        </p:grpSpPr>
        <p:grpSp>
          <p:nvGrpSpPr>
            <p:cNvPr id="17" name="Group 17"/>
            <p:cNvGrpSpPr/>
            <p:nvPr/>
          </p:nvGrpSpPr>
          <p:grpSpPr>
            <a:xfrm>
              <a:off x="7099300" y="2647950"/>
              <a:ext cx="203199" cy="174624"/>
              <a:chOff x="7099300" y="2647950"/>
              <a:chExt cx="203199" cy="1746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099300" y="28130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99300" y="2647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572756" y="2603500"/>
              <a:ext cx="2217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 tidak terlacak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5042" y="2921000"/>
              <a:ext cx="2780062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Tidak ada jawaban: sudah sejauh mana,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lanjut ke apa?</a:t>
              </a:r>
            </a:p>
          </p:txBody>
        </p:sp>
      </p:grpSp>
      <p:grpSp>
        <p:nvGrpSpPr>
          <p:cNvPr id="30" name="p02-pain-3"/>
          <p:cNvGrpSpPr/>
          <p:nvPr/>
        </p:nvGrpSpPr>
        <p:grpSpPr>
          <a:xfrm>
            <a:off x="7086600" y="3556000"/>
            <a:ext cx="4449865" cy="791083"/>
            <a:chOff x="7086600" y="3556000"/>
            <a:chExt cx="4449865" cy="791083"/>
          </a:xfrm>
        </p:grpSpPr>
        <p:grpSp>
          <p:nvGrpSpPr>
            <p:cNvPr id="27" name="Group 27"/>
            <p:cNvGrpSpPr/>
            <p:nvPr/>
          </p:nvGrpSpPr>
          <p:grpSpPr>
            <a:xfrm>
              <a:off x="7086600" y="3562350"/>
              <a:ext cx="228599" cy="228600"/>
              <a:chOff x="7086600" y="3562350"/>
              <a:chExt cx="228599" cy="228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2009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1120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4399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0900" y="35623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86600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12000" y="35623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572756" y="3556000"/>
              <a:ext cx="3963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generik memicu cognitive offloading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5042" y="3873500"/>
              <a:ext cx="269888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Langsung dijawab — belajar aktif tidak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terjadi (BJET, 694× dikutip).</a:t>
              </a:r>
            </a:p>
          </p:txBody>
        </p:sp>
      </p:grpSp>
      <p:grpSp>
        <p:nvGrpSpPr>
          <p:cNvPr id="39" name="p02-pain-4"/>
          <p:cNvGrpSpPr/>
          <p:nvPr/>
        </p:nvGrpSpPr>
        <p:grpSpPr>
          <a:xfrm>
            <a:off x="7086600" y="4508500"/>
            <a:ext cx="3380752" cy="791083"/>
            <a:chOff x="7086600" y="4508500"/>
            <a:chExt cx="3380752" cy="791083"/>
          </a:xfrm>
        </p:grpSpPr>
        <p:grpSp>
          <p:nvGrpSpPr>
            <p:cNvPr id="36" name="Group 36"/>
            <p:cNvGrpSpPr/>
            <p:nvPr/>
          </p:nvGrpSpPr>
          <p:grpSpPr>
            <a:xfrm>
              <a:off x="7086600" y="4513148"/>
              <a:ext cx="228600" cy="230302"/>
              <a:chOff x="7086600" y="4513148"/>
              <a:chExt cx="228600" cy="2303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62800" y="46164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62800" y="4654550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86600" y="4513148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86600" y="455295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4616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572756" y="4508500"/>
              <a:ext cx="2696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Alternatif tidak terjangkau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5042" y="4826000"/>
              <a:ext cx="289231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Bootcamp &amp; mentor privat mahal; kursus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online one-size-fits-all.</a:t>
              </a:r>
            </a:p>
          </p:txBody>
        </p:sp>
      </p:grpSp>
      <p:grpSp>
        <p:nvGrpSpPr>
          <p:cNvPr id="43" name="p02-gap-strip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40" name="Rectangle 40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" y="5670550"/>
              <a:ext cx="9650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Kesenjangan pasar: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upskilling global tumbuh CAGR 11–14% — hampir seluruhnya B2B/korporasi;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856" y="5975350"/>
              <a:ext cx="4551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career switcher individu masih tidak terlayani.</a:t>
              </a:r>
            </a:p>
          </p:txBody>
        </p:sp>
      </p:grpSp>
      <p:grpSp>
        <p:nvGrpSpPr>
          <p:cNvPr id="51" name="p02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4" name="Rectangle 4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3-header"/>
          <p:cNvGrpSpPr/>
          <p:nvPr/>
        </p:nvGrpSpPr>
        <p:grpSpPr>
          <a:xfrm>
            <a:off x="517398" y="511175"/>
            <a:ext cx="11141202" cy="1018667"/>
            <a:chOff x="517398" y="511175"/>
            <a:chExt cx="11141202" cy="101866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4570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60450"/>
              <a:ext cx="1097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Serambi.ai memandu learner ke jawaban — tidak menjawab untuk mereka.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3-step-1"/>
          <p:cNvGrpSpPr/>
          <p:nvPr/>
        </p:nvGrpSpPr>
        <p:grpSpPr>
          <a:xfrm>
            <a:off x="533400" y="1841500"/>
            <a:ext cx="3064331" cy="543433"/>
            <a:chOff x="533400" y="1841500"/>
            <a:chExt cx="3064331" cy="543433"/>
          </a:xfrm>
        </p:grpSpPr>
        <p:sp>
          <p:nvSpPr>
            <p:cNvPr id="6" name="Ellipse 6"/>
            <p:cNvSpPr/>
            <p:nvPr/>
          </p:nvSpPr>
          <p:spPr>
            <a:xfrm>
              <a:off x="533400" y="1933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2415" y="2006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7656" y="1841500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942" y="2120900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  <p:grpSp>
        <p:nvGrpSpPr>
          <p:cNvPr id="15" name="p03-step-2"/>
          <p:cNvGrpSpPr/>
          <p:nvPr/>
        </p:nvGrpSpPr>
        <p:grpSpPr>
          <a:xfrm>
            <a:off x="533400" y="2527300"/>
            <a:ext cx="3175388" cy="543433"/>
            <a:chOff x="533400" y="2527300"/>
            <a:chExt cx="3175388" cy="543433"/>
          </a:xfrm>
        </p:grpSpPr>
        <p:sp>
          <p:nvSpPr>
            <p:cNvPr id="11" name="Ellipse 11"/>
            <p:cNvSpPr/>
            <p:nvPr/>
          </p:nvSpPr>
          <p:spPr>
            <a:xfrm>
              <a:off x="533400" y="26193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2415" y="26924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2527300"/>
              <a:ext cx="2039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Roadmap mingguan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42" y="2806700"/>
              <a:ext cx="2648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memecah goal jadi peta</a:t>
              </a:r>
            </a:p>
          </p:txBody>
        </p:sp>
      </p:grpSp>
      <p:grpSp>
        <p:nvGrpSpPr>
          <p:cNvPr id="20" name="p03-step-3"/>
          <p:cNvGrpSpPr/>
          <p:nvPr/>
        </p:nvGrpSpPr>
        <p:grpSpPr>
          <a:xfrm>
            <a:off x="533400" y="3213100"/>
            <a:ext cx="3695796" cy="543433"/>
            <a:chOff x="533400" y="3213100"/>
            <a:chExt cx="3695796" cy="543433"/>
          </a:xfrm>
        </p:grpSpPr>
        <p:sp>
          <p:nvSpPr>
            <p:cNvPr id="16" name="Ellipse 16"/>
            <p:cNvSpPr/>
            <p:nvPr/>
          </p:nvSpPr>
          <p:spPr>
            <a:xfrm>
              <a:off x="533400" y="33051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415" y="33782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7656" y="3213100"/>
              <a:ext cx="1823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Feynman tutoring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492500"/>
              <a:ext cx="316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Tutor Agent memancing, bukan menjawab</a:t>
              </a:r>
            </a:p>
          </p:txBody>
        </p:sp>
      </p:grpSp>
      <p:grpSp>
        <p:nvGrpSpPr>
          <p:cNvPr id="25" name="p03-step-4"/>
          <p:cNvGrpSpPr/>
          <p:nvPr/>
        </p:nvGrpSpPr>
        <p:grpSpPr>
          <a:xfrm>
            <a:off x="533400" y="3898900"/>
            <a:ext cx="3240392" cy="543433"/>
            <a:chOff x="533400" y="3898900"/>
            <a:chExt cx="3240392" cy="543433"/>
          </a:xfrm>
        </p:grpSpPr>
        <p:sp>
          <p:nvSpPr>
            <p:cNvPr id="21" name="Ellipse 21"/>
            <p:cNvSpPr/>
            <p:nvPr/>
          </p:nvSpPr>
          <p:spPr>
            <a:xfrm>
              <a:off x="533400" y="3990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2415" y="40640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7656" y="3898900"/>
              <a:ext cx="1217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Kuis adaptif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942" y="4178300"/>
              <a:ext cx="2713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Assessment Agent + graduated hints</a:t>
              </a:r>
            </a:p>
          </p:txBody>
        </p:sp>
      </p:grpSp>
      <p:grpSp>
        <p:nvGrpSpPr>
          <p:cNvPr id="30" name="p03-step-5"/>
          <p:cNvGrpSpPr/>
          <p:nvPr/>
        </p:nvGrpSpPr>
        <p:grpSpPr>
          <a:xfrm>
            <a:off x="533400" y="4584700"/>
            <a:ext cx="3363018" cy="543433"/>
            <a:chOff x="533400" y="4584700"/>
            <a:chExt cx="3363018" cy="543433"/>
          </a:xfrm>
        </p:grpSpPr>
        <p:sp>
          <p:nvSpPr>
            <p:cNvPr id="26" name="Ellipse 26"/>
            <p:cNvSpPr/>
            <p:nvPr/>
          </p:nvSpPr>
          <p:spPr>
            <a:xfrm>
              <a:off x="533400" y="46767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2415" y="47498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7656" y="4584700"/>
              <a:ext cx="1804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Spaced repetition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4864100"/>
              <a:ext cx="283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sesuai forgetting curve pribadi</a:t>
              </a:r>
            </a:p>
          </p:txBody>
        </p:sp>
      </p:grpSp>
      <p:grpSp>
        <p:nvGrpSpPr>
          <p:cNvPr id="35" name="p03-step-6"/>
          <p:cNvGrpSpPr/>
          <p:nvPr/>
        </p:nvGrpSpPr>
        <p:grpSpPr>
          <a:xfrm>
            <a:off x="533400" y="5270500"/>
            <a:ext cx="3653513" cy="543433"/>
            <a:chOff x="533400" y="5270500"/>
            <a:chExt cx="3653513" cy="543433"/>
          </a:xfrm>
        </p:grpSpPr>
        <p:sp>
          <p:nvSpPr>
            <p:cNvPr id="31" name="Ellipse 31"/>
            <p:cNvSpPr/>
            <p:nvPr/>
          </p:nvSpPr>
          <p:spPr>
            <a:xfrm>
              <a:off x="533400" y="5362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2415" y="5435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7656" y="5270500"/>
              <a:ext cx="1769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Pantau wellbeing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9942" y="5549900"/>
              <a:ext cx="3126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Wellbeing Agent: motivasi, cegah burnout</a:t>
              </a:r>
            </a:p>
          </p:txBody>
        </p:sp>
      </p:grpSp>
      <p:grpSp>
        <p:nvGrpSpPr>
          <p:cNvPr id="38" name="p03-panel"/>
          <p:cNvGrpSpPr/>
          <p:nvPr/>
        </p:nvGrpSpPr>
        <p:grpSpPr>
          <a:xfrm>
            <a:off x="6248400" y="1809750"/>
            <a:ext cx="5410200" cy="4095750"/>
            <a:chOff x="6248400" y="1809750"/>
            <a:chExt cx="5410200" cy="4095750"/>
          </a:xfrm>
        </p:grpSpPr>
        <p:sp>
          <p:nvSpPr>
            <p:cNvPr id="36" name="Rectangle 36"/>
            <p:cNvSpPr/>
            <p:nvPr/>
          </p:nvSpPr>
          <p:spPr>
            <a:xfrm>
              <a:off x="6248400" y="1809750"/>
              <a:ext cx="541020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7" name="_edit_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400" y="2333625"/>
              <a:ext cx="5400675" cy="3038475"/>
            </a:xfrm>
            <a:prstGeom prst="rect">
              <a:avLst/>
            </a:prstGeom>
          </p:spPr>
        </p:pic>
      </p:grpSp>
      <p:grpSp>
        <p:nvGrpSpPr>
          <p:cNvPr id="40" name="p03-anchor"/>
          <p:cNvGrpSpPr/>
          <p:nvPr/>
        </p:nvGrpSpPr>
        <p:grpSpPr>
          <a:xfrm>
            <a:off x="527304" y="6051550"/>
            <a:ext cx="8132934" cy="234696"/>
            <a:chOff x="527304" y="6051550"/>
            <a:chExt cx="8132934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527304" y="6051550"/>
              <a:ext cx="8132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Anchor pedagogis: GenMentor (FWCI 47.3) · IntelliCode (FWCI 23.5) · Feynman Bot (arXiv 2506.09055) · Spaced Repetition</a:t>
              </a:r>
            </a:p>
          </p:txBody>
        </p:sp>
      </p:grpSp>
      <p:grpSp>
        <p:nvGrpSpPr>
          <p:cNvPr id="48" name="p03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1" name="Rectangle 4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20713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Career switcher Indonesia: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22–35, non-tech, belajar mandiri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21" name="p04-persona"/>
          <p:cNvGrpSpPr/>
          <p:nvPr/>
        </p:nvGrpSpPr>
        <p:grpSpPr>
          <a:xfrm>
            <a:off x="533400" y="1600200"/>
            <a:ext cx="5334000" cy="3543300"/>
            <a:chOff x="533400" y="1600200"/>
            <a:chExt cx="5334000" cy="35433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543300"/>
            </a:xfrm>
            <a:prstGeom prst="roundRect">
              <a:avLst>
                <a:gd name="adj" fmla="val 537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85825" y="1952625"/>
              <a:ext cx="285751" cy="285751"/>
              <a:chOff x="885825" y="195262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17575" y="1952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85825" y="2143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2201" y="1954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1" y="2145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64742" y="2006600"/>
              <a:ext cx="115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Persona primer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2374900"/>
              <a:ext cx="40955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Profesional 22–35, background non-tech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2743200"/>
              <a:ext cx="281054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Guru, admin, marketing — mau pivot ke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engineer, data analyst, backend dev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belajar mandiri, 1–6 bulan.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619500"/>
              <a:ext cx="13049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4692" y="3654425"/>
              <a:ext cx="116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Waktu terbatas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76475" y="3619500"/>
              <a:ext cx="14573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02967" y="3654425"/>
              <a:ext cx="130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Bahasa Indonesia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67150" y="3619500"/>
              <a:ext cx="15335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3642" y="3654425"/>
              <a:ext cx="138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Anggaran terbatas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235450"/>
              <a:ext cx="3891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Beachhead: individu yang tidak terlayani pasar B2B</a:t>
              </a:r>
            </a:p>
          </p:txBody>
        </p:sp>
      </p:grpSp>
      <p:grpSp>
        <p:nvGrpSpPr>
          <p:cNvPr id="30" name="p04-card-sekunder"/>
          <p:cNvGrpSpPr/>
          <p:nvPr/>
        </p:nvGrpSpPr>
        <p:grpSpPr>
          <a:xfrm>
            <a:off x="6248400" y="1600200"/>
            <a:ext cx="5410200" cy="1066800"/>
            <a:chOff x="6248400" y="1600200"/>
            <a:chExt cx="54102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6002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91300" y="1801997"/>
              <a:ext cx="228599" cy="228599"/>
              <a:chOff x="6591300" y="1801997"/>
              <a:chExt cx="228599" cy="2285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16700" y="1801997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91300" y="1954396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56399" y="1803648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81799" y="1956301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001256" y="1777835"/>
              <a:ext cx="2003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Pengguna sekunder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6342" y="2159000"/>
              <a:ext cx="280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Tech worker naik level / pivot domain</a:t>
              </a:r>
            </a:p>
          </p:txBody>
        </p:sp>
      </p:grpSp>
      <p:grpSp>
        <p:nvGrpSpPr>
          <p:cNvPr id="38" name="p04-card-pasar"/>
          <p:cNvGrpSpPr/>
          <p:nvPr/>
        </p:nvGrpSpPr>
        <p:grpSpPr>
          <a:xfrm>
            <a:off x="6248400" y="2838450"/>
            <a:ext cx="5410200" cy="1066800"/>
            <a:chOff x="6248400" y="2838450"/>
            <a:chExt cx="5410200" cy="1066800"/>
          </a:xfrm>
        </p:grpSpPr>
        <p:sp>
          <p:nvSpPr>
            <p:cNvPr id="31" name="Rectangle 31"/>
            <p:cNvSpPr/>
            <p:nvPr/>
          </p:nvSpPr>
          <p:spPr>
            <a:xfrm>
              <a:off x="6248400" y="283845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04000" y="3091129"/>
              <a:ext cx="203199" cy="174625"/>
              <a:chOff x="6604000" y="3091129"/>
              <a:chExt cx="203199" cy="1746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04000" y="325622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04000" y="3091129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001256" y="3016085"/>
              <a:ext cx="2692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Pasar &amp; willingness-to-pay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3397250"/>
              <a:ext cx="333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OECD 2024: kesenjangan tech skills melebar;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6342" y="3625850"/>
              <a:ext cx="397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upskilling CAGR 11–14% fokus B2B (studi Politecnico)</a:t>
              </a:r>
            </a:p>
          </p:txBody>
        </p:sp>
      </p:grpSp>
      <p:grpSp>
        <p:nvGrpSpPr>
          <p:cNvPr id="50" name="p04-card-revenue"/>
          <p:cNvGrpSpPr/>
          <p:nvPr/>
        </p:nvGrpSpPr>
        <p:grpSpPr>
          <a:xfrm>
            <a:off x="6248400" y="4076700"/>
            <a:ext cx="5410200" cy="1066800"/>
            <a:chOff x="6248400" y="4076700"/>
            <a:chExt cx="5410200" cy="1066800"/>
          </a:xfrm>
        </p:grpSpPr>
        <p:sp>
          <p:nvSpPr>
            <p:cNvPr id="39" name="Rectangle 39"/>
            <p:cNvSpPr/>
            <p:nvPr/>
          </p:nvSpPr>
          <p:spPr>
            <a:xfrm>
              <a:off x="6248400" y="40767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591300" y="4238447"/>
              <a:ext cx="228600" cy="230302"/>
              <a:chOff x="6591300" y="4238447"/>
              <a:chExt cx="228600" cy="2303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7500" y="4341749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67500" y="4379849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91300" y="4238447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91300" y="4278249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91300" y="434174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001256" y="4215987"/>
              <a:ext cx="1968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Revenue (skenario)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53700" y="4229100"/>
              <a:ext cx="8382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671826" y="42608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46342" y="4622800"/>
              <a:ext cx="404935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Freemium: roadmap gratis · pro = kuis + spaced repetition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B2B whitelabel: bootcamp, kampus, program reskilling</a:t>
              </a:r>
            </a:p>
          </p:txBody>
        </p:sp>
      </p:grpSp>
      <p:grpSp>
        <p:nvGrpSpPr>
          <p:cNvPr id="54" name="p04-jtbd"/>
          <p:cNvGrpSpPr/>
          <p:nvPr/>
        </p:nvGrpSpPr>
        <p:grpSpPr>
          <a:xfrm>
            <a:off x="533400" y="5334000"/>
            <a:ext cx="11125200" cy="914400"/>
            <a:chOff x="533400" y="5334000"/>
            <a:chExt cx="11125200" cy="914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334000"/>
              <a:ext cx="11125200" cy="914400"/>
            </a:xfrm>
            <a:prstGeom prst="roundRect">
              <a:avLst>
                <a:gd name="adj" fmla="val 20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2856" y="5575300"/>
              <a:ext cx="10647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“Saya guru, mau pakai AI untuk switch ke AI engineer — sudah coba-coba, tapi tidak tahu mulai dari mana.”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904" y="5956300"/>
              <a:ext cx="2377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rgbClr val="EEF1F9"/>
                  </a:solidFill>
                  <a:latin typeface="+mn-lt"/>
                  <a:ea typeface="+mn-ea"/>
                  <a:cs typeface="+mn-cs"/>
                </a:rPr>
                <a:t>— Job-to-be-done, submission draft</a:t>
              </a:r>
            </a:p>
          </p:txBody>
        </p:sp>
      </p:grpSp>
      <p:grpSp>
        <p:nvGrpSpPr>
          <p:cNvPr id="62" name="p04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55" name="Rectangle 55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029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 langkah: goal → roadmap → belajar terpandu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5-step-1"/>
          <p:cNvGrpSpPr/>
          <p:nvPr/>
        </p:nvGrpSpPr>
        <p:grpSpPr>
          <a:xfrm>
            <a:off x="533400" y="1428750"/>
            <a:ext cx="3238500" cy="1714500"/>
            <a:chOff x="533400" y="1428750"/>
            <a:chExt cx="3238500" cy="1714500"/>
          </a:xfrm>
        </p:grpSpPr>
        <p:sp>
          <p:nvSpPr>
            <p:cNvPr id="5" name="Rectangle 5"/>
            <p:cNvSpPr/>
            <p:nvPr/>
          </p:nvSpPr>
          <p:spPr>
            <a:xfrm>
              <a:off x="53340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17335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0053" y="1784350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36800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654300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  <p:grpSp>
        <p:nvGrpSpPr>
          <p:cNvPr id="16" name="p05-step-2"/>
          <p:cNvGrpSpPr/>
          <p:nvPr/>
        </p:nvGrpSpPr>
        <p:grpSpPr>
          <a:xfrm>
            <a:off x="4476750" y="1428750"/>
            <a:ext cx="3238500" cy="1714500"/>
            <a:chOff x="4476750" y="1428750"/>
            <a:chExt cx="32385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743450" y="17335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63403" y="1784350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72406" y="2336800"/>
              <a:ext cx="2650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Dapat roadmap mingguan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74692" y="2641600"/>
              <a:ext cx="1828120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Deadline, milestones, first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action — &lt; 1 menit</a:t>
              </a:r>
            </a:p>
          </p:txBody>
        </p:sp>
      </p:grpSp>
      <p:grpSp>
        <p:nvGrpSpPr>
          <p:cNvPr id="22" name="p05-step-3"/>
          <p:cNvGrpSpPr/>
          <p:nvPr/>
        </p:nvGrpSpPr>
        <p:grpSpPr>
          <a:xfrm>
            <a:off x="8420100" y="1428750"/>
            <a:ext cx="3238500" cy="1714500"/>
            <a:chOff x="8420100" y="1428750"/>
            <a:chExt cx="3238500" cy="1714500"/>
          </a:xfrm>
        </p:grpSpPr>
        <p:sp>
          <p:nvSpPr>
            <p:cNvPr id="17" name="Rectangle 17"/>
            <p:cNvSpPr/>
            <p:nvPr/>
          </p:nvSpPr>
          <p:spPr>
            <a:xfrm>
              <a:off x="842010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86800" y="17335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06753" y="1784350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5756" y="2336800"/>
              <a:ext cx="17159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Belajar terpandu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8042" y="2641600"/>
              <a:ext cx="219162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agent: Feynman, kuis adaptif,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spaced repetition, wellbeing</a:t>
              </a:r>
            </a:p>
          </p:txBody>
        </p:sp>
      </p:grpSp>
      <p:grpSp>
        <p:nvGrpSpPr>
          <p:cNvPr id="24" name="p05-arrow-1"/>
          <p:cNvGrpSpPr/>
          <p:nvPr/>
        </p:nvGrpSpPr>
        <p:grpSpPr>
          <a:xfrm>
            <a:off x="3848100" y="2286000"/>
            <a:ext cx="552450" cy="1"/>
            <a:chOff x="3848100" y="2286000"/>
            <a:chExt cx="552450" cy="1"/>
          </a:xfrm>
        </p:grpSpPr>
        <p:sp>
          <p:nvSpPr>
            <p:cNvPr id="23" name="Line 23"/>
            <p:cNvSpPr/>
            <p:nvPr/>
          </p:nvSpPr>
          <p:spPr>
            <a:xfrm>
              <a:off x="384810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6" name="p05-arrow-2"/>
          <p:cNvGrpSpPr/>
          <p:nvPr/>
        </p:nvGrpSpPr>
        <p:grpSpPr>
          <a:xfrm>
            <a:off x="7791450" y="2286000"/>
            <a:ext cx="552450" cy="1"/>
            <a:chOff x="7791450" y="2286000"/>
            <a:chExt cx="552450" cy="1"/>
          </a:xfrm>
        </p:grpSpPr>
        <p:sp>
          <p:nvSpPr>
            <p:cNvPr id="25" name="Line 25"/>
            <p:cNvSpPr/>
            <p:nvPr/>
          </p:nvSpPr>
          <p:spPr>
            <a:xfrm>
              <a:off x="779145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9" name="p05-journey"/>
          <p:cNvGrpSpPr/>
          <p:nvPr/>
        </p:nvGrpSpPr>
        <p:grpSpPr>
          <a:xfrm>
            <a:off x="533400" y="3524250"/>
            <a:ext cx="11125200" cy="1714500"/>
            <a:chOff x="533400" y="3524250"/>
            <a:chExt cx="111252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533400" y="3524250"/>
              <a:ext cx="111252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5775" y="3676650"/>
              <a:ext cx="3590925" cy="1409700"/>
            </a:xfrm>
            <a:prstGeom prst="rect">
              <a:avLst/>
            </a:prstGeom>
          </p:spPr>
        </p:pic>
      </p:grpSp>
      <p:grpSp>
        <p:nvGrpSpPr>
          <p:cNvPr id="33" name="p05-verified"/>
          <p:cNvGrpSpPr/>
          <p:nvPr/>
        </p:nvGrpSpPr>
        <p:grpSpPr>
          <a:xfrm>
            <a:off x="533400" y="5562600"/>
            <a:ext cx="6477000" cy="419100"/>
            <a:chOff x="533400" y="5562600"/>
            <a:chExt cx="6477000" cy="419100"/>
          </a:xfrm>
        </p:grpSpPr>
        <p:sp>
          <p:nvSpPr>
            <p:cNvPr id="30" name="Rectangle 30"/>
            <p:cNvSpPr/>
            <p:nvPr/>
          </p:nvSpPr>
          <p:spPr>
            <a:xfrm>
              <a:off x="533400" y="5562600"/>
              <a:ext cx="6477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17563" y="5745163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6142" y="5664200"/>
              <a:ext cx="5526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E2E verified: Bob → MCP goal_decomposer → JSON roadmap 12 minggu</a:t>
              </a:r>
            </a:p>
          </p:txBody>
        </p:sp>
      </p:grpSp>
      <p:grpSp>
        <p:nvGrpSpPr>
          <p:cNvPr id="41" name="p05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34" name="Rectangle 3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892807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IBM Bob × Langflow × MCP — kontrak yang sama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 dev dan produksi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9" name="p06-row-1"/>
          <p:cNvGrpSpPr/>
          <p:nvPr/>
        </p:nvGrpSpPr>
        <p:grpSpPr>
          <a:xfrm>
            <a:off x="533400" y="1600200"/>
            <a:ext cx="4191000" cy="914400"/>
            <a:chOff x="533400" y="1600200"/>
            <a:chExt cx="4191000" cy="9144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62000" y="2000326"/>
              <a:ext cx="304799" cy="114135"/>
            </a:xfrm>
            <a:custGeom>
              <a:avLst/>
              <a:gdLst/>
              <a:ahLst/>
              <a:cxnLst/>
              <a:rect l="l" t="t" r="r" b="b"/>
              <a:pathLst>
                <a:path w="304799" h="114135">
                  <a:moveTo>
                    <a:pt x="299008" y="107785"/>
                  </a:moveTo>
                  <a:cubicBezTo>
                    <a:pt x="299491" y="107785"/>
                    <a:pt x="299770" y="107569"/>
                    <a:pt x="299770" y="107112"/>
                  </a:cubicBezTo>
                  <a:lnTo>
                    <a:pt x="299770" y="106654"/>
                  </a:lnTo>
                  <a:cubicBezTo>
                    <a:pt x="299770" y="106210"/>
                    <a:pt x="299491" y="105994"/>
                    <a:pt x="299008" y="105994"/>
                  </a:cubicBezTo>
                  <a:lnTo>
                    <a:pt x="297865" y="105994"/>
                  </a:lnTo>
                  <a:lnTo>
                    <a:pt x="297865" y="107772"/>
                  </a:lnTo>
                  <a:close/>
                  <a:moveTo>
                    <a:pt x="297865" y="111112"/>
                  </a:moveTo>
                  <a:lnTo>
                    <a:pt x="296328" y="111112"/>
                  </a:lnTo>
                  <a:lnTo>
                    <a:pt x="296328" y="104787"/>
                  </a:lnTo>
                  <a:lnTo>
                    <a:pt x="299186" y="104787"/>
                  </a:lnTo>
                  <a:cubicBezTo>
                    <a:pt x="300608" y="104787"/>
                    <a:pt x="301332" y="105626"/>
                    <a:pt x="301332" y="106781"/>
                  </a:cubicBezTo>
                  <a:cubicBezTo>
                    <a:pt x="301332" y="107785"/>
                    <a:pt x="300875" y="108420"/>
                    <a:pt x="300189" y="108686"/>
                  </a:cubicBezTo>
                  <a:lnTo>
                    <a:pt x="301599" y="111099"/>
                  </a:lnTo>
                  <a:lnTo>
                    <a:pt x="299910" y="111099"/>
                  </a:lnTo>
                  <a:lnTo>
                    <a:pt x="298741" y="108940"/>
                  </a:lnTo>
                  <a:lnTo>
                    <a:pt x="297852" y="108940"/>
                  </a:lnTo>
                  <a:close/>
                  <a:moveTo>
                    <a:pt x="303377" y="108293"/>
                  </a:moveTo>
                  <a:lnTo>
                    <a:pt x="303377" y="107505"/>
                  </a:lnTo>
                  <a:cubicBezTo>
                    <a:pt x="303377" y="104965"/>
                    <a:pt x="301383" y="102971"/>
                    <a:pt x="298767" y="102971"/>
                  </a:cubicBezTo>
                  <a:cubicBezTo>
                    <a:pt x="297549" y="102944"/>
                    <a:pt x="296372" y="103410"/>
                    <a:pt x="295504" y="104264"/>
                  </a:cubicBezTo>
                  <a:cubicBezTo>
                    <a:pt x="294635" y="105118"/>
                    <a:pt x="294149" y="106287"/>
                    <a:pt x="294157" y="107505"/>
                  </a:cubicBezTo>
                  <a:lnTo>
                    <a:pt x="294157" y="108293"/>
                  </a:lnTo>
                  <a:cubicBezTo>
                    <a:pt x="294157" y="110833"/>
                    <a:pt x="296138" y="112839"/>
                    <a:pt x="298767" y="112839"/>
                  </a:cubicBezTo>
                  <a:cubicBezTo>
                    <a:pt x="299987" y="112867"/>
                    <a:pt x="301166" y="112399"/>
                    <a:pt x="302034" y="111542"/>
                  </a:cubicBezTo>
                  <a:cubicBezTo>
                    <a:pt x="302903" y="110685"/>
                    <a:pt x="303387" y="109513"/>
                    <a:pt x="303377" y="108293"/>
                  </a:cubicBezTo>
                  <a:close/>
                  <a:moveTo>
                    <a:pt x="292734" y="107912"/>
                  </a:moveTo>
                  <a:cubicBezTo>
                    <a:pt x="292734" y="104356"/>
                    <a:pt x="295427" y="101663"/>
                    <a:pt x="298767" y="101663"/>
                  </a:cubicBezTo>
                  <a:cubicBezTo>
                    <a:pt x="302120" y="101663"/>
                    <a:pt x="304799" y="104368"/>
                    <a:pt x="304799" y="107899"/>
                  </a:cubicBezTo>
                  <a:cubicBezTo>
                    <a:pt x="304799" y="111442"/>
                    <a:pt x="302120" y="114135"/>
                    <a:pt x="298767" y="114135"/>
                  </a:cubicBezTo>
                  <a:cubicBezTo>
                    <a:pt x="297135" y="114128"/>
                    <a:pt x="295576" y="113465"/>
                    <a:pt x="294440" y="112293"/>
                  </a:cubicBezTo>
                  <a:cubicBezTo>
                    <a:pt x="293305" y="111122"/>
                    <a:pt x="292690" y="109542"/>
                    <a:pt x="292734" y="107912"/>
                  </a:cubicBezTo>
                  <a:close/>
                  <a:moveTo>
                    <a:pt x="205866" y="7925"/>
                  </a:moveTo>
                  <a:lnTo>
                    <a:pt x="203123" y="0"/>
                  </a:lnTo>
                  <a:lnTo>
                    <a:pt x="157911" y="0"/>
                  </a:lnTo>
                  <a:lnTo>
                    <a:pt x="157911" y="7925"/>
                  </a:lnTo>
                  <a:close/>
                  <a:moveTo>
                    <a:pt x="211112" y="23038"/>
                  </a:moveTo>
                  <a:lnTo>
                    <a:pt x="208368" y="15126"/>
                  </a:lnTo>
                  <a:lnTo>
                    <a:pt x="157911" y="15126"/>
                  </a:lnTo>
                  <a:lnTo>
                    <a:pt x="157911" y="23050"/>
                  </a:lnTo>
                  <a:close/>
                  <a:moveTo>
                    <a:pt x="244766" y="113804"/>
                  </a:moveTo>
                  <a:lnTo>
                    <a:pt x="284225" y="113804"/>
                  </a:lnTo>
                  <a:lnTo>
                    <a:pt x="284225" y="105880"/>
                  </a:lnTo>
                  <a:lnTo>
                    <a:pt x="244754" y="105880"/>
                  </a:lnTo>
                  <a:close/>
                  <a:moveTo>
                    <a:pt x="244766" y="98666"/>
                  </a:moveTo>
                  <a:lnTo>
                    <a:pt x="284225" y="98666"/>
                  </a:lnTo>
                  <a:lnTo>
                    <a:pt x="284225" y="90754"/>
                  </a:lnTo>
                  <a:lnTo>
                    <a:pt x="244754" y="90754"/>
                  </a:lnTo>
                  <a:close/>
                  <a:moveTo>
                    <a:pt x="244766" y="83553"/>
                  </a:moveTo>
                  <a:lnTo>
                    <a:pt x="268439" y="83553"/>
                  </a:lnTo>
                  <a:lnTo>
                    <a:pt x="268439" y="75628"/>
                  </a:lnTo>
                  <a:lnTo>
                    <a:pt x="244754" y="75628"/>
                  </a:lnTo>
                  <a:close/>
                  <a:moveTo>
                    <a:pt x="244766" y="68427"/>
                  </a:moveTo>
                  <a:lnTo>
                    <a:pt x="268439" y="68427"/>
                  </a:lnTo>
                  <a:lnTo>
                    <a:pt x="268439" y="60503"/>
                  </a:lnTo>
                  <a:lnTo>
                    <a:pt x="244754" y="60503"/>
                  </a:lnTo>
                  <a:close/>
                  <a:moveTo>
                    <a:pt x="244766" y="53302"/>
                  </a:moveTo>
                  <a:lnTo>
                    <a:pt x="268439" y="53302"/>
                  </a:lnTo>
                  <a:lnTo>
                    <a:pt x="268439" y="45377"/>
                  </a:lnTo>
                  <a:lnTo>
                    <a:pt x="223291" y="45377"/>
                  </a:lnTo>
                  <a:lnTo>
                    <a:pt x="221068" y="51778"/>
                  </a:lnTo>
                  <a:lnTo>
                    <a:pt x="218846" y="45377"/>
                  </a:lnTo>
                  <a:lnTo>
                    <a:pt x="173697" y="45377"/>
                  </a:lnTo>
                  <a:lnTo>
                    <a:pt x="173697" y="53302"/>
                  </a:lnTo>
                  <a:lnTo>
                    <a:pt x="197383" y="53302"/>
                  </a:lnTo>
                  <a:lnTo>
                    <a:pt x="197383" y="46012"/>
                  </a:lnTo>
                  <a:lnTo>
                    <a:pt x="199923" y="53302"/>
                  </a:lnTo>
                  <a:lnTo>
                    <a:pt x="242214" y="53302"/>
                  </a:lnTo>
                  <a:lnTo>
                    <a:pt x="244754" y="46012"/>
                  </a:lnTo>
                  <a:close/>
                  <a:moveTo>
                    <a:pt x="268439" y="30251"/>
                  </a:moveTo>
                  <a:lnTo>
                    <a:pt x="228536" y="30251"/>
                  </a:lnTo>
                  <a:lnTo>
                    <a:pt x="225780" y="38176"/>
                  </a:lnTo>
                  <a:lnTo>
                    <a:pt x="268439" y="38176"/>
                  </a:lnTo>
                  <a:close/>
                  <a:moveTo>
                    <a:pt x="173697" y="68427"/>
                  </a:moveTo>
                  <a:lnTo>
                    <a:pt x="197383" y="68427"/>
                  </a:lnTo>
                  <a:lnTo>
                    <a:pt x="197383" y="60503"/>
                  </a:lnTo>
                  <a:lnTo>
                    <a:pt x="173697" y="60503"/>
                  </a:lnTo>
                  <a:close/>
                  <a:moveTo>
                    <a:pt x="173697" y="83540"/>
                  </a:moveTo>
                  <a:lnTo>
                    <a:pt x="197383" y="83540"/>
                  </a:lnTo>
                  <a:lnTo>
                    <a:pt x="197383" y="75628"/>
                  </a:lnTo>
                  <a:lnTo>
                    <a:pt x="173697" y="75628"/>
                  </a:lnTo>
                  <a:close/>
                  <a:moveTo>
                    <a:pt x="157911" y="98666"/>
                  </a:moveTo>
                  <a:lnTo>
                    <a:pt x="197383" y="98666"/>
                  </a:lnTo>
                  <a:lnTo>
                    <a:pt x="197383" y="90754"/>
                  </a:lnTo>
                  <a:lnTo>
                    <a:pt x="157911" y="90754"/>
                  </a:lnTo>
                  <a:close/>
                  <a:moveTo>
                    <a:pt x="157911" y="113804"/>
                  </a:moveTo>
                  <a:lnTo>
                    <a:pt x="197383" y="113804"/>
                  </a:lnTo>
                  <a:lnTo>
                    <a:pt x="197383" y="105880"/>
                  </a:lnTo>
                  <a:lnTo>
                    <a:pt x="157911" y="105880"/>
                  </a:lnTo>
                  <a:close/>
                  <a:moveTo>
                    <a:pt x="239013" y="0"/>
                  </a:moveTo>
                  <a:lnTo>
                    <a:pt x="236270" y="7925"/>
                  </a:lnTo>
                  <a:lnTo>
                    <a:pt x="284225" y="7925"/>
                  </a:lnTo>
                  <a:lnTo>
                    <a:pt x="284225" y="0"/>
                  </a:lnTo>
                  <a:close/>
                  <a:moveTo>
                    <a:pt x="231025" y="23050"/>
                  </a:moveTo>
                  <a:lnTo>
                    <a:pt x="284238" y="23050"/>
                  </a:lnTo>
                  <a:lnTo>
                    <a:pt x="284238" y="15126"/>
                  </a:lnTo>
                  <a:lnTo>
                    <a:pt x="233768" y="15126"/>
                  </a:lnTo>
                  <a:close/>
                  <a:moveTo>
                    <a:pt x="173697" y="38163"/>
                  </a:moveTo>
                  <a:lnTo>
                    <a:pt x="216357" y="38163"/>
                  </a:lnTo>
                  <a:lnTo>
                    <a:pt x="213613" y="30251"/>
                  </a:lnTo>
                  <a:lnTo>
                    <a:pt x="173697" y="30251"/>
                  </a:lnTo>
                  <a:close/>
                  <a:moveTo>
                    <a:pt x="205219" y="68427"/>
                  </a:moveTo>
                  <a:lnTo>
                    <a:pt x="236918" y="68427"/>
                  </a:lnTo>
                  <a:lnTo>
                    <a:pt x="239687" y="60503"/>
                  </a:lnTo>
                  <a:lnTo>
                    <a:pt x="202450" y="60503"/>
                  </a:lnTo>
                  <a:close/>
                  <a:moveTo>
                    <a:pt x="210515" y="83540"/>
                  </a:moveTo>
                  <a:lnTo>
                    <a:pt x="231622" y="83540"/>
                  </a:lnTo>
                  <a:lnTo>
                    <a:pt x="234391" y="75628"/>
                  </a:lnTo>
                  <a:lnTo>
                    <a:pt x="207746" y="75628"/>
                  </a:lnTo>
                  <a:close/>
                  <a:moveTo>
                    <a:pt x="215798" y="98666"/>
                  </a:moveTo>
                  <a:lnTo>
                    <a:pt x="226339" y="98666"/>
                  </a:lnTo>
                  <a:lnTo>
                    <a:pt x="229107" y="90754"/>
                  </a:lnTo>
                  <a:lnTo>
                    <a:pt x="213029" y="90754"/>
                  </a:lnTo>
                  <a:close/>
                  <a:moveTo>
                    <a:pt x="221056" y="113804"/>
                  </a:moveTo>
                  <a:lnTo>
                    <a:pt x="223812" y="105880"/>
                  </a:lnTo>
                  <a:lnTo>
                    <a:pt x="218325" y="105880"/>
                  </a:lnTo>
                  <a:close/>
                  <a:moveTo>
                    <a:pt x="63157" y="113728"/>
                  </a:moveTo>
                  <a:lnTo>
                    <a:pt x="121297" y="113804"/>
                  </a:lnTo>
                  <a:cubicBezTo>
                    <a:pt x="129197" y="113804"/>
                    <a:pt x="136283" y="110795"/>
                    <a:pt x="141643" y="105880"/>
                  </a:cubicBezTo>
                  <a:lnTo>
                    <a:pt x="63157" y="105880"/>
                  </a:lnTo>
                  <a:close/>
                  <a:moveTo>
                    <a:pt x="124879" y="75628"/>
                  </a:moveTo>
                  <a:lnTo>
                    <a:pt x="124879" y="83553"/>
                  </a:lnTo>
                  <a:lnTo>
                    <a:pt x="151447" y="83553"/>
                  </a:lnTo>
                  <a:cubicBezTo>
                    <a:pt x="151447" y="80810"/>
                    <a:pt x="151066" y="78156"/>
                    <a:pt x="150393" y="75628"/>
                  </a:cubicBezTo>
                  <a:close/>
                  <a:moveTo>
                    <a:pt x="78956" y="83553"/>
                  </a:moveTo>
                  <a:lnTo>
                    <a:pt x="102641" y="83553"/>
                  </a:lnTo>
                  <a:lnTo>
                    <a:pt x="102641" y="75628"/>
                  </a:lnTo>
                  <a:lnTo>
                    <a:pt x="78956" y="75628"/>
                  </a:lnTo>
                  <a:close/>
                  <a:moveTo>
                    <a:pt x="124891" y="38176"/>
                  </a:moveTo>
                  <a:lnTo>
                    <a:pt x="150393" y="38176"/>
                  </a:lnTo>
                  <a:cubicBezTo>
                    <a:pt x="151066" y="35649"/>
                    <a:pt x="151447" y="32995"/>
                    <a:pt x="151447" y="30251"/>
                  </a:cubicBezTo>
                  <a:lnTo>
                    <a:pt x="124891" y="30251"/>
                  </a:lnTo>
                  <a:close/>
                  <a:moveTo>
                    <a:pt x="78956" y="38176"/>
                  </a:moveTo>
                  <a:lnTo>
                    <a:pt x="102641" y="38176"/>
                  </a:lnTo>
                  <a:lnTo>
                    <a:pt x="102641" y="30251"/>
                  </a:lnTo>
                  <a:lnTo>
                    <a:pt x="78956" y="30251"/>
                  </a:lnTo>
                  <a:close/>
                  <a:moveTo>
                    <a:pt x="121285" y="13"/>
                  </a:moveTo>
                  <a:lnTo>
                    <a:pt x="63157" y="13"/>
                  </a:lnTo>
                  <a:lnTo>
                    <a:pt x="63157" y="7937"/>
                  </a:lnTo>
                  <a:lnTo>
                    <a:pt x="141643" y="7937"/>
                  </a:lnTo>
                  <a:cubicBezTo>
                    <a:pt x="136099" y="2832"/>
                    <a:pt x="128834" y="2"/>
                    <a:pt x="121297" y="13"/>
                  </a:cubicBezTo>
                  <a:close/>
                  <a:moveTo>
                    <a:pt x="147396" y="15138"/>
                  </a:moveTo>
                  <a:lnTo>
                    <a:pt x="63157" y="15138"/>
                  </a:lnTo>
                  <a:lnTo>
                    <a:pt x="63157" y="23063"/>
                  </a:lnTo>
                  <a:lnTo>
                    <a:pt x="150584" y="23063"/>
                  </a:lnTo>
                  <a:cubicBezTo>
                    <a:pt x="149905" y="20285"/>
                    <a:pt x="148836" y="17617"/>
                    <a:pt x="147409" y="15138"/>
                  </a:cubicBezTo>
                  <a:close/>
                  <a:moveTo>
                    <a:pt x="78943" y="45390"/>
                  </a:moveTo>
                  <a:lnTo>
                    <a:pt x="78943" y="53314"/>
                  </a:lnTo>
                  <a:lnTo>
                    <a:pt x="140792" y="53314"/>
                  </a:lnTo>
                  <a:cubicBezTo>
                    <a:pt x="143421" y="51079"/>
                    <a:pt x="145643" y="48400"/>
                    <a:pt x="147383" y="45390"/>
                  </a:cubicBezTo>
                  <a:close/>
                  <a:moveTo>
                    <a:pt x="140792" y="60515"/>
                  </a:moveTo>
                  <a:lnTo>
                    <a:pt x="78943" y="60515"/>
                  </a:lnTo>
                  <a:lnTo>
                    <a:pt x="78943" y="68440"/>
                  </a:lnTo>
                  <a:lnTo>
                    <a:pt x="147383" y="68440"/>
                  </a:lnTo>
                  <a:cubicBezTo>
                    <a:pt x="145654" y="65442"/>
                    <a:pt x="143425" y="62762"/>
                    <a:pt x="140792" y="60515"/>
                  </a:cubicBezTo>
                  <a:close/>
                  <a:moveTo>
                    <a:pt x="63144" y="98691"/>
                  </a:moveTo>
                  <a:lnTo>
                    <a:pt x="147396" y="98691"/>
                  </a:lnTo>
                  <a:cubicBezTo>
                    <a:pt x="148793" y="96240"/>
                    <a:pt x="149885" y="93586"/>
                    <a:pt x="150571" y="90767"/>
                  </a:cubicBezTo>
                  <a:lnTo>
                    <a:pt x="63157" y="90767"/>
                  </a:lnTo>
                  <a:close/>
                  <a:moveTo>
                    <a:pt x="0" y="7925"/>
                  </a:moveTo>
                  <a:lnTo>
                    <a:pt x="55270" y="7925"/>
                  </a:lnTo>
                  <a:lnTo>
                    <a:pt x="55270" y="0"/>
                  </a:lnTo>
                  <a:lnTo>
                    <a:pt x="0" y="0"/>
                  </a:lnTo>
                  <a:close/>
                  <a:moveTo>
                    <a:pt x="0" y="23050"/>
                  </a:moveTo>
                  <a:lnTo>
                    <a:pt x="55270" y="23050"/>
                  </a:lnTo>
                  <a:lnTo>
                    <a:pt x="55270" y="15126"/>
                  </a:lnTo>
                  <a:lnTo>
                    <a:pt x="0" y="15126"/>
                  </a:lnTo>
                  <a:close/>
                  <a:moveTo>
                    <a:pt x="15786" y="38176"/>
                  </a:moveTo>
                  <a:lnTo>
                    <a:pt x="39472" y="38176"/>
                  </a:lnTo>
                  <a:lnTo>
                    <a:pt x="39472" y="30251"/>
                  </a:lnTo>
                  <a:lnTo>
                    <a:pt x="15786" y="30251"/>
                  </a:lnTo>
                  <a:close/>
                  <a:moveTo>
                    <a:pt x="15786" y="53302"/>
                  </a:moveTo>
                  <a:lnTo>
                    <a:pt x="39472" y="53302"/>
                  </a:lnTo>
                  <a:lnTo>
                    <a:pt x="39472" y="45377"/>
                  </a:lnTo>
                  <a:lnTo>
                    <a:pt x="15786" y="45377"/>
                  </a:lnTo>
                  <a:close/>
                  <a:moveTo>
                    <a:pt x="15786" y="68415"/>
                  </a:moveTo>
                  <a:lnTo>
                    <a:pt x="39472" y="68415"/>
                  </a:lnTo>
                  <a:lnTo>
                    <a:pt x="39472" y="60503"/>
                  </a:lnTo>
                  <a:lnTo>
                    <a:pt x="15786" y="60503"/>
                  </a:lnTo>
                  <a:close/>
                  <a:moveTo>
                    <a:pt x="15786" y="83553"/>
                  </a:moveTo>
                  <a:lnTo>
                    <a:pt x="39472" y="83553"/>
                  </a:lnTo>
                  <a:lnTo>
                    <a:pt x="39472" y="75628"/>
                  </a:lnTo>
                  <a:lnTo>
                    <a:pt x="15786" y="75628"/>
                  </a:lnTo>
                  <a:close/>
                  <a:moveTo>
                    <a:pt x="0" y="98679"/>
                  </a:moveTo>
                  <a:lnTo>
                    <a:pt x="55270" y="98679"/>
                  </a:lnTo>
                  <a:lnTo>
                    <a:pt x="55270" y="90767"/>
                  </a:lnTo>
                  <a:lnTo>
                    <a:pt x="0" y="90767"/>
                  </a:lnTo>
                  <a:close/>
                  <a:moveTo>
                    <a:pt x="0" y="113817"/>
                  </a:moveTo>
                  <a:lnTo>
                    <a:pt x="55270" y="113817"/>
                  </a:lnTo>
                  <a:lnTo>
                    <a:pt x="55270" y="105892"/>
                  </a:lnTo>
                  <a:lnTo>
                    <a:pt x="0" y="1058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1784350"/>
              <a:ext cx="2649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Bob — agent harness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2101850"/>
              <a:ext cx="2271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build, test, verifikasi agent e2e</a:t>
              </a:r>
            </a:p>
          </p:txBody>
        </p:sp>
      </p:grpSp>
      <p:grpSp>
        <p:nvGrpSpPr>
          <p:cNvPr id="14" name="p06-row-2"/>
          <p:cNvGrpSpPr/>
          <p:nvPr/>
        </p:nvGrpSpPr>
        <p:grpSpPr>
          <a:xfrm>
            <a:off x="533400" y="2552700"/>
            <a:ext cx="4191000" cy="914400"/>
            <a:chOff x="533400" y="2552700"/>
            <a:chExt cx="4191000" cy="914400"/>
          </a:xfrm>
        </p:grpSpPr>
        <p:sp>
          <p:nvSpPr>
            <p:cNvPr id="10" name="Rectangle 10"/>
            <p:cNvSpPr/>
            <p:nvPr/>
          </p:nvSpPr>
          <p:spPr>
            <a:xfrm>
              <a:off x="533400" y="25527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61238" y="2857500"/>
              <a:ext cx="306323" cy="304799"/>
            </a:xfrm>
            <a:custGeom>
              <a:avLst/>
              <a:gdLst/>
              <a:ahLst/>
              <a:cxnLst/>
              <a:rect l="l" t="t" r="r" b="b"/>
              <a:pathLst>
                <a:path w="306323" h="304799">
                  <a:moveTo>
                    <a:pt x="181737" y="2286"/>
                  </a:moveTo>
                  <a:lnTo>
                    <a:pt x="193167" y="4826"/>
                  </a:lnTo>
                  <a:lnTo>
                    <a:pt x="202437" y="8128"/>
                  </a:lnTo>
                  <a:lnTo>
                    <a:pt x="209930" y="11938"/>
                  </a:lnTo>
                  <a:lnTo>
                    <a:pt x="215645" y="16002"/>
                  </a:lnTo>
                  <a:lnTo>
                    <a:pt x="219963" y="20320"/>
                  </a:lnTo>
                  <a:lnTo>
                    <a:pt x="223138" y="24638"/>
                  </a:lnTo>
                  <a:lnTo>
                    <a:pt x="225170" y="28829"/>
                  </a:lnTo>
                  <a:lnTo>
                    <a:pt x="226440" y="32639"/>
                  </a:lnTo>
                  <a:lnTo>
                    <a:pt x="226948" y="35941"/>
                  </a:lnTo>
                  <a:lnTo>
                    <a:pt x="227202" y="38481"/>
                  </a:lnTo>
                  <a:lnTo>
                    <a:pt x="227075" y="40132"/>
                  </a:lnTo>
                  <a:lnTo>
                    <a:pt x="227075" y="107950"/>
                  </a:lnTo>
                  <a:lnTo>
                    <a:pt x="226440" y="115951"/>
                  </a:lnTo>
                  <a:lnTo>
                    <a:pt x="224789" y="122936"/>
                  </a:lnTo>
                  <a:lnTo>
                    <a:pt x="222122" y="128778"/>
                  </a:lnTo>
                  <a:lnTo>
                    <a:pt x="218820" y="133604"/>
                  </a:lnTo>
                  <a:lnTo>
                    <a:pt x="215010" y="137541"/>
                  </a:lnTo>
                  <a:lnTo>
                    <a:pt x="210819" y="140716"/>
                  </a:lnTo>
                  <a:lnTo>
                    <a:pt x="206374" y="143129"/>
                  </a:lnTo>
                  <a:lnTo>
                    <a:pt x="201929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0"/>
                  </a:lnTo>
                  <a:lnTo>
                    <a:pt x="41021" y="227710"/>
                  </a:lnTo>
                  <a:lnTo>
                    <a:pt x="38354" y="227329"/>
                  </a:lnTo>
                  <a:lnTo>
                    <a:pt x="34798" y="226440"/>
                  </a:lnTo>
                  <a:lnTo>
                    <a:pt x="30734" y="224916"/>
                  </a:lnTo>
                  <a:lnTo>
                    <a:pt x="26289" y="222630"/>
                  </a:lnTo>
                  <a:lnTo>
                    <a:pt x="21717" y="219328"/>
                  </a:lnTo>
                  <a:lnTo>
                    <a:pt x="17145" y="214756"/>
                  </a:lnTo>
                  <a:lnTo>
                    <a:pt x="12700" y="208914"/>
                  </a:lnTo>
                  <a:lnTo>
                    <a:pt x="8636" y="201421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69" y="77597"/>
                  </a:moveTo>
                  <a:lnTo>
                    <a:pt x="271525" y="78359"/>
                  </a:lnTo>
                  <a:lnTo>
                    <a:pt x="275589" y="79883"/>
                  </a:lnTo>
                  <a:lnTo>
                    <a:pt x="280034" y="82169"/>
                  </a:lnTo>
                  <a:lnTo>
                    <a:pt x="284606" y="85598"/>
                  </a:lnTo>
                  <a:lnTo>
                    <a:pt x="289178" y="90043"/>
                  </a:lnTo>
                  <a:lnTo>
                    <a:pt x="293623" y="96012"/>
                  </a:lnTo>
                  <a:lnTo>
                    <a:pt x="297687" y="103505"/>
                  </a:lnTo>
                  <a:lnTo>
                    <a:pt x="301243" y="112776"/>
                  </a:lnTo>
                  <a:lnTo>
                    <a:pt x="303910" y="123952"/>
                  </a:lnTo>
                  <a:lnTo>
                    <a:pt x="305688" y="137160"/>
                  </a:lnTo>
                  <a:lnTo>
                    <a:pt x="306323" y="152781"/>
                  </a:lnTo>
                  <a:lnTo>
                    <a:pt x="305561" y="168402"/>
                  </a:lnTo>
                  <a:lnTo>
                    <a:pt x="303529" y="181610"/>
                  </a:lnTo>
                  <a:lnTo>
                    <a:pt x="300481" y="192532"/>
                  </a:lnTo>
                  <a:lnTo>
                    <a:pt x="296417" y="201548"/>
                  </a:lnTo>
                  <a:lnTo>
                    <a:pt x="291845" y="208787"/>
                  </a:lnTo>
                  <a:lnTo>
                    <a:pt x="286765" y="214502"/>
                  </a:lnTo>
                  <a:lnTo>
                    <a:pt x="281431" y="218693"/>
                  </a:lnTo>
                  <a:lnTo>
                    <a:pt x="276097" y="221741"/>
                  </a:lnTo>
                  <a:lnTo>
                    <a:pt x="271017" y="223773"/>
                  </a:lnTo>
                  <a:lnTo>
                    <a:pt x="266445" y="224916"/>
                  </a:lnTo>
                  <a:lnTo>
                    <a:pt x="262381" y="225551"/>
                  </a:lnTo>
                  <a:lnTo>
                    <a:pt x="259333" y="225805"/>
                  </a:lnTo>
                  <a:lnTo>
                    <a:pt x="257301" y="225678"/>
                  </a:lnTo>
                  <a:lnTo>
                    <a:pt x="152908" y="225678"/>
                  </a:lnTo>
                  <a:lnTo>
                    <a:pt x="152908" y="236092"/>
                  </a:lnTo>
                  <a:lnTo>
                    <a:pt x="227075" y="236092"/>
                  </a:lnTo>
                  <a:lnTo>
                    <a:pt x="227202" y="271144"/>
                  </a:lnTo>
                  <a:lnTo>
                    <a:pt x="227456" y="275716"/>
                  </a:lnTo>
                  <a:lnTo>
                    <a:pt x="226821" y="280034"/>
                  </a:lnTo>
                  <a:lnTo>
                    <a:pt x="225424" y="283971"/>
                  </a:lnTo>
                  <a:lnTo>
                    <a:pt x="223265" y="287654"/>
                  </a:lnTo>
                  <a:lnTo>
                    <a:pt x="220090" y="290829"/>
                  </a:lnTo>
                  <a:lnTo>
                    <a:pt x="216153" y="293877"/>
                  </a:lnTo>
                  <a:lnTo>
                    <a:pt x="211327" y="296417"/>
                  </a:lnTo>
                  <a:lnTo>
                    <a:pt x="205739" y="298576"/>
                  </a:lnTo>
                  <a:lnTo>
                    <a:pt x="199263" y="300481"/>
                  </a:lnTo>
                  <a:lnTo>
                    <a:pt x="191897" y="302132"/>
                  </a:lnTo>
                  <a:lnTo>
                    <a:pt x="183769" y="303275"/>
                  </a:lnTo>
                  <a:lnTo>
                    <a:pt x="174752" y="304164"/>
                  </a:lnTo>
                  <a:lnTo>
                    <a:pt x="164973" y="304672"/>
                  </a:lnTo>
                  <a:lnTo>
                    <a:pt x="154305" y="304799"/>
                  </a:lnTo>
                  <a:lnTo>
                    <a:pt x="138176" y="304291"/>
                  </a:lnTo>
                  <a:lnTo>
                    <a:pt x="124587" y="302513"/>
                  </a:lnTo>
                  <a:lnTo>
                    <a:pt x="113157" y="299973"/>
                  </a:lnTo>
                  <a:lnTo>
                    <a:pt x="103886" y="296798"/>
                  </a:lnTo>
                  <a:lnTo>
                    <a:pt x="96393" y="292988"/>
                  </a:lnTo>
                  <a:lnTo>
                    <a:pt x="90678" y="288797"/>
                  </a:lnTo>
                  <a:lnTo>
                    <a:pt x="86360" y="284479"/>
                  </a:lnTo>
                  <a:lnTo>
                    <a:pt x="83185" y="280161"/>
                  </a:lnTo>
                  <a:lnTo>
                    <a:pt x="81153" y="275970"/>
                  </a:lnTo>
                  <a:lnTo>
                    <a:pt x="79883" y="272160"/>
                  </a:lnTo>
                  <a:lnTo>
                    <a:pt x="79375" y="268985"/>
                  </a:lnTo>
                  <a:lnTo>
                    <a:pt x="79121" y="266445"/>
                  </a:lnTo>
                  <a:lnTo>
                    <a:pt x="79248" y="264794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5" y="156337"/>
                  </a:lnTo>
                  <a:lnTo>
                    <a:pt x="210438" y="154559"/>
                  </a:lnTo>
                  <a:lnTo>
                    <a:pt x="216788" y="151892"/>
                  </a:lnTo>
                  <a:lnTo>
                    <a:pt x="221995" y="148336"/>
                  </a:lnTo>
                  <a:lnTo>
                    <a:pt x="226186" y="144272"/>
                  </a:lnTo>
                  <a:lnTo>
                    <a:pt x="229615" y="139827"/>
                  </a:lnTo>
                  <a:lnTo>
                    <a:pt x="232155" y="135255"/>
                  </a:lnTo>
                  <a:lnTo>
                    <a:pt x="234060" y="130683"/>
                  </a:lnTo>
                  <a:lnTo>
                    <a:pt x="235330" y="126238"/>
                  </a:lnTo>
                  <a:lnTo>
                    <a:pt x="236219" y="122174"/>
                  </a:lnTo>
                  <a:lnTo>
                    <a:pt x="236727" y="118618"/>
                  </a:lnTo>
                  <a:lnTo>
                    <a:pt x="236981" y="115951"/>
                  </a:lnTo>
                  <a:lnTo>
                    <a:pt x="236981" y="77089"/>
                  </a:lnTo>
                  <a:lnTo>
                    <a:pt x="263524" y="77089"/>
                  </a:lnTo>
                  <a:lnTo>
                    <a:pt x="265302" y="77216"/>
                  </a:lnTo>
                  <a:close/>
                  <a:moveTo>
                    <a:pt x="185801" y="258571"/>
                  </a:moveTo>
                  <a:lnTo>
                    <a:pt x="182880" y="262762"/>
                  </a:lnTo>
                  <a:lnTo>
                    <a:pt x="181864" y="267969"/>
                  </a:lnTo>
                  <a:lnTo>
                    <a:pt x="182880" y="273176"/>
                  </a:lnTo>
                  <a:lnTo>
                    <a:pt x="185801" y="277367"/>
                  </a:lnTo>
                  <a:lnTo>
                    <a:pt x="189992" y="280288"/>
                  </a:lnTo>
                  <a:lnTo>
                    <a:pt x="195199" y="281304"/>
                  </a:lnTo>
                  <a:lnTo>
                    <a:pt x="200405" y="280288"/>
                  </a:lnTo>
                  <a:lnTo>
                    <a:pt x="204596" y="277367"/>
                  </a:lnTo>
                  <a:lnTo>
                    <a:pt x="207517" y="273176"/>
                  </a:lnTo>
                  <a:lnTo>
                    <a:pt x="208533" y="267969"/>
                  </a:lnTo>
                  <a:lnTo>
                    <a:pt x="207517" y="262762"/>
                  </a:lnTo>
                  <a:lnTo>
                    <a:pt x="204596" y="258571"/>
                  </a:lnTo>
                  <a:lnTo>
                    <a:pt x="200405" y="255650"/>
                  </a:lnTo>
                  <a:lnTo>
                    <a:pt x="195199" y="254634"/>
                  </a:lnTo>
                  <a:lnTo>
                    <a:pt x="189992" y="2556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10056" y="2736850"/>
              <a:ext cx="2939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Langflow — flow engine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2342" y="3054350"/>
              <a:ext cx="1668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flow = 1 MCP tool</a:t>
              </a:r>
            </a:p>
          </p:txBody>
        </p:sp>
      </p:grpSp>
      <p:grpSp>
        <p:nvGrpSpPr>
          <p:cNvPr id="22" name="p06-row-3"/>
          <p:cNvGrpSpPr/>
          <p:nvPr/>
        </p:nvGrpSpPr>
        <p:grpSpPr>
          <a:xfrm>
            <a:off x="533400" y="3581400"/>
            <a:ext cx="4191000" cy="914400"/>
            <a:chOff x="533400" y="3581400"/>
            <a:chExt cx="4191000" cy="91440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14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00100" y="3924300"/>
              <a:ext cx="228599" cy="228599"/>
              <a:chOff x="800100" y="3924300"/>
              <a:chExt cx="228599" cy="22859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0100" y="41020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7899" y="3924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5500" y="39497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10056" y="3765550"/>
              <a:ext cx="2588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— streamable HTTP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2342" y="4083050"/>
              <a:ext cx="3151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bridge Bob ↔ Langflow; kontrak produksi</a:t>
              </a:r>
            </a:p>
          </p:txBody>
        </p:sp>
      </p:grpSp>
      <p:grpSp>
        <p:nvGrpSpPr>
          <p:cNvPr id="33" name="p06-row-4"/>
          <p:cNvGrpSpPr/>
          <p:nvPr/>
        </p:nvGrpSpPr>
        <p:grpSpPr>
          <a:xfrm>
            <a:off x="533400" y="4610100"/>
            <a:ext cx="4191000" cy="914400"/>
            <a:chOff x="533400" y="4610100"/>
            <a:chExt cx="4191000" cy="9144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101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00100" y="4953000"/>
              <a:ext cx="228599" cy="228600"/>
              <a:chOff x="800100" y="4953000"/>
              <a:chExt cx="228599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44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55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7899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14400" y="49530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0100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5500" y="49530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10056" y="4794250"/>
              <a:ext cx="2546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NaraRouter / longcat-2.5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2342" y="5111750"/>
              <a:ext cx="2401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LLM backbone, temperature 0.3</a:t>
              </a:r>
            </a:p>
          </p:txBody>
        </p:sp>
      </p:grpSp>
      <p:grpSp>
        <p:nvGrpSpPr>
          <p:cNvPr id="35" name="p06-arch"/>
          <p:cNvGrpSpPr/>
          <p:nvPr/>
        </p:nvGrpSpPr>
        <p:grpSpPr>
          <a:xfrm>
            <a:off x="5105400" y="1685925"/>
            <a:ext cx="6553200" cy="3829050"/>
            <a:chOff x="5105400" y="1685925"/>
            <a:chExt cx="6553200" cy="38290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5400" y="1685925"/>
              <a:ext cx="6553200" cy="3829050"/>
            </a:xfrm>
            <a:prstGeom prst="rect">
              <a:avLst/>
            </a:prstGeom>
          </p:spPr>
        </p:pic>
      </p:grpSp>
      <p:grpSp>
        <p:nvGrpSpPr>
          <p:cNvPr id="39" name="p06-anchor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36" name="Rectangle 36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856" y="5670550"/>
              <a:ext cx="7765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Anchor riset: 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GenMentor (FWCI 47.3) · IntelliCode (FWCI 23.5) · Feynman Bot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856" y="5975350"/>
              <a:ext cx="7113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(arXiv 2506.09055) · Zaidi et al. (arXiv 2004.11327) · BJET (694× dikutip)</a:t>
              </a:r>
            </a:p>
          </p:txBody>
        </p:sp>
      </p:grpSp>
      <p:grpSp>
        <p:nvGrpSpPr>
          <p:cNvPr id="47" name="p06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0" name="Rectangle 4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6862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 agent, 5 fitur — 1 sudah live e2e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1" name="p07-fit-1"/>
          <p:cNvGrpSpPr/>
          <p:nvPr/>
        </p:nvGrpSpPr>
        <p:grpSpPr>
          <a:xfrm>
            <a:off x="533400" y="1524000"/>
            <a:ext cx="5715000" cy="838200"/>
            <a:chOff x="533400" y="1524000"/>
            <a:chExt cx="5715000" cy="8382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25500" y="187960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1670050"/>
              <a:ext cx="181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Decomposer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1987550"/>
              <a:ext cx="4668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→ roadmap JSON mingguan (MCP tool goal_decomposer)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876800" y="1617974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11782" y="1646466"/>
              <a:ext cx="314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LIVE</a:t>
              </a:r>
            </a:p>
          </p:txBody>
        </p:sp>
      </p:grpSp>
      <p:grpSp>
        <p:nvGrpSpPr>
          <p:cNvPr id="19" name="p07-fit-2"/>
          <p:cNvGrpSpPr/>
          <p:nvPr/>
        </p:nvGrpSpPr>
        <p:grpSpPr>
          <a:xfrm>
            <a:off x="533400" y="2438400"/>
            <a:ext cx="5715000" cy="838200"/>
            <a:chOff x="533400" y="2438400"/>
            <a:chExt cx="5715000" cy="838200"/>
          </a:xfrm>
        </p:grpSpPr>
        <p:sp>
          <p:nvSpPr>
            <p:cNvPr id="12" name="Rectangle 12"/>
            <p:cNvSpPr/>
            <p:nvPr/>
          </p:nvSpPr>
          <p:spPr>
            <a:xfrm>
              <a:off x="533400" y="24384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00100" y="2755900"/>
              <a:ext cx="228599" cy="215899"/>
              <a:chOff x="800100" y="2755900"/>
              <a:chExt cx="228599" cy="2158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3600" y="28194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3600" y="2870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27559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10056" y="2584450"/>
              <a:ext cx="17150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2342" y="2901950"/>
              <a:ext cx="459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probing questions — AI memancing refleksi, bukan menjawab</a:t>
              </a:r>
            </a:p>
          </p:txBody>
        </p:sp>
      </p:grpSp>
      <p:grpSp>
        <p:nvGrpSpPr>
          <p:cNvPr id="27" name="p07-fit-3"/>
          <p:cNvGrpSpPr/>
          <p:nvPr/>
        </p:nvGrpSpPr>
        <p:grpSpPr>
          <a:xfrm>
            <a:off x="533400" y="3352800"/>
            <a:ext cx="5715000" cy="838200"/>
            <a:chOff x="533400" y="3352800"/>
            <a:chExt cx="5715000" cy="838200"/>
          </a:xfrm>
        </p:grpSpPr>
        <p:sp>
          <p:nvSpPr>
            <p:cNvPr id="20" name="Rectangle 20"/>
            <p:cNvSpPr/>
            <p:nvPr/>
          </p:nvSpPr>
          <p:spPr>
            <a:xfrm>
              <a:off x="533400" y="33528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00100" y="3657600"/>
              <a:ext cx="228599" cy="228599"/>
              <a:chOff x="800100" y="3657600"/>
              <a:chExt cx="228599" cy="22859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00100" y="36576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14400" y="38226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5350" y="3731239"/>
                <a:ext cx="46578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46578" h="53396">
                    <a:moveTo>
                      <a:pt x="19050" y="53360"/>
                    </a:moveTo>
                    <a:cubicBezTo>
                      <a:pt x="30808" y="53396"/>
                      <a:pt x="41053" y="45356"/>
                      <a:pt x="43815" y="33927"/>
                    </a:cubicBezTo>
                    <a:cubicBezTo>
                      <a:pt x="46578" y="22498"/>
                      <a:pt x="41134" y="10667"/>
                      <a:pt x="30658" y="5329"/>
                    </a:cubicBezTo>
                    <a:cubicBezTo>
                      <a:pt x="20255" y="0"/>
                      <a:pt x="7552" y="2542"/>
                      <a:pt x="0" y="11463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10056" y="3498850"/>
              <a:ext cx="2127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2342" y="3816350"/>
              <a:ext cx="3797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kuis adaptif; salah → hint terkecil dulu (IntelliCode)</a:t>
              </a:r>
            </a:p>
          </p:txBody>
        </p:sp>
      </p:grpSp>
      <p:grpSp>
        <p:nvGrpSpPr>
          <p:cNvPr id="34" name="p07-fit-4"/>
          <p:cNvGrpSpPr/>
          <p:nvPr/>
        </p:nvGrpSpPr>
        <p:grpSpPr>
          <a:xfrm>
            <a:off x="533400" y="4267200"/>
            <a:ext cx="5715000" cy="838200"/>
            <a:chOff x="533400" y="4267200"/>
            <a:chExt cx="5715000" cy="838200"/>
          </a:xfrm>
        </p:grpSpPr>
        <p:sp>
          <p:nvSpPr>
            <p:cNvPr id="28" name="Rectangle 28"/>
            <p:cNvSpPr/>
            <p:nvPr/>
          </p:nvSpPr>
          <p:spPr>
            <a:xfrm>
              <a:off x="533400" y="42672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12800" y="4579800"/>
              <a:ext cx="203199" cy="213000"/>
              <a:chOff x="812800" y="4579800"/>
              <a:chExt cx="203199" cy="21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800" y="4579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800" y="46990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10056" y="4413250"/>
              <a:ext cx="2185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2342" y="4730750"/>
              <a:ext cx="4950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jadwal review per forgetting curve — +15–20% retensi (Zaidi et al.)</a:t>
              </a:r>
            </a:p>
          </p:txBody>
        </p:sp>
      </p:grpSp>
      <p:grpSp>
        <p:nvGrpSpPr>
          <p:cNvPr id="39" name="p07-fit-5"/>
          <p:cNvGrpSpPr/>
          <p:nvPr/>
        </p:nvGrpSpPr>
        <p:grpSpPr>
          <a:xfrm>
            <a:off x="533400" y="5181600"/>
            <a:ext cx="5715000" cy="838200"/>
            <a:chOff x="533400" y="5181600"/>
            <a:chExt cx="5715000" cy="838200"/>
          </a:xfrm>
        </p:grpSpPr>
        <p:sp>
          <p:nvSpPr>
            <p:cNvPr id="35" name="Rectangle 35"/>
            <p:cNvSpPr/>
            <p:nvPr/>
          </p:nvSpPr>
          <p:spPr>
            <a:xfrm>
              <a:off x="533400" y="51816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00100" y="55245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0056" y="5327650"/>
              <a:ext cx="2350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&amp; Wellbeing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12342" y="5645150"/>
              <a:ext cx="3035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nudge kontekstual + cek burnout berkala</a:t>
              </a:r>
            </a:p>
          </p:txBody>
        </p:sp>
      </p:grpSp>
      <p:grpSp>
        <p:nvGrpSpPr>
          <p:cNvPr id="41" name="p07-flow"/>
          <p:cNvGrpSpPr/>
          <p:nvPr/>
        </p:nvGrpSpPr>
        <p:grpSpPr>
          <a:xfrm>
            <a:off x="6629400" y="1714500"/>
            <a:ext cx="5029200" cy="4114800"/>
            <a:chOff x="6629400" y="1714500"/>
            <a:chExt cx="5029200" cy="411480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400" y="1714500"/>
              <a:ext cx="5029200" cy="4114800"/>
            </a:xfrm>
            <a:prstGeom prst="rect">
              <a:avLst/>
            </a:prstGeom>
          </p:spPr>
        </p:pic>
      </p:grpSp>
      <p:grpSp>
        <p:nvGrpSpPr>
          <p:cNvPr id="49" name="p07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2" name="Rectangle 42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494492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Bukti, bukan janji: agent Langflow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benar-benar dieksekusi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8" name="p08-shot-1"/>
          <p:cNvGrpSpPr/>
          <p:nvPr/>
        </p:nvGrpSpPr>
        <p:grpSpPr>
          <a:xfrm>
            <a:off x="526542" y="1600200"/>
            <a:ext cx="5417058" cy="1847850"/>
            <a:chOff x="526542" y="1600200"/>
            <a:chExt cx="5417058" cy="184785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6450" y="1695450"/>
              <a:ext cx="2314575" cy="13335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26542" y="3130550"/>
              <a:ext cx="430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[01] Bob TUI — harness dev memanggil goal_decomposer</a:t>
              </a:r>
            </a:p>
          </p:txBody>
        </p:sp>
      </p:grpSp>
      <p:grpSp>
        <p:nvGrpSpPr>
          <p:cNvPr id="12" name="p08-shot-2"/>
          <p:cNvGrpSpPr/>
          <p:nvPr/>
        </p:nvGrpSpPr>
        <p:grpSpPr>
          <a:xfrm>
            <a:off x="6241542" y="1600200"/>
            <a:ext cx="5417058" cy="1847850"/>
            <a:chOff x="6241542" y="1600200"/>
            <a:chExt cx="5417058" cy="1847850"/>
          </a:xfrm>
        </p:grpSpPr>
        <p:sp>
          <p:nvSpPr>
            <p:cNvPr id="9" name="Rectangle 9"/>
            <p:cNvSpPr/>
            <p:nvPr/>
          </p:nvSpPr>
          <p:spPr>
            <a:xfrm>
              <a:off x="6248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0500" y="1695450"/>
              <a:ext cx="2295525" cy="13335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241542" y="3130550"/>
              <a:ext cx="352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[02] Canvas Langflow — flow goal_decomposer</a:t>
              </a:r>
            </a:p>
          </p:txBody>
        </p:sp>
      </p:grpSp>
      <p:grpSp>
        <p:nvGrpSpPr>
          <p:cNvPr id="16" name="p08-shot-3"/>
          <p:cNvGrpSpPr/>
          <p:nvPr/>
        </p:nvGrpSpPr>
        <p:grpSpPr>
          <a:xfrm>
            <a:off x="526542" y="3714750"/>
            <a:ext cx="5417058" cy="1847850"/>
            <a:chOff x="526542" y="3714750"/>
            <a:chExt cx="5417058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6450" y="3810000"/>
              <a:ext cx="2295525" cy="13335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26542" y="5245100"/>
              <a:ext cx="4051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[03] Endpoint Langflow — nama flow + deskripsi agent</a:t>
              </a:r>
            </a:p>
          </p:txBody>
        </p:sp>
      </p:grpSp>
      <p:grpSp>
        <p:nvGrpSpPr>
          <p:cNvPr id="20" name="p08-shot-4"/>
          <p:cNvGrpSpPr/>
          <p:nvPr/>
        </p:nvGrpSpPr>
        <p:grpSpPr>
          <a:xfrm>
            <a:off x="6241542" y="3714750"/>
            <a:ext cx="5417058" cy="1847850"/>
            <a:chOff x="6241542" y="3714750"/>
            <a:chExt cx="5417058" cy="1847850"/>
          </a:xfrm>
        </p:grpSpPr>
        <p:sp>
          <p:nvSpPr>
            <p:cNvPr id="17" name="Rectangle 17"/>
            <p:cNvSpPr/>
            <p:nvPr/>
          </p:nvSpPr>
          <p:spPr>
            <a:xfrm>
              <a:off x="6248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91425" y="3810000"/>
              <a:ext cx="2724150" cy="13335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241542" y="5245100"/>
              <a:ext cx="3519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[04] Output nyata — JSON roadmap 12 minggu</a:t>
              </a:r>
            </a:p>
          </p:txBody>
        </p:sp>
      </p:grpSp>
      <p:grpSp>
        <p:nvGrpSpPr>
          <p:cNvPr id="23" name="p08-conclusion"/>
          <p:cNvGrpSpPr/>
          <p:nvPr/>
        </p:nvGrpSpPr>
        <p:grpSpPr>
          <a:xfrm>
            <a:off x="533400" y="5715000"/>
            <a:ext cx="11125200" cy="609600"/>
            <a:chOff x="533400" y="5715000"/>
            <a:chExt cx="11125200" cy="609600"/>
          </a:xfrm>
        </p:grpSpPr>
        <p:sp>
          <p:nvSpPr>
            <p:cNvPr id="21" name="Rectangle 21"/>
            <p:cNvSpPr/>
            <p:nvPr/>
          </p:nvSpPr>
          <p:spPr>
            <a:xfrm>
              <a:off x="533400" y="5715000"/>
              <a:ext cx="11125200" cy="609600"/>
            </a:xfrm>
            <a:prstGeom prst="roundRect">
              <a:avLst>
                <a:gd name="adj" fmla="val 31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58551" y="5880100"/>
              <a:ext cx="68748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Bukan dijawab LLM Bob — agent Langflow yang dieksekusi via MCP</a:t>
              </a:r>
            </a:p>
          </p:txBody>
        </p:sp>
      </p:grpSp>
      <p:grpSp>
        <p:nvGrpSpPr>
          <p:cNvPr id="31" name="p08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24" name="Rectangle 2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88884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Dampak terukur, AI yang bertanggung jawab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9-kpi-1"/>
          <p:cNvGrpSpPr/>
          <p:nvPr/>
        </p:nvGrpSpPr>
        <p:grpSpPr>
          <a:xfrm>
            <a:off x="533400" y="1524000"/>
            <a:ext cx="5334000" cy="723900"/>
            <a:chOff x="533400" y="1524000"/>
            <a:chExt cx="5334000" cy="7239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808" y="1651000"/>
              <a:ext cx="9106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≥ 15%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993900"/>
              <a:ext cx="3970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Career Goal Progress Rate per minggu (North Star — target)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876800" y="179070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75876" y="17843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14" name="p09-kpi-2"/>
          <p:cNvGrpSpPr/>
          <p:nvPr/>
        </p:nvGrpSpPr>
        <p:grpSpPr>
          <a:xfrm>
            <a:off x="533400" y="2343150"/>
            <a:ext cx="5334000" cy="723900"/>
            <a:chOff x="533400" y="2343150"/>
            <a:chExt cx="5334000" cy="723900"/>
          </a:xfrm>
        </p:grpSpPr>
        <p:sp>
          <p:nvSpPr>
            <p:cNvPr id="11" name="Rectangle 11"/>
            <p:cNvSpPr/>
            <p:nvPr/>
          </p:nvSpPr>
          <p:spPr>
            <a:xfrm>
              <a:off x="533400" y="23431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9808" y="2470150"/>
              <a:ext cx="14762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1 menit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813050"/>
              <a:ext cx="3778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Roadmap personal — dari 2–4 jam riset (bukti demo e2e)</a:t>
              </a:r>
            </a:p>
          </p:txBody>
        </p:sp>
      </p:grpSp>
      <p:grpSp>
        <p:nvGrpSpPr>
          <p:cNvPr id="18" name="p09-kpi-3"/>
          <p:cNvGrpSpPr/>
          <p:nvPr/>
        </p:nvGrpSpPr>
        <p:grpSpPr>
          <a:xfrm>
            <a:off x="533400" y="3162300"/>
            <a:ext cx="5334000" cy="723900"/>
            <a:chOff x="533400" y="3162300"/>
            <a:chExt cx="5334000" cy="723900"/>
          </a:xfrm>
        </p:grpSpPr>
        <p:sp>
          <p:nvSpPr>
            <p:cNvPr id="15" name="Rectangle 15"/>
            <p:cNvSpPr/>
            <p:nvPr/>
          </p:nvSpPr>
          <p:spPr>
            <a:xfrm>
              <a:off x="533400" y="31623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9808" y="3289300"/>
              <a:ext cx="13105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+15–20%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3632200"/>
              <a:ext cx="30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Retensi vs spaced repetition tetap (Zaidi et al.)</a:t>
              </a:r>
            </a:p>
          </p:txBody>
        </p:sp>
      </p:grpSp>
      <p:grpSp>
        <p:nvGrpSpPr>
          <p:cNvPr id="22" name="p09-kpi-4"/>
          <p:cNvGrpSpPr/>
          <p:nvPr/>
        </p:nvGrpSpPr>
        <p:grpSpPr>
          <a:xfrm>
            <a:off x="533400" y="3981450"/>
            <a:ext cx="5334000" cy="723900"/>
            <a:chOff x="533400" y="3981450"/>
            <a:chExt cx="5334000" cy="723900"/>
          </a:xfrm>
        </p:grpSpPr>
        <p:sp>
          <p:nvSpPr>
            <p:cNvPr id="19" name="Rectangle 19"/>
            <p:cNvSpPr/>
            <p:nvPr/>
          </p:nvSpPr>
          <p:spPr>
            <a:xfrm>
              <a:off x="533400" y="39814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808" y="4108450"/>
              <a:ext cx="14463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 = 1.613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4451350"/>
              <a:ext cx="339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Meta-analisis AI &amp; self-regulated learning (32 studi)</a:t>
              </a:r>
            </a:p>
          </p:txBody>
        </p:sp>
      </p:grpSp>
      <p:grpSp>
        <p:nvGrpSpPr>
          <p:cNvPr id="26" name="p09-kpi-5"/>
          <p:cNvGrpSpPr/>
          <p:nvPr/>
        </p:nvGrpSpPr>
        <p:grpSpPr>
          <a:xfrm>
            <a:off x="533400" y="4800600"/>
            <a:ext cx="5334000" cy="723900"/>
            <a:chOff x="533400" y="4800600"/>
            <a:chExt cx="5334000" cy="723900"/>
          </a:xfrm>
        </p:grpSpPr>
        <p:sp>
          <p:nvSpPr>
            <p:cNvPr id="23" name="Rectangle 23"/>
            <p:cNvSpPr/>
            <p:nvPr/>
          </p:nvSpPr>
          <p:spPr>
            <a:xfrm>
              <a:off x="533400" y="48006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808" y="4927600"/>
              <a:ext cx="8133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80%+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270500"/>
              <a:ext cx="4216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Peserta memilih Feynman vs membaca pasif (arXiv 2506.09055)</a:t>
              </a:r>
            </a:p>
          </p:txBody>
        </p:sp>
      </p:grpSp>
      <p:grpSp>
        <p:nvGrpSpPr>
          <p:cNvPr id="32" name="p09-kpi-6"/>
          <p:cNvGrpSpPr/>
          <p:nvPr/>
        </p:nvGrpSpPr>
        <p:grpSpPr>
          <a:xfrm>
            <a:off x="533400" y="5619750"/>
            <a:ext cx="5334000" cy="723900"/>
            <a:chOff x="533400" y="5619750"/>
            <a:chExt cx="5334000" cy="723900"/>
          </a:xfrm>
        </p:grpSpPr>
        <p:sp>
          <p:nvSpPr>
            <p:cNvPr id="27" name="Rectangle 27"/>
            <p:cNvSpPr/>
            <p:nvPr/>
          </p:nvSpPr>
          <p:spPr>
            <a:xfrm>
              <a:off x="533400" y="56197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9808" y="5746750"/>
              <a:ext cx="9002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6089650"/>
              <a:ext cx="3277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Pengguna aktif per bulan pada bulan ke-6 (target)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76800" y="588645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75876" y="588010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40" name="p09-guard-1"/>
          <p:cNvGrpSpPr/>
          <p:nvPr/>
        </p:nvGrpSpPr>
        <p:grpSpPr>
          <a:xfrm>
            <a:off x="6248400" y="1524000"/>
            <a:ext cx="5410200" cy="1085850"/>
            <a:chOff x="6248400" y="1524000"/>
            <a:chExt cx="5410200" cy="108585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40500" y="1828800"/>
              <a:ext cx="177800" cy="228600"/>
              <a:chOff x="6540500" y="1828800"/>
              <a:chExt cx="177800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40500" y="19304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16700" y="1981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78600" y="1828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925056" y="1689100"/>
              <a:ext cx="68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Privasi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7342" y="2025650"/>
              <a:ext cx="3232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 progres milik user, tanpa penjualan PII</a:t>
              </a:r>
            </a:p>
          </p:txBody>
        </p:sp>
      </p:grpSp>
      <p:grpSp>
        <p:nvGrpSpPr>
          <p:cNvPr id="49" name="p09-guard-2"/>
          <p:cNvGrpSpPr/>
          <p:nvPr/>
        </p:nvGrpSpPr>
        <p:grpSpPr>
          <a:xfrm>
            <a:off x="6248400" y="2724150"/>
            <a:ext cx="5410200" cy="1085850"/>
            <a:chOff x="6248400" y="2724150"/>
            <a:chExt cx="54102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248400" y="27241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15100" y="3028950"/>
              <a:ext cx="228599" cy="228600"/>
              <a:chOff x="6515100" y="3028950"/>
              <a:chExt cx="228599" cy="228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40500" y="30289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15100" y="31813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0199" y="30306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5599" y="31832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25056" y="2889250"/>
              <a:ext cx="1543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Human-in-loop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7342" y="3225800"/>
              <a:ext cx="3918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scaffold memaksa berpikir (counter offloading, BJET)</a:t>
              </a:r>
            </a:p>
          </p:txBody>
        </p:sp>
      </p:grpSp>
      <p:grpSp>
        <p:nvGrpSpPr>
          <p:cNvPr id="54" name="p09-guard-3"/>
          <p:cNvGrpSpPr/>
          <p:nvPr/>
        </p:nvGrpSpPr>
        <p:grpSpPr>
          <a:xfrm>
            <a:off x="6248400" y="3924300"/>
            <a:ext cx="5410200" cy="1085850"/>
            <a:chOff x="6248400" y="3924300"/>
            <a:chExt cx="5410200" cy="1085850"/>
          </a:xfrm>
        </p:grpSpPr>
        <p:sp>
          <p:nvSpPr>
            <p:cNvPr id="50" name="Rectangle 50"/>
            <p:cNvSpPr/>
            <p:nvPr/>
          </p:nvSpPr>
          <p:spPr>
            <a:xfrm>
              <a:off x="6248400" y="39243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515100" y="42672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25056" y="4089400"/>
              <a:ext cx="1041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Wellbeing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27342" y="4425950"/>
              <a:ext cx="4196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deteksi burnout + rujukan manusia, bukan nasihat medis</a:t>
              </a:r>
            </a:p>
          </p:txBody>
        </p:sp>
      </p:grpSp>
      <p:grpSp>
        <p:nvGrpSpPr>
          <p:cNvPr id="59" name="p09-guard-4"/>
          <p:cNvGrpSpPr/>
          <p:nvPr/>
        </p:nvGrpSpPr>
        <p:grpSpPr>
          <a:xfrm>
            <a:off x="6248400" y="5124450"/>
            <a:ext cx="5410200" cy="1085850"/>
            <a:chOff x="6248400" y="5124450"/>
            <a:chExt cx="5410200" cy="1085850"/>
          </a:xfrm>
        </p:grpSpPr>
        <p:sp>
          <p:nvSpPr>
            <p:cNvPr id="55" name="Rectangle 55"/>
            <p:cNvSpPr/>
            <p:nvPr/>
          </p:nvSpPr>
          <p:spPr>
            <a:xfrm>
              <a:off x="6248400" y="51244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6509811" y="54292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25056" y="5289550"/>
              <a:ext cx="1318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Transparansi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27342" y="5626100"/>
              <a:ext cx="3730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setiap pilihan pedagogis tertaut paper terpublikasi</a:t>
              </a:r>
            </a:p>
          </p:txBody>
        </p:sp>
      </p:grpSp>
      <p:grpSp>
        <p:nvGrpSpPr>
          <p:cNvPr id="67" name="p09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0" name="Rectangle 6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3647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MVP live — 5 Agent + web app dalam 3–6 bulan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6" name="p10-done-card"/>
          <p:cNvGrpSpPr/>
          <p:nvPr/>
        </p:nvGrpSpPr>
        <p:grpSpPr>
          <a:xfrm>
            <a:off x="533400" y="1600200"/>
            <a:ext cx="5334000" cy="3810000"/>
            <a:chOff x="533400" y="1600200"/>
            <a:chExt cx="5334000" cy="38100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25500" y="19748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0808" y="1854200"/>
              <a:ext cx="9569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Selesai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09625" y="2619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584450"/>
              <a:ext cx="1953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Agent e2e verified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809625" y="3190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155950"/>
              <a:ext cx="2319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Infra MCP + Langflow + Bob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09625" y="3762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3727450"/>
              <a:ext cx="2662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Dokumentasi + submission draft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" y="4333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5380" y="4298950"/>
              <a:ext cx="257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Verification scripts (flow + e2e)</a:t>
              </a:r>
            </a:p>
          </p:txBody>
        </p:sp>
      </p:grpSp>
      <p:grpSp>
        <p:nvGrpSpPr>
          <p:cNvPr id="35" name="p10-next-card"/>
          <p:cNvGrpSpPr/>
          <p:nvPr/>
        </p:nvGrpSpPr>
        <p:grpSpPr>
          <a:xfrm>
            <a:off x="6248400" y="1600200"/>
            <a:ext cx="5410200" cy="3810000"/>
            <a:chOff x="6248400" y="1600200"/>
            <a:chExt cx="54102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248400" y="1600200"/>
              <a:ext cx="54102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23788" y="1936750"/>
              <a:ext cx="207211" cy="207211"/>
              <a:chOff x="6523788" y="1936750"/>
              <a:chExt cx="207211" cy="20721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27800" y="19367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14300"/>
                    </a:moveTo>
                    <a:cubicBezTo>
                      <a:pt x="46611" y="119839"/>
                      <a:pt x="83360" y="156588"/>
                      <a:pt x="88900" y="203199"/>
                    </a:cubicBezTo>
                    <a:cubicBezTo>
                      <a:pt x="111723" y="190042"/>
                      <a:pt x="126130" y="166029"/>
                      <a:pt x="127000" y="139700"/>
                    </a:cubicBezTo>
                    <a:cubicBezTo>
                      <a:pt x="170608" y="124359"/>
                      <a:pt x="200683" y="84260"/>
                      <a:pt x="203199" y="38100"/>
                    </a:cubicBezTo>
                    <a:cubicBezTo>
                      <a:pt x="203199" y="17058"/>
                      <a:pt x="186142" y="0"/>
                      <a:pt x="165100" y="0"/>
                    </a:cubicBezTo>
                    <a:cubicBezTo>
                      <a:pt x="118940" y="2517"/>
                      <a:pt x="78841" y="32591"/>
                      <a:pt x="63500" y="76200"/>
                    </a:cubicBezTo>
                    <a:cubicBezTo>
                      <a:pt x="37170" y="77069"/>
                      <a:pt x="13158" y="91477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23788" y="2063750"/>
                <a:ext cx="80211" cy="80211"/>
              </a:xfrm>
              <a:custGeom>
                <a:avLst/>
                <a:gdLst/>
                <a:ahLst/>
                <a:cxnLst/>
                <a:rect l="l" t="t" r="r" b="b"/>
                <a:pathLst>
                  <a:path w="80211" h="80211">
                    <a:moveTo>
                      <a:pt x="42111" y="0"/>
                    </a:moveTo>
                    <a:cubicBezTo>
                      <a:pt x="15072" y="15265"/>
                      <a:pt x="0" y="45410"/>
                      <a:pt x="4011" y="76200"/>
                    </a:cubicBezTo>
                    <a:cubicBezTo>
                      <a:pt x="34802" y="80211"/>
                      <a:pt x="64946" y="65139"/>
                      <a:pt x="80211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54800" y="19875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845808" y="1854200"/>
              <a:ext cx="13447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3–6 bulan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2552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0380" y="2584450"/>
              <a:ext cx="1400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3028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0380" y="3060700"/>
              <a:ext cx="1731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5052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0380" y="3536950"/>
              <a:ext cx="1790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9814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0380" y="4013200"/>
              <a:ext cx="1871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+ Wellbeing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4457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0380" y="4489450"/>
              <a:ext cx="790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App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4933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50380" y="4965700"/>
              <a:ext cx="185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WhatsApp bot surface</a:t>
              </a:r>
            </a:p>
          </p:txBody>
        </p:sp>
      </p:grpSp>
      <p:grpSp>
        <p:nvGrpSpPr>
          <p:cNvPr id="48" name="p10-b2b"/>
          <p:cNvGrpSpPr/>
          <p:nvPr/>
        </p:nvGrpSpPr>
        <p:grpSpPr>
          <a:xfrm>
            <a:off x="533400" y="5429250"/>
            <a:ext cx="3581400" cy="895350"/>
            <a:chOff x="533400" y="5429250"/>
            <a:chExt cx="3581400" cy="895350"/>
          </a:xfrm>
        </p:grpSpPr>
        <p:sp>
          <p:nvSpPr>
            <p:cNvPr id="36" name="Rectangle 36"/>
            <p:cNvSpPr/>
            <p:nvPr/>
          </p:nvSpPr>
          <p:spPr>
            <a:xfrm>
              <a:off x="5334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00100" y="5695950"/>
              <a:ext cx="228599" cy="238124"/>
              <a:chOff x="800100" y="5695950"/>
              <a:chExt cx="228599" cy="23812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0100" y="5924549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63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63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63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398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98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98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5500" y="56959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0" y="228599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228599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135380" y="5727700"/>
              <a:ext cx="1164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B2B roadmap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6904" y="5994400"/>
              <a:ext cx="2135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Whitelabel bootcamp &amp; kampus</a:t>
              </a:r>
            </a:p>
          </p:txBody>
        </p:sp>
      </p:grpSp>
      <p:grpSp>
        <p:nvGrpSpPr>
          <p:cNvPr id="55" name="p10-skala"/>
          <p:cNvGrpSpPr/>
          <p:nvPr/>
        </p:nvGrpSpPr>
        <p:grpSpPr>
          <a:xfrm>
            <a:off x="4305300" y="5429250"/>
            <a:ext cx="3581400" cy="895350"/>
            <a:chOff x="4305300" y="5429250"/>
            <a:chExt cx="3581400" cy="895350"/>
          </a:xfrm>
        </p:grpSpPr>
        <p:sp>
          <p:nvSpPr>
            <p:cNvPr id="49" name="Rectangle 49"/>
            <p:cNvSpPr/>
            <p:nvPr/>
          </p:nvSpPr>
          <p:spPr>
            <a:xfrm>
              <a:off x="43053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584700" y="5734050"/>
              <a:ext cx="203199" cy="174624"/>
              <a:chOff x="4584700" y="5734050"/>
              <a:chExt cx="203199" cy="1746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584700" y="58991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84700" y="57340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4907280" y="5727700"/>
              <a:ext cx="1014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Skala teknis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08804" y="5994400"/>
              <a:ext cx="1892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Langflow Cloud multi-tenant</a:t>
              </a:r>
            </a:p>
          </p:txBody>
        </p:sp>
      </p:grpSp>
      <p:grpSp>
        <p:nvGrpSpPr>
          <p:cNvPr id="60" name="p10-moat"/>
          <p:cNvGrpSpPr/>
          <p:nvPr/>
        </p:nvGrpSpPr>
        <p:grpSpPr>
          <a:xfrm>
            <a:off x="8077200" y="5429250"/>
            <a:ext cx="3581400" cy="895350"/>
            <a:chOff x="8077200" y="5429250"/>
            <a:chExt cx="3581400" cy="895350"/>
          </a:xfrm>
        </p:grpSpPr>
        <p:sp>
          <p:nvSpPr>
            <p:cNvPr id="56" name="Rectangle 56"/>
            <p:cNvSpPr/>
            <p:nvPr/>
          </p:nvSpPr>
          <p:spPr>
            <a:xfrm>
              <a:off x="80772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338611" y="56959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79180" y="5727700"/>
              <a:ext cx="4764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Moat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80704" y="5994400"/>
              <a:ext cx="1887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Forgetting curve per domain</a:t>
              </a:r>
            </a:p>
          </p:txBody>
        </p:sp>
      </p:grpSp>
      <p:grpSp>
        <p:nvGrpSpPr>
          <p:cNvPr id="68" name="p10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1" name="Rectangle 6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87871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Dibangun dan dibuktikan oleh satu engineer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7" name="p11-profile"/>
          <p:cNvGrpSpPr/>
          <p:nvPr/>
        </p:nvGrpSpPr>
        <p:grpSpPr>
          <a:xfrm>
            <a:off x="533400" y="1600200"/>
            <a:ext cx="5334000" cy="2667000"/>
            <a:chOff x="533400" y="1600200"/>
            <a:chExt cx="5334000" cy="26670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26670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00100" y="1924050"/>
              <a:ext cx="228599" cy="228600"/>
              <a:chOff x="800100" y="1924050"/>
              <a:chExt cx="228599" cy="228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25500" y="19240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0100" y="20764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5199" y="19257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599" y="20783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0808" y="1854200"/>
              <a:ext cx="1634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M. Muchsin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241550"/>
              <a:ext cx="2486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Solo Founder &amp; Engineer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2578100"/>
              <a:ext cx="1904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S2 Informatika — UNNES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2806700"/>
              <a:ext cx="2610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Riset: LLM Hallucination Reduction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142" y="3035300"/>
              <a:ext cx="3219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Software Engineer: Vue / Nuxt / TypeScript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142" y="3263900"/>
              <a:ext cx="1536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SvelteKit · agentic AI</a:t>
              </a:r>
            </a:p>
          </p:txBody>
        </p:sp>
      </p:grpSp>
      <p:grpSp>
        <p:nvGrpSpPr>
          <p:cNvPr id="26" name="p11-bukti-1"/>
          <p:cNvGrpSpPr/>
          <p:nvPr/>
        </p:nvGrpSpPr>
        <p:grpSpPr>
          <a:xfrm>
            <a:off x="6248400" y="1600200"/>
            <a:ext cx="2628900" cy="1238250"/>
            <a:chOff x="6248400" y="1600200"/>
            <a:chExt cx="2628900" cy="1238250"/>
          </a:xfrm>
        </p:grpSpPr>
        <p:sp>
          <p:nvSpPr>
            <p:cNvPr id="18" name="Rectangle 18"/>
            <p:cNvSpPr/>
            <p:nvPr/>
          </p:nvSpPr>
          <p:spPr>
            <a:xfrm>
              <a:off x="6248400" y="1600200"/>
              <a:ext cx="26289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510338" y="1862138"/>
              <a:ext cx="200026" cy="200025"/>
              <a:chOff x="6510338" y="1862138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510338" y="1862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50076" y="1906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584792" y="2017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812280" y="1860550"/>
              <a:ext cx="1378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Riset mendalam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904" y="2165350"/>
              <a:ext cx="1809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30+ paper (abstract + DOI);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0904" y="2374900"/>
              <a:ext cx="1798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topik S2: LLM hallucination</a:t>
              </a:r>
            </a:p>
          </p:txBody>
        </p:sp>
      </p:grpSp>
      <p:grpSp>
        <p:nvGrpSpPr>
          <p:cNvPr id="32" name="p11-bukti-2"/>
          <p:cNvGrpSpPr/>
          <p:nvPr/>
        </p:nvGrpSpPr>
        <p:grpSpPr>
          <a:xfrm>
            <a:off x="9029700" y="1600200"/>
            <a:ext cx="2628900" cy="1238250"/>
            <a:chOff x="9029700" y="1600200"/>
            <a:chExt cx="26289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1600200"/>
              <a:ext cx="26289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313863" y="190658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93580" y="1860550"/>
              <a:ext cx="1691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Implementasi nyata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52204" y="2165350"/>
              <a:ext cx="1602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e2e verified,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52204" y="2374900"/>
              <a:ext cx="979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bukan mockup</a:t>
              </a:r>
            </a:p>
          </p:txBody>
        </p:sp>
      </p:grpSp>
      <p:grpSp>
        <p:nvGrpSpPr>
          <p:cNvPr id="44" name="p11-bukti-3"/>
          <p:cNvGrpSpPr/>
          <p:nvPr/>
        </p:nvGrpSpPr>
        <p:grpSpPr>
          <a:xfrm>
            <a:off x="6248400" y="2933700"/>
            <a:ext cx="2628900" cy="1238250"/>
            <a:chOff x="6248400" y="2933700"/>
            <a:chExt cx="26289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6248400" y="2933700"/>
              <a:ext cx="26289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10338" y="3195638"/>
              <a:ext cx="200025" cy="200025"/>
              <a:chOff x="6510338" y="31956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10350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32563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65913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10350" y="31956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10338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32563" y="31956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812280" y="3194050"/>
              <a:ext cx="1657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Full-stack &amp; agentic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0904" y="3498850"/>
              <a:ext cx="144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Paham stack produksi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0904" y="3708400"/>
              <a:ext cx="123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sampai infra agent</a:t>
              </a:r>
            </a:p>
          </p:txBody>
        </p:sp>
      </p:grpSp>
      <p:grpSp>
        <p:nvGrpSpPr>
          <p:cNvPr id="50" name="p11-bukti-4"/>
          <p:cNvGrpSpPr/>
          <p:nvPr/>
        </p:nvGrpSpPr>
        <p:grpSpPr>
          <a:xfrm>
            <a:off x="9029700" y="2933700"/>
            <a:ext cx="2628900" cy="1238250"/>
            <a:chOff x="9029700" y="2933700"/>
            <a:chExt cx="2628900" cy="1238250"/>
          </a:xfrm>
        </p:grpSpPr>
        <p:sp>
          <p:nvSpPr>
            <p:cNvPr id="45" name="Rectangle 45"/>
            <p:cNvSpPr/>
            <p:nvPr/>
          </p:nvSpPr>
          <p:spPr>
            <a:xfrm>
              <a:off x="9029700" y="2933700"/>
              <a:ext cx="26289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287010" y="3195638"/>
              <a:ext cx="209281" cy="200026"/>
            </a:xfrm>
            <a:custGeom>
              <a:avLst/>
              <a:gdLst/>
              <a:ahLst/>
              <a:cxnLst/>
              <a:rect l="l" t="t" r="r" b="b"/>
              <a:pathLst>
                <a:path w="209281" h="200026">
                  <a:moveTo>
                    <a:pt x="104641" y="0"/>
                  </a:moveTo>
                  <a:cubicBezTo>
                    <a:pt x="130598" y="22965"/>
                    <a:pt x="164476" y="34922"/>
                    <a:pt x="199097" y="33338"/>
                  </a:cubicBezTo>
                  <a:cubicBezTo>
                    <a:pt x="209281" y="67981"/>
                    <a:pt x="204980" y="105274"/>
                    <a:pt x="187178" y="136690"/>
                  </a:cubicBezTo>
                  <a:cubicBezTo>
                    <a:pt x="169375" y="168106"/>
                    <a:pt x="139593" y="190959"/>
                    <a:pt x="104641" y="200026"/>
                  </a:cubicBezTo>
                  <a:cubicBezTo>
                    <a:pt x="69688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4" y="22965"/>
                    <a:pt x="104641" y="0"/>
                  </a:cubicBez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93580" y="3194050"/>
              <a:ext cx="2012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Pedagogi berbasis bukti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52204" y="3498850"/>
              <a:ext cx="153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fitur tertaut paper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52204" y="3708400"/>
              <a:ext cx="1047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ber-FWCI tinggi</a:t>
              </a:r>
            </a:p>
          </p:txBody>
        </p:sp>
      </p:grpSp>
      <p:grpSp>
        <p:nvGrpSpPr>
          <p:cNvPr id="55" name="p11-closing"/>
          <p:cNvGrpSpPr/>
          <p:nvPr/>
        </p:nvGrpSpPr>
        <p:grpSpPr>
          <a:xfrm>
            <a:off x="533400" y="4476750"/>
            <a:ext cx="11125200" cy="1847850"/>
            <a:chOff x="533400" y="4476750"/>
            <a:chExt cx="11125200" cy="1847850"/>
          </a:xfrm>
        </p:grpSpPr>
        <p:sp>
          <p:nvSpPr>
            <p:cNvPr id="51" name="Rectangle 51"/>
            <p:cNvSpPr/>
            <p:nvPr/>
          </p:nvSpPr>
          <p:spPr>
            <a:xfrm>
              <a:off x="533400" y="4476750"/>
              <a:ext cx="11125200" cy="1847850"/>
            </a:xfrm>
            <a:prstGeom prst="roundRect">
              <a:avLst>
                <a:gd name="adj" fmla="val 10309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5000625"/>
              <a:ext cx="800100" cy="800100"/>
            </a:xfrm>
            <a:prstGeom prst="rect">
              <a:avLst/>
            </a:prstGeom>
          </p:spPr>
        </p:pic>
        <p:sp>
          <p:nvSpPr>
            <p:cNvPr id="53" name="TextBox 53"/>
            <p:cNvSpPr txBox="1"/>
            <p:nvPr/>
          </p:nvSpPr>
          <p:spPr>
            <a:xfrm>
              <a:off x="2083308" y="5041900"/>
              <a:ext cx="57398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084832" y="5461000"/>
              <a:ext cx="64418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Silakan cek langsung: github.com/mmuchsin/serambi-ai</a:t>
              </a:r>
            </a:p>
          </p:txBody>
        </p:sp>
      </p:grpSp>
      <p:grpSp>
        <p:nvGrpSpPr>
          <p:cNvPr id="63" name="p11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56" name="Rectangle 56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</dc:language>
  <cp:lastModifiedBy/>
  <cp:revision>1</cp:revision>
  <dcterms:created xsi:type="dcterms:W3CDTF">2026-10-04T13:48:37Z</dcterms:created>
  <dcterms:modified xsi:type="dcterms:W3CDTF">2026-10-04T13:48:37Z</dcterms:modified>
  <cp:category/>
  <cp:contentStatus/>
</cp:coreProperties>
</file>